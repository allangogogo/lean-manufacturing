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imHei"/>
              </a:rPr>
              <a:t>工具专项培训大纲</a:t>
            </a:r>
          </a:p>
          <a:p>
            <a:pPr algn="ctr">
              <a:spcBef>
                <a:spcPts val="2000"/>
              </a:spcBef>
            </a:pPr>
            <a:r>
              <a:t>精益知识库 - 02-培训材料</a:t>
            </a:r>
            <a:r>
              <a:rPr sz="1800" b="0">
                <a:solidFill>
                  <a:srgbClr val="AACCEE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1. 课程基本信息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项目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内容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精益工具专项培训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课程代码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L2-001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总课时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16课时（每课时45分钟）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培训方式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 + 模拟演练 + 现场实操 + 小组练习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适合对象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班组长、工程师（工艺、质量、设备）、生产计划员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前置条件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完成精益意识培训（L1-001）并取得合格证书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课程讲师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内部高级讲师 / 外部精益顾问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教材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工具专项培训手册、练习册、案例集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2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2. 课程目标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t>完成本课程后，学员应能够：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掌握看板系统的设计和运行方法：能够为生产线设计和计算看板数量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编制标准作业文件：能够制作标准作业组合票和标准作业票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实施自主保全：理解TPM自主保全的七个步骤并能制定保全基准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设计防错装置：运用防错原理设计防错方案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实施SMED快速换模：运用SMED方法缩短换模时间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主持Kaizen改善活动：运用问题分析工具制定改善方案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3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3. 模块内容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看板类型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用途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制造工序应用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生产看板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指示前工序生产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机加工工序的生产指令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运输看板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指示物料搬运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工序间半成品的搬运指令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信号看板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批量生产时的生产信号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热处理批量生产触发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临时看板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应对临时需求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紧急订单的特殊看板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供应商看板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向供应商订货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原材料（原材料、卷料）的订货看板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模块1：看板系统（2课时）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理解看板的种类和作用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掌握看板数量的计算方法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能够设计适合生产线的看板系统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1.1 看板基础概念（20分钟）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看板的起源和定义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看板的两大功能：生产指示和物料搬运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看板运行的基本规则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规则1：后工序向前工序取货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规则2：前工序按看板数量生产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规则3：没有看板不生产、不搬运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规则4：看板必须附在实物上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规则5：不良品不流入后工序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1.2 看板种类详解（25分钟）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1.3 看板数量计算（25分钟）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看板数量计算公式：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t>  看板数量 = (日需求量 x 前置时间 x (1 + 安全系数)) / 每箱数量</a:t>
            </a:r>
            <a:r>
              <a:rPr sz="1100" b="0">
                <a:solidFill>
                  <a:srgbClr val="333333"/>
                </a:solidFill>
                <a:latin typeface="Courier New"/>
              </a:rPr>
              <a:t/>
            </a:r>
          </a:p>
          <a:p>
            <a:pPr>
              <a:spcAft>
                <a:spcPts val="400"/>
              </a:spcAft>
            </a:pPr>
            <a:r>
              <a:t>  计算实例：以某种工件为例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日需求量：10,000件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前置时间：0.5天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安全系数：0.1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每箱数量：500件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看板数量 = (10,000 x 0.5 x 1.1) / 500 = 11张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练习：计算另外两种产品的看板数量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1.4 看板系统设计练习（30分钟）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小组任务：为一条生产线设计看板系统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步骤：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分析生产流程和工序关系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确定看板种类和数量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设计看板样式和内容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制定看板运行规则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绘制看板运行流程图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模块2：标准作业（2课时）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理解标准作业三要素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掌握标准作业组合票和标准作业票的编制方法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能够编制产品工序的标准作业文件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2.1 标准作业基础（20分钟）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标准作业的定义和目的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标准作业三要素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节拍时间（Takt Time）：客户需求的节奏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计算公式：节拍时间 = 可用工作时间 / 客户需求量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作业顺序：最高效的作业步骤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标准在制品：维持流程所需的最少在制品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标准作业与作业标准的区别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2.2 标准作业组合票（30分钟）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标准作业组合票的结构和内容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时间观测方法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手动时间、自动时间、走动时间的区分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编制步骤和注意事项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实例：工件冲压工序标准作业组合票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2.3 标准作业票（20分钟）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标准作业票的内容：作业步骤、时间、在制品位置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标准作业票的制作方法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现场张贴和维护要求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标准作业票与作业指导书的关系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2.4 编制练习（30分钟）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选择一个产品工序（如机加工或精加工）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观测实际作业时间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编制标准作业组合票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制作标准作业票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模块3：TPM基础（3课时）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理解TPM的八大支柱和核心理念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掌握自主保全的七个步骤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能够制定设备日常保全基准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3.1 TPM概述（30分钟）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TPM的定义：全员生产维护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TPM的八大支柱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自主保全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计划保全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个别改善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教育训练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初期管理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品质保全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7. 事务改善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8. 安全环境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设备的六大损失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故障损失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换模调整损失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空转短停损失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速度降低损失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不良品损失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启动损失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OEE（设备综合效率）的概念和计算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3.2 自主保全七步骤（60分钟）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3.3 设备日常保全实操（60分钟）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现场观摩：一台产品设备的日常保全流程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实操练习：在指导下进行设备点检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保全基准书编制练习：为一台设备制定保全基准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3.4 产品设备保全要点（30分钟）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模块4：防错技术（2课时）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理解防错（Poka-Yoke）的概念和分类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掌握防错装置的设计原则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能够针对具体问题设计防错方案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4.1 防错基础（20分钟）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防错的定义：通过设计使错误不可能发生或立即被发现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防错的三个层次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预防型防错：使错误不可能发生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检测型防错：使错误立即被发现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缓解型防错：使错误的影响最小化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防错与质量零缺陷的关系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4.2 防错方法分类（25分钟）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4.3 产品防错案例分析（25分钟）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案例1：加工方向防错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问题：部分工件正反面混装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防错方案：设计导向槽，使反面产品无法通过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效果：混装率从2%降至0%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案例2：产品规格混装防错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问题：不同规格的工件混装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防错方案：不同规格使用不同颜色料盒，料盒口尺寸与产品匹配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效果：混装率从1.5%降至0%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案例3：热处理温度监控防错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问题：热处理温度偏差导致力学性能不合格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防错方案：安装温度自动监控和报警系统，超温自动停炉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效果：温度偏差导致的不合格率从1%降至0.1%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4.4 防错设计练习（30分钟）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小组任务：针对一个给定的质量问题设计防错方案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步骤：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分析问题的根本原因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确定防错类型（预防/检测/缓解）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设计防错装置或方法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评估方案的有效性和可行性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制定实施计划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模块5：SMED快速换模（3课时）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理解SMED的核心理念和方法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掌握区分内部作业和外部作业的技巧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能够运用SMED方法缩短换模时间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了解产品模具更换的特殊性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5.1 SMED基础概念（20分钟）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SMED的定义：Single Minute Exchange of Die（单位数换模）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换模时间的定义：从最后一个合格品到第一个合格品之间的时间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换模时间的四大构成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准备时间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拆卸时间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安装时间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调试时间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SMED的三个阶段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区分内部作业和外部作业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将内部作业转化为外部作业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缩短内部作业时间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5.2 内外部作业区分（25分钟）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内部作业：必须停机才能进行的作业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外部作业：可以在设备运行时进行的作业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区分方法：逐一分析每个换模步骤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常见的外部化机会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预热模具（在设备运行时预热）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准备工具和物料（提前准备好）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首件检验标准确认（提前确认）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5.3 SMED改善方法（30分钟）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缩短内部作业时间的方法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并行作业：两人同时操作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标准化：统一操作方法和工具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快速锁定装置：用快速夹具替代工件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功能集成：减少调整步骤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产品换模的SMED改善实例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机加工设备换模：从45分钟缩短至15分钟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精加工设备换板：从30分钟缩短至10分钟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5.4 模拟工位换模演练（55分钟）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在模拟工位进行换模演练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步骤：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第一轮：记录当前换模流程和时间（基准数据）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分析：区分内部和外部作业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改善：实施外部化和时间缩短措施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第二轮：记录改善后的换模时间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对比：计算改善效果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记录和分析改善过程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模块6：Kaizen方法（2课时）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掌握Kaizen改善的基本步骤和工具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能够运用问题分析工具找到根本原因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能够制定和实施改善方案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6.1 Kaizen改善流程（20分钟）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Kaizen改善的八个步骤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选择改善主题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现状调查和数据收集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目标设定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原因分析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对策制定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对策实施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7. 效果确认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8. 标准化和固化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6.2 问题分析工具（40分钟）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鱼骨图（因果图）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鱼骨图的结构：人、机、料、法、环、测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绘制步骤和技巧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产品质量鱼骨图实例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5Why分析法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连续追问"为什么"直到找到根本原因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5Why分析实例：工件表面裂纹问题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Why 1：为什么工件头部有裂纹？→ 因为机加工时材料流动不均匀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Why 2：为什么材料流动不均匀？→ 因为原材料硬度不均匀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Why 3：为什么原材料硬度不均匀？→ 因为来料检验未检测硬度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Why 4：为什么未检测硬度？→ 因为供应商质量管控不足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Why 5：为什么供应商管控不足？→ 因为供应商审核机制不完善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帕累托图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80/20法则的应用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帕累托图的绘制方法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用于确定改善优先级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6.3 改善方案制定与实施（30分钟）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对策制定的原则：消除&gt;替代&gt;简化&gt;检测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对策的可行性评估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改善实施计划的编制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改善效果的验证方法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模块7：综合演练（2课时）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综合运用所学工具解决模拟生产问题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培养团队协作和问题解决能力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体验完整的改善过程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7.1 模拟场景介绍（15分钟）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模拟场景：某生产线面临以下问题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换模时间长，影响产能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在制品库存高，占用资金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质量不良率偏高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设备故障频繁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7.2 小组改善活动（75分钟）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各小组（4-6人）分工协作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运用所学工具进行系统改善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运用看板管理控制在制品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运用标准作业规范操作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运用SMED缩短换模时间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运用防错技术降低不良率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运用TPM减少设备故障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7.3 改善成果汇报（30分钟）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各小组汇报改善成果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汇报内容：问题分析、改善措施、预期效果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讲师点评和建议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评选最佳改善团队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4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4. 教学方法总结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教学方法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占比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应用场景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工具原理和方法讲解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模拟演练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30%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模拟工位换模、看板运行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现场实操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设备保全、标准作业编制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小组练习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15%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问题分析、方案设计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案例讨论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制造业案例分析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5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5. 考核方式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考核项目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权重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考核方式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看板设计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设计一套看板系统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标准作业编制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编制一份标准作业组合票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模拟换模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完成一次SMED改善演练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防错设计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设计一个防错方案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0040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5.1 笔试测试（40%）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考试时间：90分钟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题型：选择题、简答题、计算题、案例分析题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合格标准：75分以上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5.2 工具应用实操（40%）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5.3 改善项目报告（20%）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提交一份完整的改善项目报告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报告内容：问题描述、现状分析、原因分析、改善对策、效果验证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由讲师和精益推进委员会评审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6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6. 教材与参考资料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6.1 必备教材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《精益工具专项培训手册》（内部编制）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《制造业改善案例集》（内部编制）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各工具的练习册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6.2 推荐阅读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《精益工具全攻略》- 佃律志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《丰田现场管理方式》- 门田安弘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《TPM自主保全活动指南》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《SMED快速换模实战手册》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7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