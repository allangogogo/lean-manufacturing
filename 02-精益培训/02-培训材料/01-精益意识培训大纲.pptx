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imHei"/>
              </a:rPr>
              <a:t>精益意识培训大纲</a:t>
            </a:r>
          </a:p>
          <a:p>
            <a:pPr algn="ctr">
              <a:spcBef>
                <a:spcPts val="2000"/>
              </a:spcBef>
            </a:pPr>
            <a:r>
              <a:t>精益知识库 - 02-培训材料</a:t>
            </a:r>
            <a:r>
              <a:rPr sz="1800" b="0">
                <a:solidFill>
                  <a:srgbClr val="AACCEE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1. 课程基本信息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项目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内容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课程名称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精益意识基础培训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课程代码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L1-001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总课时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8课时（每课时45分钟）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培训方式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课堂讲授 + 案例分析 + 现场参观 + 小组讨论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适合对象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全体员工（管理层、工程师、班组长、操作工）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前置条件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无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课程讲师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内部讲师 / 外部精益顾问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教材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精益意识培训手册、案例集、视频资料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2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2. 课程目标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t>完成本课程后，学员应能够：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理解精益生产的核心理念：说出精益生产的起源、发展和核心思想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识别工作中的浪费：运用八大浪费框架识别生产现场的浪费现象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了解5S和可视化管理：描述5S的含义和实施要点，认识常见的目视化管理工具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4. 建立持续改善意识：理解PDCA循环和Kaizen的基本理念，愿意参与改善活动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5. 认识制造业的精益应用：了解精益生产在离散制造中的应用价值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3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3. 模块内容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浪费类型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定义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制造业典型表现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过量生产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生产超过客户需求的数量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为"保险"多生产库存，导致资金占用和场地浪费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等待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人员或设备空闲等待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等待物料、等待换模、等待检验结果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搬运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不必要的物料搬运和移动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半成品在工序间长距离搬运，仓库布局不合理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过度加工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超出客户需求的加工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过高的表面处理要求、不必要的检验项目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库存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超过需求的原材料和成品库存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安全库存过高、呆滞物料积压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动作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不必要的人员动作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弯腰取料、走动寻找工具、重复性动作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不良品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生产不合格品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尺寸不良、表面裂纹、尺寸超差、表面缺陷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人才浪费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未充分发挥人员能力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员工技能单一、建议制度不完善、缺乏授权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66344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模块1：精益起源与哲学（2课时）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了解精益生产的历史背景和发展脉络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理解精益生产的五大核心原则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认识精益思维在制造业中的价值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1.1 精益生产的历史（30分钟）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丰田喜一郎与丰田自动织机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大野耐一与丰田生产方式（TPS）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从TPS到精益生产（Lean Production）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《改变世界的机器》和《精益思想》的里程碑意义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全球精益发展的现状和趋势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1.2 精益生产的五大原则（30分钟）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定义价值：从客户角度定义什么是真正的价值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识别价值流：绘制价值流，区分增值和非增值活动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建立流动：消除阻碍，让价值流动起来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实现拉动：按需生产，不过量生产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追求完美：持续改善，永无止境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1.3 制造业的精益趋势（30分钟）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离散制造的行业现状和挑战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精益生产在制造业的应用前景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国内外制造企业精益转型案例概览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本企业精益转型的目标和愿景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1.4 课堂互动（30分钟）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视频观看：丰田生产方式纪录片片段（15分钟）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讨论：精益思维对我们日常工作意味着什么？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教学资源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《精益思想》相关章节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丰田生产方式纪录片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制造业精益案例PPT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模块2：八大浪费识别（2课时）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掌握八大浪费的定义和典型表现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能够在生产现场识别各种浪费现象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理解浪费对成本和效率的影响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2.1 八大浪费详解（60分钟）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2.2 浪费的影响分析（20分钟）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浪费对成本的直接影响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浪费对交货期的影响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浪费对质量的影响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隐性浪费的识别（最难发现的浪费）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2.3 现场浪费识别练习（40分钟）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分组进入车间实地观察（每组4-6人）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每组在30分钟内识别至少10种浪费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记录浪费的位置、类型、严重程度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拍照记录（如允许）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教学方法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案例讲解：每种浪费配合2-3个制造业实例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视频对比：精益工厂vs传统工厂的生产现场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现场实践：车间实地浪费识别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小组竞赛：评选最佳浪费识别团队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模块3：5S与可视化管理（2课时）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理解5S的含义、目的和实施要点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认识常见的可视化管理工具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能够在自己的工作区域实施基本的5S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3.1 5S基础（40分钟）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整理（Seiri）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目的：区分必要与不必要物品，清除不必要物品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方法：红牌作战、要与不要判定标准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产品车间案例：模具架整理、工具柜整理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常见问题：员工不舍得丢弃物品怎么办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整顿（Seiton）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目的：定置管理，30秒内找到所需物品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方法：三定原则（定点、定容、定量）、目视化标识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产品车间案例：工具定置管理、物料定置管理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实施技巧：形迹管理、颜色编码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清扫（Seiso）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目的：清扫即点检，发现异常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方法：清扫标准制定、清扫责任区划分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产品车间案例：设备清扫点检标准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与TPM的关系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清洁（Seiketsu）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目的：将前3S标准化、制度化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方法：检查表、审核机制、竞赛评比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产品车间案例：5S检查标准和评分方法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素养（Shitsuke）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目的：养成良好习惯，自觉遵守规则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方法：培训教育、领导示范、持续监督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推行5S的常见障碍和应对策略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3.2 可视化管理（20分钟）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目视化管理的定义和作用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常见的目视化管理工具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颜色标识（区域划分、状态标识）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看板（生产看板、质量看板、安全看板）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标线（通道线、区域线、定位线）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警示灯（安灯系统）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标识牌（设备状态牌、产品标识牌）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产品车间可视化管理实例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3.3 5S实践练习（30分钟）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分组选择一个区域进行15分钟快速5S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拍照记录改善前后的对比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各组分享改善成果和经验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教学方法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图片对比：5S实施前后的产品车间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现场参观：5S样板区实地观摩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动手实践：分组5S改善活动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工具介绍：5S检查表模板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模块4：持续改善文化（2课时）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理解Kaizen（持续改善）的核心理念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掌握PDCA循环的基本步骤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了解合理化建议制度的运作方式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建立积极参与改善的意识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4.1 Kaizen理念（30分钟）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Kaizen的定义：持续的、渐进式的改善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Kaizen与创新的区别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全员参与的Kaizen文化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每位员工都是改善的主人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改善无大小，积少成多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4.2 PDCA循环（30分钟）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Plan（计划）：识别问题、分析原因、制定对策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Do（执行）：实施对策、收集数据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Check（检查）：评估效果、对比目标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Act（处置）：标准化成功做法、处理遗留问题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PDCA在产品生产中的应用案例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案例：某制造企业通过PDCA将尺寸不良率从3%降至0.5%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4.3 合理化建议制度（20分钟）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合理化建议制度的目的和意义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提案的提交流程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提案的评审和奖励机制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优秀改善案例分享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案例1：操作工提出的小改善，年节省10万元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案例2：班组长主导的流程优化，效率提升20%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4.4 改善发表会模拟（40分钟）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介绍改善发表会的形式和流程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各小组基于之前发现的浪费，制定改善方案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各小组进行改善发表（每组5分钟）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评选最佳改善方案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教学方法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案例分享：制造企业持续改善成功案例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视频学习：丰田改善发表会实况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小组活动：制定改善方案并发表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互动讨论：如何在日常工作中践行改善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4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4. 教学方法总结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教学方法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占比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应用场景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课堂讲授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概念讲解、原理说明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案例分析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20%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制造业真实案例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现场参观/实践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车间参观、5S实践、浪费识别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小组讨论/活动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15%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分组讨论、改善方案制定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视频教学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纪录片、案例视频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5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5. 考核方式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识别数量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评分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5种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60分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6-7种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70分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8-9种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80分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10种以上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90-100分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0040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t>5.1 笔试测试（60%）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考试形式：闭卷笔试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考试时间：60分钟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题型分布：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选择题：30题（30分）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判断题：20题（20分）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简答题：3题（30分）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案例分析题：1题（20分）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合格标准：70分以上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考试范围：四个模块的核心知识点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5.2 现场浪费识别（30%）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考核形式：现场实操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考核时间：30分钟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考核内容：在车间内识别规定的浪费类型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合格标准：至少正确识别5种不同类型的浪费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评分标准：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5.3 课堂参与度（10%）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出勤率：100%（缺课需补训）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课堂讨论参与情况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小组活动贡献度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6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6. 教材与参考资料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t>6.1 必备教材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《精益意识培训手册》（内部编制）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《制造业精益案例集》（内部编制）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5S实施标准模板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6.2 推荐阅读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《精益思想》- 詹姆斯·沃麦克、丹尼尔·琼斯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《丰田生产方式》- 大野耐一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《改变世界的机器》- 詹姆斯·沃麦克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《5S推进法》- 佃律志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6.3 视频资源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丰田生产方式纪录片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精益工厂参观视频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5S实施教学视频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7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