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imHei"/>
              </a:rPr>
              <a:t>高级精益培训大纲</a:t>
            </a:r>
          </a:p>
          <a:p>
            <a:pPr algn="ctr">
              <a:spcBef>
                <a:spcPts val="2000"/>
              </a:spcBef>
            </a:pPr>
            <a:r>
              <a:t>精益知识库 - 02-培训材料</a:t>
            </a:r>
            <a:r>
              <a:rPr sz="1800" b="0">
                <a:solidFill>
                  <a:srgbClr val="AACCEE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1. 课程基本信息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项目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内容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高级精益培训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课程代码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L4-001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总课时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40课时（每课时45分钟）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培训方式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 + 项目实操 + 角色扮演 + 现场审核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适合对象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精益推进者（精益推进部门负责人、高级精益工程师、储备精益推进者）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前置条件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完成领导力培训（L3-001），具有2年以上精益实践经验，经管理层推荐和选拔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课程讲师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高级精益专家 / 外部资深顾问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教材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高级精益培训手册、项目实操指南、评估工具包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2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2. 课程目标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t>完成本课程后，学员应能够：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运用DMAIC方法论：独立领导六西格玛/精益改善项目，运用DMAIC五阶段方法解决问题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实施战略部署：运用Hoshin Kanri方法将公司战略分解为可执行的行动计划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掌握教练技术：运用教练技术辅导他人开展精益活动，培养团队精益思维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进行精益评估：使用精益成熟度框架评估组织的精益水平，制定改进路线图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推动供应链精益：将精益理念延伸到供应商管理和物流优化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实施Office TPM：将TPM方法应用于办公流程优化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7. 领导综合项目：综合运用所学方法论和工具领导实际改善项目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3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3. 模块内容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阶段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含义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关键问题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G -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目标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你想达成什么？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R - Reality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现实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目前的情况是什么？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O - Options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选择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你有哪些选择？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W - Will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意愿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你打算怎么做？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0040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模块1：DMAIC方法论（8课时）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掌握DMAIC五阶段的详细步骤和工具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能够独立领导DMAIC项目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理解基本的统计分析方法在改善中的应用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1.1 DMAIC概述与Define阶段（60分钟）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DMAIC与精益的结合：精益六西格玛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Define阶段的关键活动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项目选题和立项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问题陈述（Problem Statement）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目标陈述（Goal Statement）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项目范围界定（SIPOC图）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项目计划制定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SIPOC图的绘制方法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Supplier（供应商）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Input（输入）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Process（流程）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Output（输出）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Customer（客户）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 charter 的编制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1.2 Measure阶段（60分钟）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数据收集计划的制定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数据类型：连续型数据 vs 离散型数据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基本统计概念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均值、中位数、标准差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正态分布和非正态分布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测量系统分析（MSA）基础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精密度和准确度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重复性和再现性（GR&amp;R）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过程能力分析基础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Cp和Cpk的概念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过程能力的判断标准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1.3 Analyze阶段（60分钟）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根本原因分析方法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鱼骨图分析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5Why分析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假设检验基础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回归分析基础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数据分析工具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帕累托分析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散点图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直方图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箱线图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根本原因验证方法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多变量分析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区间图分析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等化检验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1.4 Improve阶段（60分钟）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改进方案的生成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头脑风暴法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TRIZ创新方法简介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流程优化技术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改进方案的评估和选择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Pugh矩阵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成本效益分析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风险评估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改进方案的实施和验证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试验设计（DOE）基础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改进效果的统计验证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全面实施计划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1.5 Control阶段（60分钟）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控制计划的编制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统计过程控制（SPC）基础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控制图的种类和选择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控制图的绘制和解读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异常模式的识别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标准化和文件化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项目移交和关闭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制造业DMAIC项目实例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1.6 DMAIC项目实操（120分钟）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每位学员完成一个DMAIC项目的完整报告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讲师巡回指导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小组内评审和互评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模块2：战略部署Hoshin Kanri（6课时）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理解Hoshin Kanri的概念和实施步骤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能够参与公司战略部署的制定和分解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掌握Catchball（政策展开）的沟通方法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2.1 Hoshin Kanri概述（45分钟）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Hoshin Kanri的定义：战略部署/方针管理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Hoshin Kanri的目的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将公司战略转化为可执行的行动计划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确保各部门目标与公司战略对齐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建立战略执行的回顾和调整机制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Hoshin Kanri的三个核心过程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战略规划（Catchball过程）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年度目标分解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定期回顾和调整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2.2 突破性目标设定（45分钟）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突破性目标vs改善目标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突破性目标：3-5年内实现的跨越式进步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改善目标：持续的小步改善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突破性目标的设定原则：SMART原则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制造企业突破性目标示例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示例1：3年内将产品不良率从2%降至0.3%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示例2：3年内将换模时间缩短70%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示例3：3年内将交付周期从15天缩短至7天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2.3 Catchball过程（60分钟）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Catchball的概念：上下级之间的目标对话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Catchball的步骤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高层制定突破性目标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向下级传达并征求意见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下级反馈可行性和资源需求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上下协商达成一致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形成各级目标和行动计划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Catchball的关键成功因素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坦诚沟通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基于数据的讨论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双向互动而非单向下达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模拟Catchball练习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2.4 年度目标分解（45分钟）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X矩阵（X-Matrix）的使用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长期突破性目标 → 年度优先事项 → 关键行动计划 → 指标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关键行动计划的制定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责任分配和资源保障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月度/季度回顾机制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2.5 战略部署实例（45分钟）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某制造企业Hoshin Kanri实施案例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从公司级目标到部门级目标的分解过程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X矩阵的完整示例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定期回顾和调整的实际操作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模块3：教练技术（6课时）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理解精益教练的角色定位和核心能力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掌握有效的提问和倾听技巧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能够运用GROW模型辅导他人解决问题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3.1 精益教练的角色（45分钟）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教练与讲师、顾问的区别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精益教练的核心能力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提问能力：引导思考而非直接给答案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倾听能力：全身心倾听，理解言外之意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观察能力：观察行为和过程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反馈能力：及时、具体、建设性的反馈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教练的心态：好奇心、耐心、信任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教练在精益推行中的价值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3.2 提问技巧（60分钟）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开放式问题vs封闭式问题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有效提问的原则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一次只问一个问题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问"什么"和"如何"而非"为什么"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留出沉默时间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跟进追问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精益教练常用的提问清单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你观察到了什么？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标准是什么？实际是什么？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差距的原因是什么？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你打算怎么改善？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需要什么支持？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提问练习：两人一组互相练习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3.3 倾听和反馈技巧（45分钟）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三个层次的倾听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下载式倾听：只听自己想听的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事实式倾听：听到对方说的内容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同理式倾听：理解对方的感受和需求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反馈的SBAR模型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Situation（情境）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Behavior（行为）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Assessment（评估）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Recommendation（建议）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正面强化和建设性反馈的平衡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3.4 GROW模型实操（60分钟）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GROW模型的四个阶段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GROW模型在精益辅导中的应用案例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角色扮演：模拟教练场景（每人练习2轮）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3.5 培养他人精益思维（30分钟）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如何在日常工作中融入教练行为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培养下属的自主改善能力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建立学习型团队的方法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教练技术的长期实践建议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模块4：精益评估框架（4课时）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掌握精益成熟度评估的完整框架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能够独立进行现场审核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能够撰写评估报告并制定改进路线图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4.1 精益成熟度评估模型（60分钟）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评估维度和子维度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评分标准：1-5分制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1分：无系统化管理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2分：有基本制度但执行不一致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3分：制度化执行，有定期回顾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4分：持续改善，有数据驱动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5分：行业标杆，卓越实践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4.2 审核实操（90分钟）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审核准备：检查表准备、分组分工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现场审核：观察、提问、记录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审核发现的分类和严重程度判定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审核总结会议的组织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4.3 评估报告撰写（60分钟）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评估报告的结构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执行摘要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各维度评分和详细发现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优势和改进机会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改进路线图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改进路线图的制定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短期改进（Quick Wins）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中期改进（系统建设）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长期改进（文化深化）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4.4 精益评估案例（30分钟）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某制造企业的精益评估实例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评估发现的分析和改进计划制定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模块5：供应链精益（4课时）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理解供应链精益管理的理念和方法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掌握供应商精益发展的辅导方法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了解制造业供应链的优化方向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5.1 供应链精益管理概述（45分钟）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供应链精益的核心理念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从企业内部精益到供应链精益的延伸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供应链中的七大浪费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制造业供应链的特点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上游：钢材供应商（原材料、卷料）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下游：汽车、机械、电子等行业客户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物流：原材料运输、成品配送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5.2 供应商精益发展（45分钟）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供应商分级管理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供应商精益评估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供应商辅导方法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现场诊断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能力建设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持续跟踪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供应商精益发展的成功案例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5.3 物流和库存优化（45分钟）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库存优化策略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安全库存的科学计算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ABC分类管理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呆滞物料处理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物流路线优化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厂内物流改善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VMI（供应商管理库存）的应用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5.4 产品供应链优化实践（45分钟）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某制造企业供应链精益改善案例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原材料采购优化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成品配送优化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供应链协同改善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模块6：Office TPM（4课时）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将TPM方法应用于办公流程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识别和消除办公流程中的浪费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提升跨部门协作效率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6.1 办公流程中的浪费识别（45分钟）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办公流程八大浪费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过量信息处理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等待审批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不必要的会议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重复录入数据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信息孤岛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不必要的走动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文件错误和返工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人才浪费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办公流程浪费识别练习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6.2 办公流程标准化（45分钟）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办公流程的梳理和优化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流程标准化的方法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电子化和自动化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制造企业办公流程优化实例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订单处理流程优化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采购审批流程优化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质量报告流程优化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6.3 Office TPM实施（45分钟）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Office TPM的定义和目标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办公设备的自主保全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办公环境的5S管理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办公效率的度量和改善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跨部门协作效率提升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6.4 Office TPM案例（45分钟）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某企业Office TPM实施案例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办公效率提升的数据对比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员工满意度的变化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模块7：综合项目（8课时）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综合运用所学方法论和工具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领导一个真实的精益改善项目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锻炼项目管理和团队领导能力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7.1 项目选题和计划（60分钟）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选择一个真实的精益改善项目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优先选择与企业年度精益目标相关的项目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项目范围适中（3-6个月可完成）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有明确的量化改善目标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项目计划的编制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项目范围和目标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项目团队组建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时间计划和里程碑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资源需求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风险评估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7.2 项目实施指导（180分钟）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讲师巡回指导各项目组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各项目组按照计划推进项目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定期汇报项目进展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解决实施中遇到的问题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7.3 项目成果汇报（120分钟）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每个项目组进行15分钟的项目成果汇报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汇报内容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项目背景和目标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方法论和工具的应用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改善过程和数据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改善效果和财务收益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经验教训和后续计划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讲师和评委点评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优秀项目评选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4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4. 教学方法总结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教学方法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占比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应用场景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方法论和理论讲解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项目实操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35%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DMAIC项目、综合项目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案例分析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行业案例研究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角色扮演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15%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教练技术、Catchball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现场审核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精益评估实操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小组讨论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5%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经验分享、问题讨论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5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5. 考核方式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5.1 DMAIC项目报告（25%）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提交一份完整的DMAIC项目报告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评审标准：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项目定义和范围（15%）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数据收集和分析（25%）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根本原因分析的深度（20%）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改进方案的有效性（25%）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控制计划的完整性（15%）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5.2 精益评估报告（20%）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完成一次现场精益评估并提交报告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评审标准：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评估的全面性和客观性（30%）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发现的准确性和深度（30%）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改进路线图的可行性（25%）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报告的逻辑性和规范性（15%）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5.3 综合项目（30%）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完成一个真实的精益改善项目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评审标准：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项目计划和执行（25%）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方法论和工具的应用（25%）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改善效果和数据（30%）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汇报和展示效果（20%）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5.4 教练技术评估（15%）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模拟教练场景评估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提问技巧（30%）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倾听能力（25%）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引导效果（25%）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反馈质量（20%）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5.5 课堂参与（10%）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出勤率：100%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案例讨论参与度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角色扮演投入度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6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6. 教材与参考资料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6.1 必备教材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《高级精益培训手册》（内部编制）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《DMAIC项目实操指南》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《精益评估工具包》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《制造业高级改善案例集》（内部编制）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6.2 推荐阅读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《精益六西格玛手册》- 托马斯·派兹德克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《战略部署》- 约翰·舒克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《教练的艺术》- 约翰·惠特默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《供应链管理》- 苏尼尔·乔普拉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《TPM全面生产维护》- 日本能率协会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7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