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SimHei"/>
                <a:rFonts a:latin="SimHei" a:ea="SimHei"/>
              </a:rPr>
              <a:t>精益六西格玛培训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926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6EE0C0"/>
                </a:solidFill>
                <a:latin typeface="SimHei"/>
                <a:rFonts a:latin="SimHei" a:ea="SimHei"/>
              </a:rPr>
              <a:t>Lean Six Sigma 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3891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A0D0B8"/>
                </a:solidFill>
                <a:latin typeface="SimHei"/>
                <a:rFonts a:latin="SimHei" a:ea="SimHei"/>
              </a:rPr>
              <a:t>精益知识库 | 方法论培训系列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SimHei"/>
                <a:rFonts a:latin="SimHei" a:ea="SimHei"/>
              </a:rPr>
              <a:t>Lean + Six Sigma 整合概述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SimSun"/>
                <a:rFonts a:latin="SimSun" a:ea="SimSun"/>
              </a:rPr>
              <a:t>精益六西格玛 = Lean（速度和流动）+ Six Sigma（变异和质量）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SimSun"/>
                <a:rFonts a:latin="SimSun" a:ea="SimSun"/>
              </a:rPr>
              <a:t/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SimSun"/>
                <a:rFonts a:latin="SimSun" a:ea="SimSun"/>
              </a:rPr>
              <a:t>Lean 的核心：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SimSun"/>
                <a:rFonts a:latin="SimSun" a:ea="SimSun"/>
              </a:rPr>
              <a:t>  - 消除七大浪费（过量生产、等待、运输、过度加工、库存、动作、不良）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SimSun"/>
                <a:rFonts a:latin="SimSun" a:ea="SimSun"/>
              </a:rPr>
              <a:t>  - 加快价值流动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SimSun"/>
                <a:rFonts a:latin="SimSun" a:ea="SimSun"/>
              </a:rPr>
              <a:t>  - 工具：VSM、5S、看板、SMED、标准作业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SimSun"/>
                <a:rFonts a:latin="SimSun" a:ea="SimSun"/>
              </a:rPr>
              <a:t/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SimSun"/>
                <a:rFonts a:latin="SimSun" a:ea="SimSun"/>
              </a:rPr>
              <a:t>Six Sigma 的核心：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SimSun"/>
                <a:rFonts a:latin="SimSun" a:ea="SimSun"/>
              </a:rPr>
              <a:t>  - 减少过程变异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SimSun"/>
                <a:rFonts a:latin="SimSun" a:ea="SimSun"/>
              </a:rPr>
              <a:t>  - 追求零缺陷（3.4 DPMO）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SimSun"/>
                <a:rFonts a:latin="SimSun" a:ea="SimSun"/>
              </a:rPr>
              <a:t>  - 工具：SPC、DOE、MSA、假设检验、FMEA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SimSun"/>
                <a:rFonts a:latin="SimSun" a:ea="SimSun"/>
              </a:rPr>
              <a:t/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SimSun"/>
                <a:rFonts a:latin="SimSun" a:ea="SimSun"/>
              </a:rPr>
              <a:t>整合价值：Lean 加速流程 + Six Sigma 减少变异 = 更快、更稳定、更高质量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SimHei"/>
                <a:rFonts a:latin="SimHei" a:ea="SimHei"/>
              </a:rPr>
              <a:t>DMAIC 方法论总览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imHei"/>
                          <a:rFonts a:latin="SimHei" a:ea="SimHei"/>
                        </a:rPr>
                        <a:t>阶段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imHei"/>
                          <a:rFonts a:latin="SimHei" a:ea="SimHei"/>
                        </a:rPr>
                        <a:t>英文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imHei"/>
                          <a:rFonts a:latin="SimHei" a:ea="SimHei"/>
                        </a:rPr>
                        <a:t>目标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imHei"/>
                          <a:rFonts a:latin="SimHei" a:ea="SimHei"/>
                        </a:rPr>
                        <a:t>核心工具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imHei"/>
                          <a:rFonts a:latin="SimHei" a:ea="SimHei"/>
                        </a:rPr>
                        <a:t>输出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定义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Define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明确问题和目标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项目章程、SIPOC、CTQ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项目章程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测量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Measure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建立数据基线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MSA、VSM、过程能力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基线数据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分析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Analyze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识别根本原因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鱼骨图、5Why、假设检验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根本原因清单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改进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Improve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制定和实施方案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DOE、防错、SMED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改进方案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控制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维持改进成果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SPC、控制计划、标准作业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控制计划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SimHei"/>
                <a:rFonts a:latin="SimHei" a:ea="SimHei"/>
              </a:rPr>
              <a:t>Define 定义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目标：明确问题、目标和范围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/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核心活动：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  - 项目章程（Project Charter）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     问题陈述、目标、范围、时间表、团队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  - SIPOC 分析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     Supplier → Input → Process → Output → Customer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  - 客户之声（VOC）收集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     调查、访谈、投诉数据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  - 关键质量特性（CTQ）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     将 VOC 转化为可测量的指标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/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紧固件案例：定义"降低M10螺栓冷镦不良率"项目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SimHei"/>
                <a:rFonts a:latin="SimHei" a:ea="SimHei"/>
              </a:rPr>
              <a:t>Measure 测量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目标：收集数据，建立当前基线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/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核心活动：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  - 数据收集计划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     测量对象、方法、频率、样本量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  - 测量系统分析（MSA / Gage R&amp;R）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     验证测量系统的准确性和重复性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  - 过程能力基线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     当前 Cp、Cpk、PPM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  - 价值流图（VSM）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     量化时间和库存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/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紧固件案例：当前Cpk=0.89，PPM=28,000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SimHei"/>
                <a:rFonts a:latin="SimHei" a:ea="SimHei"/>
              </a:rPr>
              <a:t>Analyze 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目标：识别根本原因和关键影响因素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/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核心活动：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  - 鱼骨图（因果图）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     人、机、料、法、环、测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  - 5 Why 分析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     追溯根本原因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  - 假设检验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     t检验、ANOVA、卡方检验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  - 回归分析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     X 和 Y 的数学关系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  - 帕累托分析（80/20法则）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/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紧固件案例：根因为材料硬度波动(45%)、模具温度(25%)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SimHei"/>
                <a:rFonts a:latin="SimHei" a:ea="SimHei"/>
              </a:rPr>
              <a:t>Improve 改进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目标：制定和实施改进方案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/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核心活动：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  - 头脑风暴和创意生成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  - 实验设计（DOE）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     系统优化关键参数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  - 防错设计（Poka-Yoke）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     从设计上防止错误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  - 精益工具应用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     5S、SMED、看板等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  - 试运行（Pilot）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     小范围验证效果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/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紧固件案例：DOE优化模具温度和润滑参数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SimHei"/>
                <a:rFonts a:latin="SimHei" a:ea="SimHei"/>
              </a:rPr>
              <a:t>Control 控制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目标：维持改进成果，防止回退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/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核心活动：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  - 控制计划（Control Plan）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     监控方法、频率、响应措施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  - SPC 控制图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     实时监控过程状态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  - 标准作业文件更新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     将改进固化为标准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  - 培训和交接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     确保相关人员掌握新流程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  - 项目成果报告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     总结收益和经验教训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/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紧固件案例：不良率从2.8%降至0.3%，年节约120万元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SimHei"/>
                <a:rFonts a:latin="SimHei" a:ea="SimHei"/>
              </a:rPr>
              <a:t>关键工具箱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imHei"/>
                          <a:rFonts a:latin="SimHei" a:ea="SimHei"/>
                        </a:rPr>
                        <a:t>工具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imHei"/>
                          <a:rFonts a:latin="SimHei" a:ea="SimHei"/>
                        </a:rPr>
                        <a:t>英文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imHei"/>
                          <a:rFonts a:latin="SimHei" a:ea="SimHei"/>
                        </a:rPr>
                        <a:t>用途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imHei"/>
                          <a:rFonts a:latin="SimHei" a:ea="SimHei"/>
                        </a:rPr>
                        <a:t>DMAIC阶段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SIPOC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Supplier-Input-Process-Output-Customer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确定流程边界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Define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VSM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Value Stream Mapping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识别浪费和增值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Measure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FMEA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Failure Mode &amp; Effects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风险评估和预防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Analyze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DOE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Design of Experiments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参数优化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Improve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SPC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Statistical Process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过程监控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Control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MSA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Measurement System Analysis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验证测量系统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Measure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Cp/Cpk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Process Capability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过程能力评估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Measure/Control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SimHei"/>
                <a:rFonts a:latin="SimHei" a:ea="SimHei"/>
              </a:rPr>
              <a:t>西格玛水平与 DPMO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imHei"/>
                          <a:rFonts a:latin="SimHei" a:ea="SimHei"/>
                        </a:rPr>
                        <a:t>西格玛水平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imHei"/>
                          <a:rFonts a:latin="SimHei" a:ea="SimHei"/>
                        </a:rPr>
                        <a:t>DPMO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imHei"/>
                          <a:rFonts a:latin="SimHei" a:ea="SimHei"/>
                        </a:rPr>
                        <a:t>合格率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imHei"/>
                          <a:rFonts a:latin="SimHei" a:ea="SimHei"/>
                        </a:rPr>
                        <a:t>含义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1 sigma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691,462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30.85%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过程极不稳定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2 sigma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308,538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69.15%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过程不稳定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3 sigma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66,807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93.32%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一般制造水平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4 sigma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6,210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99.38%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较好水平（紧固件目标）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5 sigma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233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99.977%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优秀水平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6 sigma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3.4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99.99966%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世界级水平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SimHei"/>
                <a:rFonts a:latin="SimHei" a:ea="SimHei"/>
              </a:rPr>
              <a:t>角色体系（GB/BB/MBB）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imHei"/>
                          <a:rFonts a:latin="SimHei" a:ea="SimHei"/>
                        </a:rPr>
                        <a:t>角色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imHei"/>
                          <a:rFonts a:latin="SimHei" a:ea="SimHei"/>
                        </a:rPr>
                        <a:t>英文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imHei"/>
                          <a:rFonts a:latin="SimHei" a:ea="SimHei"/>
                        </a:rPr>
                        <a:t>职责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imHei"/>
                          <a:rFonts a:latin="SimHei" a:ea="SimHei"/>
                        </a:rPr>
                        <a:t>培训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imHei"/>
                          <a:rFonts a:latin="SimHei" a:ea="SimHei"/>
                        </a:rPr>
                        <a:t>项目要求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黄带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Yellow Belt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支持项目团队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1-2天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无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绿带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Green Belt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领导改进项目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2-3周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完成1-2个项目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黑带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Black Belt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全职改进专家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4-6周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完成4-6个项目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大黑带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MBB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战略规划、培训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持续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领导组织级推行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SimHei"/>
                <a:rFonts a:latin="SimHei" a:ea="SimHei"/>
              </a:rPr>
              <a:t>紧固件行业应用案例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SimSun"/>
                <a:rFonts a:latin="SimSun" a:ea="SimSun"/>
              </a:rPr>
              <a:t>案例：降低六角螺母冷镦工序不良率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SimSun"/>
                <a:rFonts a:latin="SimSun" a:ea="SimSun"/>
              </a:rPr>
              <a:t/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SimSun"/>
                <a:rFonts a:latin="SimSun" a:ea="SimSun"/>
              </a:rPr>
              <a:t>项目背景：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SimSun"/>
                <a:rFonts a:latin="SimSun" a:ea="SimSun"/>
              </a:rPr>
              <a:t>  月产量500万件，不良率2.8%（PPM=28,000）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SimSun"/>
                <a:rFonts a:latin="SimSun" a:ea="SimSun"/>
              </a:rPr>
              <a:t>  主要缺陷：头部裂纹(45%) + 对角尺寸超差(30%)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SimSun"/>
                <a:rFonts a:latin="SimSun" a:ea="SimSun"/>
              </a:rPr>
              <a:t>  目标：不良率降至0.5%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SimSun"/>
                <a:rFonts a:latin="SimSun" a:ea="SimSun"/>
              </a:rPr>
              <a:t/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SimSun"/>
                <a:rFonts a:latin="SimSun" a:ea="SimSun"/>
              </a:rPr>
              <a:t>DMAIC 过程：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SimSun"/>
                <a:rFonts a:latin="SimSun" a:ea="SimSun"/>
              </a:rPr>
              <a:t>  Define：项目章程、SIPOC分析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SimSun"/>
                <a:rFonts a:latin="SimSun" a:ea="SimSun"/>
              </a:rPr>
              <a:t>  Measure：30天数据收集，Cpk=0.89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SimSun"/>
                <a:rFonts a:latin="SimSun" a:ea="SimSun"/>
              </a:rPr>
              <a:t>  Analyze：根因为材料硬度波动(45%)、模具温度(25%)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SimSun"/>
                <a:rFonts a:latin="SimSun" a:ea="SimSun"/>
              </a:rPr>
              <a:t>  Improve：DOE优化参数，建立原材料检验标准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SimSun"/>
                <a:rFonts a:latin="SimSun" a:ea="SimSun"/>
              </a:rPr>
              <a:t>  Control：SPC监控，标准化作业，人员培训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SimSun"/>
                <a:rFonts a:latin="SimSun" a:ea="SimSun"/>
              </a:rPr>
              <a:t/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SimSun"/>
                <a:rFonts a:latin="SimSun" a:ea="SimSun"/>
              </a:rPr>
              <a:t>项目成果：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SimSun"/>
                <a:rFonts a:latin="SimSun" a:ea="SimSun"/>
              </a:rPr>
              <a:t>  不良率：2.8% → 0.3%（降低89%）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SimSun"/>
                <a:rFonts a:latin="SimSun" a:ea="SimSun"/>
              </a:rPr>
              <a:t>  Cpk：0.89 → 1.52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SimSun"/>
                <a:rFonts a:latin="SimSun" a:ea="SimSun"/>
              </a:rPr>
              <a:t>  年节约成本：约120万元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SimHei"/>
                <a:rFonts a:latin="SimHei" a:ea="SimHei"/>
              </a:rPr>
              <a:t>Lean Six Sigma 与其他方法论关系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imHei"/>
                          <a:rFonts a:latin="SimHei" a:ea="SimHei"/>
                        </a:rPr>
                        <a:t>维度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imHei"/>
                          <a:rFonts a:latin="SimHei" a:ea="SimHei"/>
                        </a:rPr>
                        <a:t>LSS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imHei"/>
                          <a:rFonts a:latin="SimHei" a:ea="SimHei"/>
                        </a:rPr>
                        <a:t>TPS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imHei"/>
                          <a:rFonts a:latin="SimHei" a:ea="SimHei"/>
                        </a:rPr>
                        <a:t>WCM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imHei"/>
                          <a:rFonts a:latin="SimHei" a:ea="SimHei"/>
                        </a:rPr>
                        <a:t>TOC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方法论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DMAIC数据驱动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两大支柱+14原则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9大支柱全面整合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5步聚焦法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改进方式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项目制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日常改善+课题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支柱推进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约束驱动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工具偏好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统计工具为主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看板+自働化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综合工具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DBR+缓冲管理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人才体系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GB/BB/MBB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多能工/TWI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内部评估员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无特殊角色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整合建议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>可作为WCM/TPS的问题解决方法论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  <a:rFonts a:latin="SimSun" a:ea="SimSun"/>
                        </a:rPr>
                        <a:t/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SimHei"/>
                <a:rFonts a:latin="SimHei" a:ea="SimHei"/>
              </a:rPr>
              <a:t>总结与下一步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Lean Six Sigma 核心要点回顾：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/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1. LSS = Lean（速度）+ Six Sigma（质量）的完美结合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2. DMAIC 是结构化问题解决的核心框架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3. 数据驱动、统计严谨、工具丰富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4. GB/BB/MBB 角色体系支撑持续改进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5. 紧固件行业全面适用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/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下一步行动计划：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  [ ] 第1周：选定1个试点项目（建议从质量改进开始）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  [ ] 第2周：启动绿带培训（选3-5名骨干）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  [ ] 第1月：完成试点项目 Define + Measure 阶段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  [ ] 第3月：完成试点项目 Analyze + Improve 阶段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  [ ] 第6月：完成试点项目 Control + 效果验证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SimSun"/>
                <a:rFonts a:latin="SimSun" a:ea="SimSun"/>
              </a:rPr>
              <a:t>  [ ] 第12月：推广至3-5个改进项目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