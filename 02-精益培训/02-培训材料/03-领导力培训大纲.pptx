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imHei"/>
              </a:rPr>
              <a:t>领导力培训大纲</a:t>
            </a:r>
          </a:p>
          <a:p>
            <a:pPr algn="ctr">
              <a:spcBef>
                <a:spcPts val="2000"/>
              </a:spcBef>
            </a:pPr>
            <a:r>
              <a:t>精益知识库 - 02-培训材料</a:t>
            </a:r>
            <a:r>
              <a:rPr sz="1800" b="0">
                <a:solidFill>
                  <a:srgbClr val="AACCEE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1. 课程基本信息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项目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内容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精益领导力培训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课程代码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L3-001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总课时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24课时（每课时45分钟）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培训方式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课堂讲授 + 案例分析 + 实操练习 + 角色扮演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适合对象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管理层（总经理、副总、部门经理、车间主任）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前置条件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完成工具专项培训（L2-001）或具备同等水平精益知识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课程讲师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高级精益顾问 / 外部专家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教材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领导力培训手册、A3模板、VSM模板、案例集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2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2. 课程目标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t>完成本课程后，学员应能够：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践行精益领导力：运用精益领导理念指导团队，推动现场改善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运用A3思维解决问题：使用A3报告结构化地分析和解决问题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绘制和分析价值流图：独立完成当前状态和未来状态价值流图的绘制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主持Kaizen改善活动：组织和主持改善周活动，带领团队取得成果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管理精益变革：识别变革阻力，制定应对策略，推动组织变革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6. 进行精益评估：使用精益评估框架审核现场，制定改进计划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3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3. 模块内容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序号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部分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内容要点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PDCA对应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主题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问题或改善主题的标题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Plan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2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背景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为什么这个问题重要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Plan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当前状态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问题的现状和数据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Plan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4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目标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期望达到的目标状态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Plan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根本原因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导致问题的根本原因分析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Plan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6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对策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针对根本原因的对策方案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Do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实施计划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对策的实施步骤和时间表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Do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8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效果确认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对策实施后的效果验证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Check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标准化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成功做法的标准化和固化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Act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后续工作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遗留问题和下一步计划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Act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模块1：精益领导力（4课时）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理解精益领导者的角色和行为准则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掌握现场现物（Genchi Genbutsu）的实践方法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建立精益日常管理体系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1.1 精益领导者角色定位（60分钟）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从"指挥官"到"教练"的角色转变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精益领导者的核心行为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现场现物（Genchi Genbutsu）：到现场看实物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现地现时（Genba）：在实际发生问题的地方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问"为什么"而不是直接给答案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示范标准作业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培养下属的精益思维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精益领导力的五个维度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以身作则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现场导向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培育人才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持续改善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战略思维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1.2 管理者标准化作业（60分钟）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管理者日常标准化作业的内容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每日现场巡视路线和检查点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每日站会的组织和主持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绩效看板的回顾和更新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问题跟踪和闭环管理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管理者标准作业表的编制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实例：某紧固件企业车间主任的日常标准作业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1.3 精益日常管理体系（60分钟）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每日站会（Daily Stand-up Meeting）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目的：信息共享、问题暴露、快速响应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时长：15分钟以内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内容：安全、质量、交付、成本、人员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可视化绩效管理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生产绩效看板的设计和使用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安灯系统和异常响应流程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红绿灯管理法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层级会议体系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班组级：每日站会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车间级：每周精益回顾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部门级：每月精益评审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公司级：每季度精益战略回顾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1.4 案例讨论（60分钟）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成功案例：某紧固件企业精益转型中管理层的关键作用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失败案例：管理层不参与导致精益推行失败的教训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小组讨论：如何在自己的部门推动精益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模块2：A3问题解决（4课时）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理解A3思维的本质和价值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掌握A3报告的结构和编制方法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能够运用A3方法解决实际管理问题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2.1 A3思维概述（30分钟）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A3名称的由来：A3纸张大小（297mm x 420mm）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A3思维的本质：将复杂问题结构化、可视化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A3报告的用途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问题解决报告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现状把握报告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改善提案报告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项目计划报告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A3与PDCA的关系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2.2 A3报告的结构（60分钟）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A3报告的10个标准部分：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2.3 A3编制实操（90分钟）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每位学员选择一个实际的管理问题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按照A3结构逐步编制报告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讲师巡回指导，提供反馈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小组内分享和互评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模块3：价值流图（6课时）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掌握价值流图的符号和绘制方法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能够独立绘制当前状态价值流图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能够设计未来状态价值流图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制定从当前到未来的改善计划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3.1 价值流图基础（60分钟）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价值流的定义：从原材料到成品交付客户的全部活动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价值流图的目的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识别增值和非增值活动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发现改善机会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建立未来愿景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制定改善计划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价值流图的基本符号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流程框、数据框、库存三角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推动箭头、拉动箭头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信息流箭头、物料流箭头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时间线（增值时间和非增值时间）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3.2 当前状态图绘制（90分钟）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绘制步骤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选择产品族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绘制物料流（从右到左）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绘制信息流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收集数据（各工序的周期时间、换模时间、可用时间、不良率等）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绘制时间线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6. 计算增值比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紧固件产品族选择方法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紧固件生产典型工序的数据收集要点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3.3 当前状态图绘制练习（90分钟）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以某紧固件产品为例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现场收集数据（或使用提供的模拟数据）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绘制完整的当前状态价值流图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计算增值比和生产周期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3.4 未来状态图设计（60分钟）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未来状态设计的七个关键问题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节拍时间是多少？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哪里可以建立连续流？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哪里需要使用拉动系统？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生产指令在何处下达？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如何均衡生产？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6. 哪些工序需要改善？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7. 需要什么流程改善来实现未来状态？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紧固件企业未来状态图示例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3.5 改善计划制定（30分钟）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从当前状态到未来状态的差距分析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改善项目的优先级排序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改善路线图的制定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改善项目的负责人和时间安排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模块4：Kaizen主持技巧（4课时）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掌握Kaizen改善周的组织和准备方法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能够有效主持改善团队的工作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学会管理改善过程中的常见问题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4.1 Kaizen改善周的准备（40分钟）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改善主题的选择标准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改善团队的组建（6-8人，跨职能）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改善前的数据收集和准备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改善期间的后勤安排（场地、物料、工具）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改善目标的设定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4.2 改善周的组织和主持（80分钟）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改善周的典型日程安排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主持人的关键职责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管理时间和议程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引导团队讨论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保持团队动力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处理冲突和分歧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确保成果产出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4.3 改善发表会（40分钟）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改善发表会的组织和准备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发表报告的结构和内容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发表技巧：STAR法则（情境-任务-行动-结果）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评委提问和点评的技巧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4.4 模拟主持练习（60分钟）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分组模拟主持一次Kaizen改善活动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每组轮流担任主持人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其他学员扮演团队成员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讲师观察并提供反馈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模块5：变革管理（4课时）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理解组织变革的基本理论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能够识别精益推行中的常见阻力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制定有效的变革沟通和推进策略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5.1 变革管理理论（40分钟）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Kotter八步变革法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建立紧迫感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组建领导团队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制定愿景和战略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沟通变革愿景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授权广泛行动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6. 创造短期成效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7. 巩固成果并推进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8. 将变革融入文化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变革曲线：否认→愤怒→协商→接受→承诺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组织变革的常见失败原因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5.2 精益变革中的阻力分析（40分钟）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5.3 利益相关者管理（40分钟）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利益相关者识别和分析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利益相关者矩阵：影响力 x 支持度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不同利益相关者的管理策略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高支持高影响力：充分授权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高支持低影响力：保持沟通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低支持高影响力：重点管理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低支持低影响力：适度关注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5.4 沟通计划制定（40分钟）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精益变革沟通的五个关键信息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为什么要变革（Why）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变革的愿景是什么（What）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对每个人意味着什么（What's in it for me）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如何参与变革（How）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支持和资源在哪里（Support）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沟通渠道和频率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角色扮演：模拟处理精益推行中的典型阻力场景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模块6：精益评估与审计（2课时）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了解精益成熟度评估框架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能够使用审核检查表进行现场审核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能够撰写审核报告并制定改进计划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6.1 精益成熟度评估框架（30分钟）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精益成熟度的五个级别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初始级：随机、被动的改善活动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基础级：建立基本的精益工具应用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系统级：系统化的精益管理体系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优化级：持续改善的组织文化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卓越级：行业标杆的精益实践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评估维度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领导力和战略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现场管理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流程管理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人才发展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质量管理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设备管理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安全管理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6.2 现场审核技巧（40分钟）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审核前的准备：检查表、计划、分组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审核中的技巧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观察：看现场、看数据、看行为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提问：开放式问题为主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记录：客观记录发现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沟通：尊重被审核方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审核后的报告撰写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审核发现的分类：符合、不符合、观察项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6.3 审核实操（50分钟）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对模拟车间（或实际车间区域）进行审核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使用精益审核检查表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记录审核发现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撰写审核报告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制定改进计划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4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4. 教学方法总结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教学方法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占比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应用场景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课堂讲授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理论和方法讲解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案例分析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20%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紧固件行业领导力案例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实操练习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A3编制、VSM绘制、审核实操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角色扮演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15%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变革管理场景、Kaizen主持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小组讨论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经验分享、问题讨论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5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5. 考核方式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5.1 A3报告提交（30%）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提交一份完整的A3问题解决报告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评审标准：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问题定义清晰度（15%）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数据和分析的准确性（25%）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根本原因分析的深度（25%）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对策的有效性和可行性（20%）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报告格式和逻辑性（15%）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5.2 价值流图绘制（25%）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完成一份当前状态和未来状态价值流图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评审标准：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数据准确性和完整性（30%）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符号使用的规范性（20%）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问题识别的全面性（25%）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未来状态设计的合理性（25%）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5.3 Kaizen活动模拟（25%）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模拟主持一次Kaizen改善活动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评估标准：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活动组织和时间管理（25%）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团队引导和讨论效果（30%）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问题分析和对策质量（25%）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发表和汇报效果（20%）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5.4 课堂参与（20%）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出勤率：100%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案例讨论参与度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角色扮演投入度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6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6. 教材与参考资料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6.1 必备教材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《精益领导力培训手册》（内部编制）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《A3问题解决实战指南》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《价值流图绘制指南》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《紧固件行业领导力案例集》（内部编制）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6.2 推荐阅读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《丰田模式》- 杰弗瑞·莱克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《领导精益》- 约翰·舒克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《A3思维》- 罗伯特·豪威尔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《学习型管理》- 约翰·舒克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《变革之心》- 约翰·科特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7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