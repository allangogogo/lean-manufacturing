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"/>
            <a:ext cx="6400800" cy="6400800"/>
          </a:xfrm>
          <a:prstGeom prst="ellipse">
            <a:avLst/>
          </a:prstGeom>
          <a:solidFill>
            <a:srgbClr val="1A3A6B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457200"/>
            <a:ext cx="5486400" cy="5486400"/>
          </a:xfrm>
          <a:prstGeom prst="ellipse">
            <a:avLst/>
          </a:prstGeom>
          <a:solidFill>
            <a:srgbClr val="1A3A6B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4114800"/>
            <a:ext cx="3657600" cy="3657600"/>
          </a:xfrm>
          <a:prstGeom prst="ellipse">
            <a:avLst/>
          </a:prstGeom>
          <a:solidFill>
            <a:srgbClr val="1E3A6E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CADCFC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0" dirty="0"/>
          </a:p>
        </p:txBody>
      </p:sp>
      <p:sp>
        <p:nvSpPr>
          <p:cNvPr id="6" name="Shape 4"/>
          <p:cNvSpPr/>
          <p:nvPr/>
        </p:nvSpPr>
        <p:spPr>
          <a:xfrm>
            <a:off x="731520" y="3474720"/>
            <a:ext cx="54864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5661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深度专题研究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 Dive Research Topics  |  紧固件制造专用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5212080"/>
            <a:ext cx="2743200" cy="27432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394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变革管理  Change Management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0" y="5394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质量标准整合  Quality Standards Integration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0" y="5394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精益数字化  Lean Digitalization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 01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7315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164592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变革管理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Change Management  |  Leading Transformation in Fastener Plants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840480"/>
            <a:ext cx="3657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206240"/>
            <a:ext cx="914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206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科特八步变革模型  —  Kotter's 8-Step Change Model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754880"/>
            <a:ext cx="914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精益人才发展  —  Lean Talent Development &amp; Competency Model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121889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科特八步变革模型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Kotter's 8-Step Change Model — Fastener Manufacturing Application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4710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变革管理  |  Change Management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54710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|  深度专题研究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600200"/>
            <a:ext cx="2864358" cy="2286000"/>
          </a:xfrm>
          <a:prstGeom prst="roundRect">
            <a:avLst>
              <a:gd name="adj" fmla="val 32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691640"/>
            <a:ext cx="347472" cy="347472"/>
          </a:xfrm>
          <a:prstGeom prst="ellipse">
            <a:avLst/>
          </a:prstGeom>
          <a:solidFill>
            <a:srgbClr val="FFFFFF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91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1691640"/>
            <a:ext cx="226999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建立紧迫感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039112"/>
            <a:ext cx="259003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Urgency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" y="2258568"/>
            <a:ext cx="2590038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31720"/>
            <a:ext cx="2590038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展示交期延误、客户投诉、利润下降数据；对标行业最佳实践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102102" y="2606040"/>
            <a:ext cx="73152" cy="27432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84398" y="1600200"/>
            <a:ext cx="2864358" cy="2286000"/>
          </a:xfrm>
          <a:prstGeom prst="roundRect">
            <a:avLst>
              <a:gd name="adj" fmla="val 3200"/>
            </a:avLst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75838" y="1691640"/>
            <a:ext cx="347472" cy="347472"/>
          </a:xfrm>
          <a:prstGeom prst="ellipse">
            <a:avLst/>
          </a:prstGeom>
          <a:solidFill>
            <a:srgbClr val="FFFFFF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75838" y="1691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87318" y="1691640"/>
            <a:ext cx="226999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组建领导联盟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21558" y="2039112"/>
            <a:ext cx="259003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Coalition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321558" y="2258568"/>
            <a:ext cx="2590038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21558" y="2331720"/>
            <a:ext cx="2590038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生产/质量/工程/HR总监组成跨部门变革核心小组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057900" y="2606040"/>
            <a:ext cx="73152" cy="27432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40196" y="1600200"/>
            <a:ext cx="2864358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1636" y="1691640"/>
            <a:ext cx="347472" cy="347472"/>
          </a:xfrm>
          <a:prstGeom prst="ellipse">
            <a:avLst/>
          </a:prstGeom>
          <a:solidFill>
            <a:srgbClr val="FFFFFF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1636" y="1691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43116" y="1691640"/>
            <a:ext cx="226999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构建战略愿景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77356" y="2039112"/>
            <a:ext cx="259003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Vision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277356" y="2258568"/>
            <a:ext cx="2590038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77356" y="2331720"/>
            <a:ext cx="2590038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定义精益工厂愿景：换型&lt;5min，OEE&gt;85%，零缺陷交货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013698" y="2606040"/>
            <a:ext cx="73152" cy="27432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95994" y="1600200"/>
            <a:ext cx="2864358" cy="2286000"/>
          </a:xfrm>
          <a:prstGeom prst="roundRect">
            <a:avLst>
              <a:gd name="adj" fmla="val 32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87434" y="1691640"/>
            <a:ext cx="347472" cy="347472"/>
          </a:xfrm>
          <a:prstGeom prst="ellipse">
            <a:avLst/>
          </a:prstGeom>
          <a:solidFill>
            <a:srgbClr val="FFFFFF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87434" y="1691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598914" y="1691640"/>
            <a:ext cx="226999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沟通变革愿景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233154" y="2039112"/>
            <a:ext cx="259003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 Vision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9233154" y="2258568"/>
            <a:ext cx="2590038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33154" y="2331720"/>
            <a:ext cx="2590038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全员大会、看板、班前会反复传递，用螺栓实物展示缺陷成本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28600" y="3977640"/>
            <a:ext cx="2864358" cy="2286000"/>
          </a:xfrm>
          <a:prstGeom prst="roundRect">
            <a:avLst>
              <a:gd name="adj" fmla="val 32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4069080"/>
            <a:ext cx="347472" cy="347472"/>
          </a:xfrm>
          <a:prstGeom prst="ellipse">
            <a:avLst/>
          </a:prstGeom>
          <a:solidFill>
            <a:srgbClr val="FFFFFF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069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31520" y="4069080"/>
            <a:ext cx="226999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授权行动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65760" y="4416552"/>
            <a:ext cx="259003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Action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65760" y="4636008"/>
            <a:ext cx="2590038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709160"/>
            <a:ext cx="2590038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消除障碍：老旧设备更新、作业员提案制度、跨车间改善团队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102102" y="4983480"/>
            <a:ext cx="73152" cy="27432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84398" y="3977640"/>
            <a:ext cx="2864358" cy="2286000"/>
          </a:xfrm>
          <a:prstGeom prst="roundRect">
            <a:avLst>
              <a:gd name="adj" fmla="val 32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75838" y="4069080"/>
            <a:ext cx="347472" cy="347472"/>
          </a:xfrm>
          <a:prstGeom prst="ellipse">
            <a:avLst/>
          </a:prstGeom>
          <a:solidFill>
            <a:srgbClr val="FFFFFF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75838" y="4069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687318" y="4069080"/>
            <a:ext cx="226999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创造短期成果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321558" y="4416552"/>
            <a:ext cx="259003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321558" y="4636008"/>
            <a:ext cx="2590038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21558" y="4709160"/>
            <a:ext cx="2590038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选定试点产线30天内OEE提升10%，可视化成果公开展示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057900" y="4983480"/>
            <a:ext cx="73152" cy="27432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40196" y="3977640"/>
            <a:ext cx="2864358" cy="2286000"/>
          </a:xfrm>
          <a:prstGeom prst="roundRect">
            <a:avLst>
              <a:gd name="adj" fmla="val 32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31636" y="4069080"/>
            <a:ext cx="347472" cy="347472"/>
          </a:xfrm>
          <a:prstGeom prst="ellipse">
            <a:avLst/>
          </a:prstGeom>
          <a:solidFill>
            <a:srgbClr val="FFFFFF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31636" y="4069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643116" y="4069080"/>
            <a:ext cx="226999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巩固成果深化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277356" y="4416552"/>
            <a:ext cx="259003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277356" y="4636008"/>
            <a:ext cx="2590038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77356" y="4709160"/>
            <a:ext cx="2590038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推广至全厂，用数据证明效益，调整KPI体系对齐精益目标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9013698" y="4983480"/>
            <a:ext cx="73152" cy="27432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095994" y="3977640"/>
            <a:ext cx="2864358" cy="2286000"/>
          </a:xfrm>
          <a:prstGeom prst="roundRect">
            <a:avLst>
              <a:gd name="adj" fmla="val 32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187434" y="4069080"/>
            <a:ext cx="347472" cy="347472"/>
          </a:xfrm>
          <a:prstGeom prst="ellipse">
            <a:avLst/>
          </a:prstGeom>
          <a:solidFill>
            <a:srgbClr val="FFFFFF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187434" y="4069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9598914" y="4069080"/>
            <a:ext cx="226999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文化融合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9233154" y="4416552"/>
            <a:ext cx="259003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Anchoring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9233154" y="4636008"/>
            <a:ext cx="2590038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233154" y="4709160"/>
            <a:ext cx="2590038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将精益行为纳入晋升标准、新员工培训、年度表彰体系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121889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精益人才发展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Lean Talent Development — 4-Level Competency Model &amp; Training Roadmap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4710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变革管理  |  Change Management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54710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|  深度专题研究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600200"/>
            <a:ext cx="2926080" cy="4389120"/>
          </a:xfrm>
          <a:prstGeom prst="roundRect">
            <a:avLst>
              <a:gd name="adj" fmla="val 25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培训路线图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Roadmap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" y="2377440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37744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第1月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051560" y="2468880"/>
            <a:ext cx="182880" cy="109728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23774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精益基础培训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971800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9718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第2-3月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051560" y="3063240"/>
            <a:ext cx="182880" cy="109728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VSM / 5S实战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566160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5661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第4-6月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051560" y="3657600"/>
            <a:ext cx="182880" cy="109728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0160" y="3566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 / TPM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4160520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16052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第7-12月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051560" y="4251960"/>
            <a:ext cx="182880" cy="109728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80160" y="41605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FMEA / APQP整合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4754880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7548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第2年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051560" y="4846320"/>
            <a:ext cx="182880" cy="109728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0160" y="475488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独立主导改善周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74720" y="160020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03320" y="165506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认知级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863840" y="170992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L1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703320" y="2002536"/>
            <a:ext cx="75895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理解精益基本概念；知道七种浪费类型；积极参与5S活动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474720" y="260604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03320" y="266090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实践者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863840" y="271576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Practitioner L2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703320" y="3008376"/>
            <a:ext cx="75895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掌握核心3工具 VSM/标准化/5S；日常运营中主动识别浪费并实施改善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474720" y="361188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03320" y="366674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专家级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863840" y="372160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L3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703320" y="4014216"/>
            <a:ext cx="75895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精通5+种精益工具；独立解决复杂交期/质量问题；主导跨部门改善周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474720" y="461772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03320" y="467258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教练级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863840" y="472744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L4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703320" y="5020056"/>
            <a:ext cx="75895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独立主导精益转型项目；能做A3报告辅导、VSM分析指导；培训带领新人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474720" y="5623560"/>
            <a:ext cx="8046720" cy="502920"/>
          </a:xfrm>
          <a:prstGeom prst="roundRect">
            <a:avLst>
              <a:gd name="adj" fmla="val 10909"/>
            </a:avLst>
          </a:prstGeom>
          <a:solidFill>
            <a:srgbClr val="E0E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564184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精益晋升标准: 改善提案数 + 绿带/黄带认证 + 带教新人数 + OEE提升贡献量化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 02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73152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164592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质量标准整合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Standards Integration  |  IATF 16949 &amp; CQI-9 for Fasteners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840480"/>
            <a:ext cx="3657600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206240"/>
            <a:ext cx="9144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206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IATF 16949与精益整合  —  IATF 16949 Mapped to Lean Tools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754880"/>
            <a:ext cx="9144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CQI-9热处理精益  —  CQI-9 Heat Treatment + TPM/Standard Work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121889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IATF 16949与精益整合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IATF 16949 Requirements Mapped to Lean Tools — Dual Compliance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4710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质量标准整合  |  Quality Standards Integration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54710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|  深度专题研究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74552" cy="384048"/>
          </a:xfrm>
          <a:prstGeom prst="rect">
            <a:avLst/>
          </a:prstGeom>
          <a:solidFill>
            <a:srgbClr val="1E276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3677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IATF核心要求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29000" y="1636776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对应精益工具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46520" y="163677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紧固件实施要点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984248"/>
            <a:ext cx="1127455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20824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APQP 产品质量先期策划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29000" y="2020824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VSM 价值流图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46520" y="202082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VSM分析从原材料到成品全过程，识别增值/非增值环节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368296"/>
            <a:ext cx="11274552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404872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FMEA 潜在失效模式分析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29000" y="240487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Poka-Yoke 防错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46520" y="240487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在冷镦/搓丝/热处理工序设置防错装置，防止缺陷流出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752344"/>
            <a:ext cx="1127455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788920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 统计过程控制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29000" y="2788920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标准作业 Standard Work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46520" y="278892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标准作业确保过程稳定性，SPC监控关键尺寸如螺纹中径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136392"/>
            <a:ext cx="11274552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17296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MSA 测量系统分析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29000" y="3172968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 全面生产维护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46520" y="317296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测量设备TPM管理确保GRR&lt;10%，保障检测数据可靠性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520440"/>
            <a:ext cx="1127455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55701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PPAP 生产件批准程序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429000" y="3557016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 Kanban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46520" y="355701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看板系统确保供应与节拍匹配，PPAP阶段的产能验证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4087368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1788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APQP x VSM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4360" y="454456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产品策划阶段使用VSM设计未来状态工艺图，确保工艺路线最优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343400" y="4087368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0560" y="41788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FMEA x Poka-Yoke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480560" y="454456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高RPN工序优先部署防错，降低严重度和发生度，双重保障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229600" y="4087368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66760" y="41788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 x Std Work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366760" y="454456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标准作业保证过程一致性，SPC实时发现异常趋势并预警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121889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CQI-9热处理精益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CQI-9 Heat Treatment Audit Integrated with TPM &amp; Standard Work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4710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质量标准整合  |  Quality Standards Integration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54710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|  深度专题研究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00200"/>
            <a:ext cx="5303520" cy="201168"/>
          </a:xfrm>
          <a:prstGeom prst="roundRect">
            <a:avLst>
              <a:gd name="adj" fmla="val 36364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737360"/>
            <a:ext cx="5266944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83794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CQI-9核心要求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24028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过程监控: 温度均匀性测试TUS、系统精度测试SAT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炉温均匀性: 连续炉14C / 批式炉10C公差要求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关键参数: 温度/时间/气氛/冷却速率/装炉方式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控制计划: 热电偶布置、记录频率、报警限设定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反应时间: 超出公差后必须在规定时间内处理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00200"/>
            <a:ext cx="5486400" cy="201168"/>
          </a:xfrm>
          <a:prstGeom prst="roundRect">
            <a:avLst>
              <a:gd name="adj" fmla="val 3636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6208" y="1737360"/>
            <a:ext cx="5449824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83794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 x Standard Work 整合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2402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TPM自主维护: 操作员每日点检炉温仪表，确认正常范围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Standard Work: 点检步骤标准化: 看仪表记录校验漏气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PM计划: 每月热电偶校验，每季度TUS测试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OEE追踪: 设备可用率x性能率x良品率综合评分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关键炉内监控参数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2163470" cy="2011680"/>
          </a:xfrm>
          <a:prstGeom prst="roundRect">
            <a:avLst>
              <a:gd name="adj" fmla="val 363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370832"/>
            <a:ext cx="194401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炉温均匀性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" y="4709160"/>
            <a:ext cx="19440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+-14C 连续炉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1520" y="4992624"/>
            <a:ext cx="161483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5065776"/>
            <a:ext cx="194401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直接影响螺栓抗拉/硬度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12110" y="4297680"/>
            <a:ext cx="216347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21838" y="4370832"/>
            <a:ext cx="194401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保温时间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21838" y="4709160"/>
            <a:ext cx="19440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按材质计算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986430" y="4992624"/>
            <a:ext cx="161483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21838" y="5065776"/>
            <a:ext cx="194401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不足则组织转变不完全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967021" y="4297680"/>
            <a:ext cx="2163470" cy="2011680"/>
          </a:xfrm>
          <a:prstGeom prst="roundRect">
            <a:avLst>
              <a:gd name="adj" fmla="val 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6749" y="4370832"/>
            <a:ext cx="194401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碳势控制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76749" y="4709160"/>
            <a:ext cx="19440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0.75+-0.05 %C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241341" y="4992624"/>
            <a:ext cx="161483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6749" y="5065776"/>
            <a:ext cx="194401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影响表面碳含量与渗层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221931" y="4297680"/>
            <a:ext cx="2163470" cy="2011680"/>
          </a:xfrm>
          <a:prstGeom prst="roundRect">
            <a:avLst>
              <a:gd name="adj" fmla="val 363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31659" y="4370832"/>
            <a:ext cx="194401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冷却速率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31659" y="4709160"/>
            <a:ext cx="19440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C/s 按材料定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96251" y="4992624"/>
            <a:ext cx="161483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31659" y="5065776"/>
            <a:ext cx="194401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过快裂纹，过慢效率低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9476842" y="4297680"/>
            <a:ext cx="2163470" cy="2011680"/>
          </a:xfrm>
          <a:prstGeom prst="roundRect">
            <a:avLst>
              <a:gd name="adj" fmla="val 363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86570" y="4370832"/>
            <a:ext cx="194401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热电偶寿命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586570" y="4709160"/>
            <a:ext cx="19440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6月更换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9751162" y="4992624"/>
            <a:ext cx="161483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586570" y="5065776"/>
            <a:ext cx="194401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漂移致炉温失准批量风险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 03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73152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164592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精益数字化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Lean Digitalization  |  Industry 4.0 for Fastener Manufacturing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840480"/>
            <a:ext cx="365760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206240"/>
            <a:ext cx="9144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206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精益数字化路线图  —  4-Phase Digital Transformation Roadmap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754880"/>
            <a:ext cx="9144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IoT+TPM智能维护 &amp; AI质量预测  —  Predictive Maintenance &amp; AI Quality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121889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精益数字化路线图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4-Phase Digital Transformation — Digitize to Predict (24-Month Plan)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4710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精益数字化  |  Lean Digitalization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54710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|  深度专题研究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2818638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691640"/>
            <a:ext cx="259918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2002536"/>
            <a:ext cx="25991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409319" y="2221992"/>
            <a:ext cx="914400" cy="292608"/>
          </a:xfrm>
          <a:prstGeom prst="roundRect">
            <a:avLst>
              <a:gd name="adj" fmla="val 31250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09319" y="22219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0-6月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2560320"/>
            <a:ext cx="2544318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606040"/>
            <a:ext cx="25991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IoT传感器 MES基础 条形码RFID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12064" y="3017520"/>
            <a:ext cx="270891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054096"/>
            <a:ext cx="248945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纸质记录电子化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12064" y="3557016"/>
            <a:ext cx="270891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593592"/>
            <a:ext cx="248945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设备PLC数据采集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12064" y="4096512"/>
            <a:ext cx="270891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4133088"/>
            <a:ext cx="248945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SPC系统上线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12064" y="4636008"/>
            <a:ext cx="270891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4672584"/>
            <a:ext cx="248945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手持终端替代纸质作业单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84982" y="2258568"/>
            <a:ext cx="91440" cy="27432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5566" y="1600200"/>
            <a:ext cx="2818638" cy="1371600"/>
          </a:xfrm>
          <a:prstGeom prst="roundRect">
            <a:avLst>
              <a:gd name="adj" fmla="val 5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5294" y="1691640"/>
            <a:ext cx="259918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95294" y="2002536"/>
            <a:ext cx="25991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337685" y="2221992"/>
            <a:ext cx="914400" cy="292608"/>
          </a:xfrm>
          <a:prstGeom prst="roundRect">
            <a:avLst>
              <a:gd name="adj" fmla="val 31250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37685" y="22219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6-12月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522726" y="2560320"/>
            <a:ext cx="2544318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5294" y="2606040"/>
            <a:ext cx="25991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工业网关 MQTT OPC-UA 云平台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440430" y="3017520"/>
            <a:ext cx="270891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50158" y="3054096"/>
            <a:ext cx="248945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设备互联MQTT/OPC-UA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440430" y="3557016"/>
            <a:ext cx="270891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50158" y="3593592"/>
            <a:ext cx="248945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实时OEE看板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440430" y="4096512"/>
            <a:ext cx="270891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50158" y="4133088"/>
            <a:ext cx="248945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Andon系统数字化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440430" y="4636008"/>
            <a:ext cx="270891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50158" y="4672584"/>
            <a:ext cx="248945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VSM实时数据化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213348" y="2258568"/>
            <a:ext cx="91440" cy="27432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13932" y="1600200"/>
            <a:ext cx="2818638" cy="1371600"/>
          </a:xfrm>
          <a:prstGeom prst="roundRect">
            <a:avLst>
              <a:gd name="adj" fmla="val 5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23660" y="1691640"/>
            <a:ext cx="259918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423660" y="2002536"/>
            <a:ext cx="25991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266051" y="2221992"/>
            <a:ext cx="914400" cy="292608"/>
          </a:xfrm>
          <a:prstGeom prst="roundRect">
            <a:avLst>
              <a:gd name="adj" fmla="val 31250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66051" y="22219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12-18月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51092" y="2560320"/>
            <a:ext cx="2544318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23660" y="2606040"/>
            <a:ext cx="25991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时序数据库 ML框架 BI看板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368796" y="3017520"/>
            <a:ext cx="270891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78524" y="3054096"/>
            <a:ext cx="248945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大数据分析平台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368796" y="3557016"/>
            <a:ext cx="270891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78524" y="3593592"/>
            <a:ext cx="248945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异常自动预警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368796" y="4096512"/>
            <a:ext cx="270891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78524" y="4133088"/>
            <a:ext cx="248945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换型参数智能推荐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368796" y="4636008"/>
            <a:ext cx="270891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78524" y="4672584"/>
            <a:ext cx="248945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质量预测模型启动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9141714" y="2258568"/>
            <a:ext cx="91440" cy="27432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42298" y="1600200"/>
            <a:ext cx="2818638" cy="1371600"/>
          </a:xfrm>
          <a:prstGeom prst="roundRect">
            <a:avLst>
              <a:gd name="adj" fmla="val 5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352026" y="1691640"/>
            <a:ext cx="259918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9352026" y="2002536"/>
            <a:ext cx="25991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0194417" y="2221992"/>
            <a:ext cx="914400" cy="292608"/>
          </a:xfrm>
          <a:prstGeom prst="roundRect">
            <a:avLst>
              <a:gd name="adj" fmla="val 31250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194417" y="22219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18-24月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9379458" y="2560320"/>
            <a:ext cx="2544318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352026" y="2606040"/>
            <a:ext cx="25991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数字孪生 AI/ML APS 5G专网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9297162" y="3017520"/>
            <a:ext cx="270891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406890" y="3054096"/>
            <a:ext cx="248945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预测性维护系统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9297162" y="3557016"/>
            <a:ext cx="270891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406890" y="3593592"/>
            <a:ext cx="248945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数字孪生工厂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297162" y="4096512"/>
            <a:ext cx="270891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406890" y="4133088"/>
            <a:ext cx="248945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自适应工艺参数优化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9297162" y="4636008"/>
            <a:ext cx="270891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406890" y="4672584"/>
            <a:ext cx="248945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智能排产APS系统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57200" y="603504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0080" y="6053328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预期收益: 设备停机减少40% | 质量缺陷率降低35% | OEE提升15-20% | 换型时间降低50%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121889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IoT+TPM智能维护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IoT Sensors for Predictive Maintenance &amp; Digital Twin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4710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精益数字化  |  Lean Digitalization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54710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|  深度专题研究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3605784" cy="2377440"/>
          </a:xfrm>
          <a:prstGeom prst="roundRect">
            <a:avLst>
              <a:gd name="adj" fmla="val 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91640"/>
            <a:ext cx="3331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振动监测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020824"/>
            <a:ext cx="3331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mm/s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40080" y="2258568"/>
            <a:ext cx="3240024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31720"/>
            <a:ext cx="3240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冷镦机轴承磨损预警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587752"/>
            <a:ext cx="3240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搓丝机刀具断裂检测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843784"/>
            <a:ext cx="3240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主电机不平衡监测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099816"/>
            <a:ext cx="3240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频谱偏差&gt;20%触发报警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1584" y="1600200"/>
            <a:ext cx="3605784" cy="2377440"/>
          </a:xfrm>
          <a:prstGeom prst="roundRect">
            <a:avLst>
              <a:gd name="adj" fmla="val 307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28744" y="1691640"/>
            <a:ext cx="3331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温度监测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28744" y="2020824"/>
            <a:ext cx="3331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474464" y="2258568"/>
            <a:ext cx="3240024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74464" y="2331720"/>
            <a:ext cx="3240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炉温均匀性持续监控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74464" y="2587752"/>
            <a:ext cx="3240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轴承温度异常预警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74464" y="2843784"/>
            <a:ext cx="3240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电机绕组过热保护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74464" y="3099816"/>
            <a:ext cx="3240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温升&gt;5C/小时触发报警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125968" y="1600200"/>
            <a:ext cx="3605784" cy="2377440"/>
          </a:xfrm>
          <a:prstGeom prst="roundRect">
            <a:avLst>
              <a:gd name="adj" fmla="val 30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63128" y="1691640"/>
            <a:ext cx="3331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电流监测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63128" y="2020824"/>
            <a:ext cx="3331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308848" y="2258568"/>
            <a:ext cx="3240024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08848" y="2331720"/>
            <a:ext cx="3240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冷镦负载变化监测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08848" y="2587752"/>
            <a:ext cx="3240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空载能耗异常识别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308848" y="2843784"/>
            <a:ext cx="3240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刀具磨损间接判断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308848" y="3099816"/>
            <a:ext cx="3240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电流波动&gt;15%触发报警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数字孪生四层架构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48056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4535424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物理层 Physical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6928" y="4846320"/>
            <a:ext cx="23408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冷镦机/搓丝机/热处理炉 + IoT传感器实时采集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054096" y="4937760"/>
            <a:ext cx="155448" cy="27432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83280" y="448056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93008" y="4535424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 Data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493008" y="4846320"/>
            <a:ext cx="23408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边缘计算网关到云端时序数据库，清洗+聚合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980176" y="4937760"/>
            <a:ext cx="155448" cy="27432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9360" y="448056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19088" y="4535424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模型层 Model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19088" y="4846320"/>
            <a:ext cx="23408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3D物理仿真 + 退化模型 + 异常检测算法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906256" y="4937760"/>
            <a:ext cx="155448" cy="27432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35440" y="448056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45168" y="4535424"/>
            <a:ext cx="2157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 Apply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345168" y="4846320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预测性维护决策、远程监控、工艺参数优化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7200" y="5852160"/>
            <a:ext cx="1097280" cy="960120"/>
          </a:xfrm>
          <a:prstGeom prst="roundRect">
            <a:avLst>
              <a:gd name="adj" fmla="val 9524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590702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457200" y="63825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故障减少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737360" y="5852160"/>
            <a:ext cx="1097280" cy="960120"/>
          </a:xfrm>
          <a:prstGeom prst="roundRect">
            <a:avLst>
              <a:gd name="adj" fmla="val 952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737360" y="590702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1737360" y="63825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维修成本降低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017520" y="5852160"/>
            <a:ext cx="109728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17520" y="590702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3017520" y="63825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设备寿命延长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297680" y="5852160"/>
            <a:ext cx="1188720" cy="960120"/>
          </a:xfrm>
          <a:prstGeom prst="roundRect">
            <a:avLst>
              <a:gd name="adj" fmla="val 9524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97680" y="5907024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2.5x</a:t>
            </a:r>
            <a:endParaRPr lang="en-US" sz="2400" dirty="0"/>
          </a:p>
        </p:txBody>
      </p:sp>
      <p:sp>
        <p:nvSpPr>
          <p:cNvPr id="60" name="Text 58"/>
          <p:cNvSpPr/>
          <p:nvPr/>
        </p:nvSpPr>
        <p:spPr>
          <a:xfrm>
            <a:off x="4297680" y="638251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投资回报率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121889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AI质量预测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AI/ML for Quality Prediction in Fastener Manufacturing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4710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精益数字化  |  Lean Digitalization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54710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|  深度专题研究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3605784" cy="4206240"/>
          </a:xfrm>
          <a:prstGeom prst="roundRect">
            <a:avLst>
              <a:gd name="adj" fmla="val 20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09928"/>
            <a:ext cx="3331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缺陷预测模型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020824"/>
            <a:ext cx="3331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Prediction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40080" y="2258568"/>
            <a:ext cx="3240024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350008"/>
            <a:ext cx="3331464" cy="475488"/>
          </a:xfrm>
          <a:prstGeom prst="roundRect">
            <a:avLst>
              <a:gd name="adj" fmla="val 9615"/>
            </a:avLst>
          </a:prstGeom>
          <a:solidFill>
            <a:srgbClr val="FFFFFF">
              <a:alpha val="85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386584"/>
            <a:ext cx="3148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输入: 温度/压力/速度/时间/材质批号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" y="2880360"/>
            <a:ext cx="3331464" cy="475488"/>
          </a:xfrm>
          <a:prstGeom prst="roundRect">
            <a:avLst>
              <a:gd name="adj" fmla="val 9615"/>
            </a:avLst>
          </a:prstGeom>
          <a:solidFill>
            <a:srgbClr val="FFFFFF">
              <a:alpha val="85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916936"/>
            <a:ext cx="3148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模型: XGBoost + 随机森林集成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" y="3410712"/>
            <a:ext cx="3331464" cy="475488"/>
          </a:xfrm>
          <a:prstGeom prst="roundRect">
            <a:avLst>
              <a:gd name="adj" fmla="val 9615"/>
            </a:avLst>
          </a:prstGeom>
          <a:solidFill>
            <a:srgbClr val="FFFFFF">
              <a:alpha val="85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47288"/>
            <a:ext cx="3148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输出: 缺陷概率预测 + 关键因子排名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" y="3941064"/>
            <a:ext cx="3331464" cy="475488"/>
          </a:xfrm>
          <a:prstGeom prst="roundRect">
            <a:avLst>
              <a:gd name="adj" fmla="val 9615"/>
            </a:avLst>
          </a:prstGeom>
          <a:solidFill>
            <a:srgbClr val="FFFFFF">
              <a:alpha val="85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977640"/>
            <a:ext cx="3148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应用: 冷镦裂纹预测、螺纹不完整预警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91584" y="1600200"/>
            <a:ext cx="3605784" cy="4206240"/>
          </a:xfrm>
          <a:prstGeom prst="roundRect">
            <a:avLst>
              <a:gd name="adj" fmla="val 20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28744" y="1709928"/>
            <a:ext cx="3331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智能SPC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28744" y="2020824"/>
            <a:ext cx="3331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AI-Enhanced SPC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474464" y="2258568"/>
            <a:ext cx="3240024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28744" y="2350008"/>
            <a:ext cx="3331464" cy="475488"/>
          </a:xfrm>
          <a:prstGeom prst="roundRect">
            <a:avLst>
              <a:gd name="adj" fmla="val 9615"/>
            </a:avLst>
          </a:prstGeom>
          <a:solidFill>
            <a:srgbClr val="FFFFFF">
              <a:alpha val="85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0184" y="2386584"/>
            <a:ext cx="3148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传统SPC: 事后发现、批量报废风险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428744" y="2880360"/>
            <a:ext cx="3331464" cy="475488"/>
          </a:xfrm>
          <a:prstGeom prst="roundRect">
            <a:avLst>
              <a:gd name="adj" fmla="val 9615"/>
            </a:avLst>
          </a:prstGeom>
          <a:solidFill>
            <a:srgbClr val="FFFFFF">
              <a:alpha val="85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0184" y="2916936"/>
            <a:ext cx="3148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AI-SPC: 趋势预测、提前调整、防患未然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28744" y="3410712"/>
            <a:ext cx="3331464" cy="475488"/>
          </a:xfrm>
          <a:prstGeom prst="roundRect">
            <a:avLst>
              <a:gd name="adj" fmla="val 9615"/>
            </a:avLst>
          </a:prstGeom>
          <a:solidFill>
            <a:srgbClr val="FFFFFF">
              <a:alpha val="85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0184" y="3447288"/>
            <a:ext cx="3148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模式识别: 自动分类普通/特殊原因变异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428744" y="3941064"/>
            <a:ext cx="3331464" cy="475488"/>
          </a:xfrm>
          <a:prstGeom prst="roundRect">
            <a:avLst>
              <a:gd name="adj" fmla="val 9615"/>
            </a:avLst>
          </a:prstGeom>
          <a:solidFill>
            <a:srgbClr val="FFFFFF">
              <a:alpha val="85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20184" y="3977640"/>
            <a:ext cx="3148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应用: 螺纹中径趋势预测、硬度分布预警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125968" y="1600200"/>
            <a:ext cx="3605784" cy="4206240"/>
          </a:xfrm>
          <a:prstGeom prst="roundRect">
            <a:avLst>
              <a:gd name="adj" fmla="val 20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63128" y="1709928"/>
            <a:ext cx="3331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自动视觉检测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63128" y="2020824"/>
            <a:ext cx="3331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Visual Insp.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8308848" y="2258568"/>
            <a:ext cx="3240024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63128" y="2350008"/>
            <a:ext cx="3331464" cy="475488"/>
          </a:xfrm>
          <a:prstGeom prst="roundRect">
            <a:avLst>
              <a:gd name="adj" fmla="val 9615"/>
            </a:avLst>
          </a:prstGeom>
          <a:solidFill>
            <a:srgbClr val="FFFFFF">
              <a:alpha val="85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54568" y="2386584"/>
            <a:ext cx="3148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技术: 深度学习CNN + 工业相机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263128" y="2880360"/>
            <a:ext cx="3331464" cy="475488"/>
          </a:xfrm>
          <a:prstGeom prst="roundRect">
            <a:avLst>
              <a:gd name="adj" fmla="val 9615"/>
            </a:avLst>
          </a:prstGeom>
          <a:solidFill>
            <a:srgbClr val="FFFFFF">
              <a:alpha val="85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54568" y="2916936"/>
            <a:ext cx="3148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检测项: 表面裂纹/头部变形/螺纹缺损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263128" y="3410712"/>
            <a:ext cx="3331464" cy="475488"/>
          </a:xfrm>
          <a:prstGeom prst="roundRect">
            <a:avLst>
              <a:gd name="adj" fmla="val 9615"/>
            </a:avLst>
          </a:prstGeom>
          <a:solidFill>
            <a:srgbClr val="FFFFFF">
              <a:alpha val="85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54568" y="3447288"/>
            <a:ext cx="3148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速度: &gt;600件/分钟，超越人工检测极限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263128" y="3941064"/>
            <a:ext cx="3331464" cy="475488"/>
          </a:xfrm>
          <a:prstGeom prst="roundRect">
            <a:avLst>
              <a:gd name="adj" fmla="val 9615"/>
            </a:avLst>
          </a:prstGeom>
          <a:solidFill>
            <a:srgbClr val="FFFFFF">
              <a:alpha val="85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54568" y="3977640"/>
            <a:ext cx="3148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准确率: &gt;99.5%，持续学习迭代优化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6126480"/>
            <a:ext cx="11274552" cy="411480"/>
          </a:xfrm>
          <a:prstGeom prst="roundRect">
            <a:avLst>
              <a:gd name="adj" fmla="val 1333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614476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核心理念: 从事后检验转向事前预测，从接受缺陷率迈向零缺陷制造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ADCFC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  |  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605784" cy="4389120"/>
          </a:xfrm>
          <a:prstGeom prst="roundRect">
            <a:avLst>
              <a:gd name="adj" fmla="val 20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98448"/>
            <a:ext cx="3331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变革管理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27632"/>
            <a:ext cx="3331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Management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901952"/>
            <a:ext cx="3148584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1168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科特八步模型提供系统化变革路线图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从紧迫感到文化融合，避免变革逆转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4级人才发展路径支撑能力提升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精益晋升标准促进持续改善文化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91584" y="1188720"/>
            <a:ext cx="3605784" cy="4389120"/>
          </a:xfrm>
          <a:prstGeom prst="roundRect">
            <a:avLst>
              <a:gd name="adj" fmla="val 202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28744" y="1298448"/>
            <a:ext cx="3331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质量标准整合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28744" y="1627632"/>
            <a:ext cx="3331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Integration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20184" y="1901952"/>
            <a:ext cx="3148584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74464" y="201168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IATF 16949与精益工具一一对应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74464" y="260604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APQP→VSM, FMEA→Poka-Yoke, SPC→Std Work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74464" y="320040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CQI-9热处理TPM点检标准化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74464" y="379476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质量内建: 检验转向过程保障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25968" y="1188720"/>
            <a:ext cx="3605784" cy="4389120"/>
          </a:xfrm>
          <a:prstGeom prst="roundRect">
            <a:avLst>
              <a:gd name="adj" fmla="val 20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63128" y="1298448"/>
            <a:ext cx="3331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精益数字化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63128" y="1627632"/>
            <a:ext cx="3331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Digitalization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354568" y="1901952"/>
            <a:ext cx="3148584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08848" y="201168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4阶段路线图: Digitize→Connect→Analyze→Predict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308848" y="260604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IoT传感器实现预测性维护，ROI达2.5倍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308848" y="320040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AI质量预测从事后检验转向事前预防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308848" y="379476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数字孪生工厂是终极目标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635508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变革引领方向 质量筑牢根基 数字铸就未来  |  Change x Quality x Digital = 精益卓越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深度专题研究</dc:title>
  <dc:subject>PptxGenJS Presentation</dc:subject>
  <dc:creator>精益工具知识库</dc:creator>
  <cp:lastModifiedBy>精益工具知识库</cp:lastModifiedBy>
  <cp:revision>1</cp:revision>
  <dcterms:created xsi:type="dcterms:W3CDTF">2026-05-17T12:53:31Z</dcterms:created>
  <dcterms:modified xsi:type="dcterms:W3CDTF">2026-05-17T12:53:31Z</dcterms:modified>
</cp:coreProperties>
</file>