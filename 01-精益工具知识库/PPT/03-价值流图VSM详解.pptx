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w="12700">
            <a:solidFill>
              <a:srgbClr val="1E2761"/>
            </a:solidFill>
            <a:prstDash val="solid"/>
          </a:ln>
        </p:spPr>
        <p:txBody>
          <a:bodyPr/>
          <a:p/>
        </p:txBody>
      </p:sp>
      <p:sp>
        <p:nvSpPr>
          <p:cNvPr id="3" name="Shape 1"/>
          <p:cNvSpPr/>
          <p:nvPr/>
        </p:nvSpPr>
        <p:spPr>
          <a:xfrm>
            <a:off x="0" y="0"/>
            <a:ext cx="12188952" cy="109728"/>
          </a:xfrm>
          <a:prstGeom prst="rect">
            <a:avLst/>
          </a:prstGeom>
          <a:solidFill>
            <a:srgbClr val="0D9488"/>
          </a:solidFill>
          <a:ln w="12700">
            <a:solidFill>
              <a:srgbClr val="0D9488"/>
            </a:solidFill>
            <a:prstDash val="solid"/>
          </a:ln>
        </p:spPr>
        <p:txBody>
          <a:bodyPr/>
          <a:p/>
        </p:txBody>
      </p:sp>
      <p:sp>
        <p:nvSpPr>
          <p:cNvPr id="4" name="Shape 2"/>
          <p:cNvSpPr/>
          <p:nvPr/>
        </p:nvSpPr>
        <p:spPr>
          <a:xfrm>
            <a:off x="9601200" y="0"/>
            <a:ext cx="2587752" cy="6858000"/>
          </a:xfrm>
          <a:prstGeom prst="rect">
            <a:avLst/>
          </a:prstGeom>
          <a:solidFill>
            <a:srgbClr val="0F172A"/>
          </a:solidFill>
          <a:ln w="12700">
            <a:solidFill>
              <a:srgbClr val="0F172A"/>
            </a:solidFill>
            <a:prstDash val="solid"/>
          </a:ln>
        </p:spPr>
        <p:txBody>
          <a:bodyPr/>
          <a:p/>
        </p:txBody>
      </p:sp>
      <p:sp>
        <p:nvSpPr>
          <p:cNvPr id="5" name="Shape 3"/>
          <p:cNvSpPr/>
          <p:nvPr/>
        </p:nvSpPr>
        <p:spPr>
          <a:xfrm>
            <a:off x="10058400" y="914400"/>
            <a:ext cx="1828800" cy="1828800"/>
          </a:xfrm>
          <a:prstGeom prst="ellipse">
            <a:avLst/>
          </a:prstGeom>
          <a:solidFill>
            <a:srgbClr val="0D9488"/>
          </a:solidFill>
          <a:ln w="12700">
            <a:solidFill>
              <a:srgbClr val="0D9488"/>
            </a:solidFill>
            <a:prstDash val="solid"/>
          </a:ln>
        </p:spPr>
        <p:txBody>
          <a:bodyPr/>
          <a:p/>
        </p:txBody>
      </p:sp>
      <p:sp>
        <p:nvSpPr>
          <p:cNvPr id="6" name="Shape 4"/>
          <p:cNvSpPr/>
          <p:nvPr/>
        </p:nvSpPr>
        <p:spPr>
          <a:xfrm>
            <a:off x="10515600" y="2743200"/>
            <a:ext cx="1371600" cy="1371600"/>
          </a:xfrm>
          <a:prstGeom prst="ellipse">
            <a:avLst/>
          </a:prstGeom>
          <a:solidFill>
            <a:srgbClr val="FFFFFF"/>
          </a:solidFill>
          <a:ln w="12700">
            <a:solidFill>
              <a:srgbClr val="FFFFFF"/>
            </a:solidFill>
            <a:prstDash val="solid"/>
          </a:ln>
        </p:spPr>
        <p:txBody>
          <a:bodyPr/>
          <a:p/>
        </p:txBody>
      </p:sp>
      <p:sp>
        <p:nvSpPr>
          <p:cNvPr id="7" name="Text 5"/>
          <p:cNvSpPr/>
          <p:nvPr/>
        </p:nvSpPr>
        <p:spPr>
          <a:xfrm>
            <a:off x="731520" y="731520"/>
            <a:ext cx="2743200" cy="1097280"/>
          </a:xfrm>
          <a:prstGeom prst="rect">
            <a:avLst/>
          </a:prstGeom>
          <a:noFill/>
          <a:ln/>
        </p:spPr>
        <p:txBody>
          <a:bodyPr wrap="square" rtlCol="0" anchor="ctr"/>
          <a:lstStyle/>
          <a:p>
            <a:pPr indent="0" marL="0">
              <a:buNone/>
            </a:pPr>
            <a:r>
              <a:rPr lang="en-US" sz="8000" b="1" dirty="0">
                <a:solidFill>
                  <a:srgbClr val="5EEAD4"/>
                </a:solidFill>
                <a:latin typeface="Arial Black" pitchFamily="34" charset="0"/>
                <a:ea typeface="Arial Black" pitchFamily="34" charset="-122"/>
                <a:cs typeface="Arial Black" pitchFamily="34" charset="-120"/>
              </a:rPr>
              <a:t>03</a:t>
            </a:r>
            <a:endParaRPr lang="en-US" sz="8000" dirty="0"/>
          </a:p>
        </p:txBody>
      </p:sp>
      <p:sp>
        <p:nvSpPr>
          <p:cNvPr id="8" name="Text 6"/>
          <p:cNvSpPr/>
          <p:nvPr/>
        </p:nvSpPr>
        <p:spPr>
          <a:xfrm>
            <a:off x="731520" y="2011680"/>
            <a:ext cx="8229600" cy="822960"/>
          </a:xfrm>
          <a:prstGeom prst="rect">
            <a:avLst/>
          </a:prstGeom>
          <a:noFill/>
          <a:ln/>
        </p:spPr>
        <p:txBody>
          <a:bodyPr wrap="square"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价值流图 VSM</a:t>
            </a:r>
            <a:endParaRPr lang="en-US" sz="4000" dirty="0"/>
          </a:p>
        </p:txBody>
      </p:sp>
      <p:sp>
        <p:nvSpPr>
          <p:cNvPr id="9" name="Text 7"/>
          <p:cNvSpPr/>
          <p:nvPr/>
        </p:nvSpPr>
        <p:spPr>
          <a:xfrm>
            <a:off x="731520" y="2926080"/>
            <a:ext cx="8229600" cy="457200"/>
          </a:xfrm>
          <a:prstGeom prst="rect">
            <a:avLst/>
          </a:prstGeom>
          <a:noFill/>
          <a:ln/>
        </p:spPr>
        <p:txBody>
          <a:bodyPr wrap="square" rtlCol="0" anchor="ctr"/>
          <a:lstStyle/>
          <a:p>
            <a:pPr indent="0" marL="0">
              <a:buNone/>
            </a:pPr>
            <a:r>
              <a:rPr lang="en-US" sz="1800" dirty="0">
                <a:solidFill>
                  <a:srgbClr val="CADCFC"/>
                </a:solidFill>
                <a:latin typeface="Arial" pitchFamily="34" charset="0"/>
                <a:ea typeface="Arial" pitchFamily="34" charset="-122"/>
                <a:cs typeface="Arial" pitchFamily="34" charset="-120"/>
              </a:rPr>
              <a:t>Value Stream Mapping</a:t>
            </a:r>
            <a:endParaRPr lang="en-US" sz="1800" dirty="0"/>
          </a:p>
        </p:txBody>
      </p:sp>
      <p:sp>
        <p:nvSpPr>
          <p:cNvPr id="10" name="Shape 8"/>
          <p:cNvSpPr/>
          <p:nvPr/>
        </p:nvSpPr>
        <p:spPr>
          <a:xfrm>
            <a:off x="731520" y="3566160"/>
            <a:ext cx="2743200" cy="45720"/>
          </a:xfrm>
          <a:prstGeom prst="rect">
            <a:avLst/>
          </a:prstGeom>
          <a:solidFill>
            <a:srgbClr val="0D9488"/>
          </a:solidFill>
          <a:ln w="12700">
            <a:solidFill>
              <a:srgbClr val="0D9488"/>
            </a:solidFill>
            <a:prstDash val="solid"/>
          </a:ln>
        </p:spPr>
        <p:txBody>
          <a:bodyPr/>
          <a:p/>
        </p:txBody>
      </p:sp>
      <p:sp>
        <p:nvSpPr>
          <p:cNvPr id="11" name="Text 9"/>
          <p:cNvSpPr/>
          <p:nvPr/>
        </p:nvSpPr>
        <p:spPr>
          <a:xfrm>
            <a:off x="731520" y="3840480"/>
            <a:ext cx="8229600" cy="365760"/>
          </a:xfrm>
          <a:prstGeom prst="rect">
            <a:avLst/>
          </a:prstGeom>
          <a:noFill/>
          <a:ln/>
        </p:spPr>
        <p:txBody>
          <a:bodyPr wrap="square" rtlCol="0" anchor="ctr"/>
          <a:lstStyle/>
          <a:p>
            <a:pPr indent="0" marL="0">
              <a:buNone/>
            </a:pPr>
            <a:r>
              <a:rPr lang="en-US" sz="1300" dirty="0">
                <a:solidFill>
                  <a:srgbClr val="CADCFC"/>
                </a:solidFill>
                <a:latin typeface="Arial" pitchFamily="34" charset="0"/>
                <a:ea typeface="Arial" pitchFamily="34" charset="-122"/>
                <a:cs typeface="Arial" pitchFamily="34" charset="-120"/>
              </a:rPr>
              <a:t>从原材料到成品的全流程价值流可视化分析 | 识别浪费、设计未来状态</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VSM 定义与目的</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What is Value Stream Mapping?</a:t>
            </a:r>
            <a:endParaRPr lang="en-US" sz="1400" dirty="0"/>
          </a:p>
        </p:txBody>
      </p:sp>
      <p:sp>
        <p:nvSpPr>
          <p:cNvPr id="7" name="Shape 5"/>
          <p:cNvSpPr/>
          <p:nvPr/>
        </p:nvSpPr>
        <p:spPr>
          <a:xfrm>
            <a:off x="457200" y="1097280"/>
            <a:ext cx="5029200" cy="1097280"/>
          </a:xfrm>
          <a:prstGeom prst="roundRect">
            <a:avLst>
              <a:gd name="adj" fmla="val 8333"/>
            </a:avLst>
          </a:prstGeom>
          <a:solidFill>
            <a:srgbClr val="1E2761"/>
          </a:solidFill>
          <a:ln/>
        </p:spPr>
        <p:txBody>
          <a:bodyPr/>
          <a:p/>
        </p:txBody>
      </p:sp>
      <p:sp>
        <p:nvSpPr>
          <p:cNvPr id="8" name="Text 6"/>
          <p:cNvSpPr/>
          <p:nvPr/>
        </p:nvSpPr>
        <p:spPr>
          <a:xfrm>
            <a:off x="640080" y="1188720"/>
            <a:ext cx="4663440" cy="914400"/>
          </a:xfrm>
          <a:prstGeom prst="rect">
            <a:avLst/>
          </a:prstGeom>
          <a:noFill/>
          <a:ln/>
        </p:spPr>
        <p:txBody>
          <a:bodyPr wrap="square" rtlCol="0" anchor="t"/>
          <a:lstStyle/>
          <a:p>
            <a:pPr indent="0" marL="0">
              <a:buNone/>
            </a:pPr>
            <a:r>
              <a:rPr lang="en-US" sz="1100" dirty="0">
                <a:solidFill>
                  <a:srgbClr val="1E293B"/>
                </a:solidFill>
                <a:latin typeface="Arial" pitchFamily="34" charset="0"/>
                <a:ea typeface="Arial" pitchFamily="34" charset="-122"/>
                <a:cs typeface="Arial" pitchFamily="34" charset="-120"/>
              </a:rPr>
              <a:t>价值流图（VSM）是一种精益制造工具，用于可视化描绘从原材料到成品交付给客户的整个生产流程中的物料流和信息流，目的是识别系统中的浪费（Muda）并找到改善机会。</a:t>
            </a:r>
            <a:endParaRPr lang="en-US" sz="1100" dirty="0"/>
          </a:p>
        </p:txBody>
      </p:sp>
      <p:sp>
        <p:nvSpPr>
          <p:cNvPr id="9" name="Text 7"/>
          <p:cNvSpPr/>
          <p:nvPr/>
        </p:nvSpPr>
        <p:spPr>
          <a:xfrm>
            <a:off x="5943600" y="1097280"/>
            <a:ext cx="5760720"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VSM 核心目的</a:t>
            </a:r>
            <a:endParaRPr lang="en-US" sz="1600" dirty="0"/>
          </a:p>
        </p:txBody>
      </p:sp>
      <p:sp>
        <p:nvSpPr>
          <p:cNvPr id="10" name="Shape 8"/>
          <p:cNvSpPr/>
          <p:nvPr/>
        </p:nvSpPr>
        <p:spPr>
          <a:xfrm>
            <a:off x="5943600" y="155448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11" name="Shape 9"/>
          <p:cNvSpPr/>
          <p:nvPr/>
        </p:nvSpPr>
        <p:spPr>
          <a:xfrm>
            <a:off x="5943600" y="1554480"/>
            <a:ext cx="1828800" cy="219456"/>
          </a:xfrm>
          <a:prstGeom prst="rect">
            <a:avLst/>
          </a:prstGeom>
          <a:solidFill>
            <a:srgbClr val="DC2626"/>
          </a:solidFill>
          <a:ln w="12700">
            <a:solidFill>
              <a:srgbClr val="DC2626"/>
            </a:solidFill>
            <a:prstDash val="solid"/>
          </a:ln>
        </p:spPr>
        <p:txBody>
          <a:bodyPr/>
          <a:p/>
        </p:txBody>
      </p:sp>
      <p:sp>
        <p:nvSpPr>
          <p:cNvPr id="12" name="Text 10"/>
          <p:cNvSpPr/>
          <p:nvPr/>
        </p:nvSpPr>
        <p:spPr>
          <a:xfrm>
            <a:off x="5989320" y="181051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①</a:t>
            </a:r>
            <a:endParaRPr lang="en-US" sz="1400" dirty="0"/>
          </a:p>
        </p:txBody>
      </p:sp>
      <p:sp>
        <p:nvSpPr>
          <p:cNvPr id="13" name="Text 11"/>
          <p:cNvSpPr/>
          <p:nvPr/>
        </p:nvSpPr>
        <p:spPr>
          <a:xfrm>
            <a:off x="6400800" y="182880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全面识别浪费</a:t>
            </a:r>
            <a:endParaRPr lang="en-US" sz="1000" dirty="0"/>
          </a:p>
        </p:txBody>
      </p:sp>
      <p:sp>
        <p:nvSpPr>
          <p:cNvPr id="14" name="Text 12"/>
          <p:cNvSpPr/>
          <p:nvPr/>
        </p:nvSpPr>
        <p:spPr>
          <a:xfrm>
            <a:off x="5989320" y="212140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15" name="Shape 13"/>
          <p:cNvSpPr/>
          <p:nvPr/>
        </p:nvSpPr>
        <p:spPr>
          <a:xfrm>
            <a:off x="7955280" y="155448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16" name="Shape 14"/>
          <p:cNvSpPr/>
          <p:nvPr/>
        </p:nvSpPr>
        <p:spPr>
          <a:xfrm>
            <a:off x="7955280" y="1554480"/>
            <a:ext cx="1828800" cy="219456"/>
          </a:xfrm>
          <a:prstGeom prst="rect">
            <a:avLst/>
          </a:prstGeom>
          <a:solidFill>
            <a:srgbClr val="0D9488"/>
          </a:solidFill>
          <a:ln w="12700">
            <a:solidFill>
              <a:srgbClr val="0D9488"/>
            </a:solidFill>
            <a:prstDash val="solid"/>
          </a:ln>
        </p:spPr>
        <p:txBody>
          <a:bodyPr/>
          <a:p/>
        </p:txBody>
      </p:sp>
      <p:sp>
        <p:nvSpPr>
          <p:cNvPr id="17" name="Text 15"/>
          <p:cNvSpPr/>
          <p:nvPr/>
        </p:nvSpPr>
        <p:spPr>
          <a:xfrm>
            <a:off x="8001000" y="181051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②</a:t>
            </a:r>
            <a:endParaRPr lang="en-US" sz="1400" dirty="0"/>
          </a:p>
        </p:txBody>
      </p:sp>
      <p:sp>
        <p:nvSpPr>
          <p:cNvPr id="18" name="Text 16"/>
          <p:cNvSpPr/>
          <p:nvPr/>
        </p:nvSpPr>
        <p:spPr>
          <a:xfrm>
            <a:off x="8412480" y="182880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量化流程数据</a:t>
            </a:r>
            <a:endParaRPr lang="en-US" sz="1000" dirty="0"/>
          </a:p>
        </p:txBody>
      </p:sp>
      <p:sp>
        <p:nvSpPr>
          <p:cNvPr id="19" name="Text 17"/>
          <p:cNvSpPr/>
          <p:nvPr/>
        </p:nvSpPr>
        <p:spPr>
          <a:xfrm>
            <a:off x="8001000" y="212140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20" name="Shape 18"/>
          <p:cNvSpPr/>
          <p:nvPr/>
        </p:nvSpPr>
        <p:spPr>
          <a:xfrm>
            <a:off x="9966960" y="155448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21" name="Shape 19"/>
          <p:cNvSpPr/>
          <p:nvPr/>
        </p:nvSpPr>
        <p:spPr>
          <a:xfrm>
            <a:off x="9966960" y="1554480"/>
            <a:ext cx="1828800" cy="219456"/>
          </a:xfrm>
          <a:prstGeom prst="rect">
            <a:avLst/>
          </a:prstGeom>
          <a:solidFill>
            <a:srgbClr val="1E2761"/>
          </a:solidFill>
          <a:ln w="12700">
            <a:solidFill>
              <a:srgbClr val="1E2761"/>
            </a:solidFill>
            <a:prstDash val="solid"/>
          </a:ln>
        </p:spPr>
        <p:txBody>
          <a:bodyPr/>
          <a:p/>
        </p:txBody>
      </p:sp>
      <p:sp>
        <p:nvSpPr>
          <p:cNvPr id="22" name="Text 20"/>
          <p:cNvSpPr/>
          <p:nvPr/>
        </p:nvSpPr>
        <p:spPr>
          <a:xfrm>
            <a:off x="10012680" y="181051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③</a:t>
            </a:r>
            <a:endParaRPr lang="en-US" sz="1400" dirty="0"/>
          </a:p>
        </p:txBody>
      </p:sp>
      <p:sp>
        <p:nvSpPr>
          <p:cNvPr id="23" name="Text 21"/>
          <p:cNvSpPr/>
          <p:nvPr/>
        </p:nvSpPr>
        <p:spPr>
          <a:xfrm>
            <a:off x="10424160" y="182880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可视化全流程</a:t>
            </a:r>
            <a:endParaRPr lang="en-US" sz="1000" dirty="0"/>
          </a:p>
        </p:txBody>
      </p:sp>
      <p:sp>
        <p:nvSpPr>
          <p:cNvPr id="24" name="Text 22"/>
          <p:cNvSpPr/>
          <p:nvPr/>
        </p:nvSpPr>
        <p:spPr>
          <a:xfrm>
            <a:off x="10012680" y="212140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25" name="Shape 23"/>
          <p:cNvSpPr/>
          <p:nvPr/>
        </p:nvSpPr>
        <p:spPr>
          <a:xfrm>
            <a:off x="5943600" y="256032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26" name="Shape 24"/>
          <p:cNvSpPr/>
          <p:nvPr/>
        </p:nvSpPr>
        <p:spPr>
          <a:xfrm>
            <a:off x="5943600" y="2560320"/>
            <a:ext cx="1828800" cy="219456"/>
          </a:xfrm>
          <a:prstGeom prst="rect">
            <a:avLst/>
          </a:prstGeom>
          <a:solidFill>
            <a:srgbClr val="059669"/>
          </a:solidFill>
          <a:ln w="12700">
            <a:solidFill>
              <a:srgbClr val="059669"/>
            </a:solidFill>
            <a:prstDash val="solid"/>
          </a:ln>
        </p:spPr>
        <p:txBody>
          <a:bodyPr/>
          <a:p/>
        </p:txBody>
      </p:sp>
      <p:sp>
        <p:nvSpPr>
          <p:cNvPr id="27" name="Text 25"/>
          <p:cNvSpPr/>
          <p:nvPr/>
        </p:nvSpPr>
        <p:spPr>
          <a:xfrm>
            <a:off x="5989320" y="281635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④</a:t>
            </a:r>
            <a:endParaRPr lang="en-US" sz="1400" dirty="0"/>
          </a:p>
        </p:txBody>
      </p:sp>
      <p:sp>
        <p:nvSpPr>
          <p:cNvPr id="28" name="Text 26"/>
          <p:cNvSpPr/>
          <p:nvPr/>
        </p:nvSpPr>
        <p:spPr>
          <a:xfrm>
            <a:off x="6400800" y="283464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设计未来状态</a:t>
            </a:r>
            <a:endParaRPr lang="en-US" sz="1000" dirty="0"/>
          </a:p>
        </p:txBody>
      </p:sp>
      <p:sp>
        <p:nvSpPr>
          <p:cNvPr id="29" name="Text 27"/>
          <p:cNvSpPr/>
          <p:nvPr/>
        </p:nvSpPr>
        <p:spPr>
          <a:xfrm>
            <a:off x="5989320" y="312724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30" name="Shape 28"/>
          <p:cNvSpPr/>
          <p:nvPr/>
        </p:nvSpPr>
        <p:spPr>
          <a:xfrm>
            <a:off x="7955280" y="256032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31" name="Shape 29"/>
          <p:cNvSpPr/>
          <p:nvPr/>
        </p:nvSpPr>
        <p:spPr>
          <a:xfrm>
            <a:off x="7955280" y="2560320"/>
            <a:ext cx="1828800" cy="219456"/>
          </a:xfrm>
          <a:prstGeom prst="rect">
            <a:avLst/>
          </a:prstGeom>
          <a:solidFill>
            <a:srgbClr val="D97706"/>
          </a:solidFill>
          <a:ln w="12700">
            <a:solidFill>
              <a:srgbClr val="D97706"/>
            </a:solidFill>
            <a:prstDash val="solid"/>
          </a:ln>
        </p:spPr>
        <p:txBody>
          <a:bodyPr/>
          <a:p/>
        </p:txBody>
      </p:sp>
      <p:sp>
        <p:nvSpPr>
          <p:cNvPr id="32" name="Text 30"/>
          <p:cNvSpPr/>
          <p:nvPr/>
        </p:nvSpPr>
        <p:spPr>
          <a:xfrm>
            <a:off x="8001000" y="281635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⑤</a:t>
            </a:r>
            <a:endParaRPr lang="en-US" sz="1400" dirty="0"/>
          </a:p>
        </p:txBody>
      </p:sp>
      <p:sp>
        <p:nvSpPr>
          <p:cNvPr id="33" name="Text 31"/>
          <p:cNvSpPr/>
          <p:nvPr/>
        </p:nvSpPr>
        <p:spPr>
          <a:xfrm>
            <a:off x="8412480" y="283464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跨部门协同</a:t>
            </a:r>
            <a:endParaRPr lang="en-US" sz="1000" dirty="0"/>
          </a:p>
        </p:txBody>
      </p:sp>
      <p:sp>
        <p:nvSpPr>
          <p:cNvPr id="34" name="Text 32"/>
          <p:cNvSpPr/>
          <p:nvPr/>
        </p:nvSpPr>
        <p:spPr>
          <a:xfrm>
            <a:off x="8001000" y="312724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35" name="Shape 33"/>
          <p:cNvSpPr/>
          <p:nvPr/>
        </p:nvSpPr>
        <p:spPr>
          <a:xfrm>
            <a:off x="9966960" y="2560320"/>
            <a:ext cx="1828800" cy="868680"/>
          </a:xfrm>
          <a:prstGeom prst="roundRect">
            <a:avLst>
              <a:gd name="adj" fmla="val 8421"/>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36" name="Shape 34"/>
          <p:cNvSpPr/>
          <p:nvPr/>
        </p:nvSpPr>
        <p:spPr>
          <a:xfrm>
            <a:off x="9966960" y="2560320"/>
            <a:ext cx="1828800" cy="219456"/>
          </a:xfrm>
          <a:prstGeom prst="rect">
            <a:avLst/>
          </a:prstGeom>
          <a:solidFill>
            <a:srgbClr val="0D9488"/>
          </a:solidFill>
          <a:ln w="12700">
            <a:solidFill>
              <a:srgbClr val="0D9488"/>
            </a:solidFill>
            <a:prstDash val="solid"/>
          </a:ln>
        </p:spPr>
        <p:txBody>
          <a:bodyPr/>
          <a:p/>
        </p:txBody>
      </p:sp>
      <p:sp>
        <p:nvSpPr>
          <p:cNvPr id="37" name="Text 35"/>
          <p:cNvSpPr/>
          <p:nvPr/>
        </p:nvSpPr>
        <p:spPr>
          <a:xfrm>
            <a:off x="10012680" y="2816352"/>
            <a:ext cx="365760" cy="320040"/>
          </a:xfrm>
          <a:prstGeom prst="rect">
            <a:avLst/>
          </a:prstGeom>
          <a:noFill/>
          <a:ln/>
        </p:spPr>
        <p:txBody>
          <a:bodyPr wrap="square" rtlCol="0" anchor="ctr"/>
          <a:lstStyle/>
          <a:p>
            <a:pPr algn="ctr" indent="0" marL="0">
              <a:buNone/>
            </a:pPr>
            <a:r>
              <a:rPr lang="en-US" sz="1400" dirty="0">
                <a:solidFill>
                  <a:srgbClr val="000000"/>
                </a:solidFill>
                <a:latin typeface="Arial Black" pitchFamily="34" charset="0"/>
                <a:ea typeface="Arial Black" pitchFamily="34" charset="-122"/>
                <a:cs typeface="Arial Black" pitchFamily="34" charset="-120"/>
              </a:rPr>
              <a:t>⑥</a:t>
            </a:r>
            <a:endParaRPr lang="en-US" sz="1400" dirty="0"/>
          </a:p>
        </p:txBody>
      </p:sp>
      <p:sp>
        <p:nvSpPr>
          <p:cNvPr id="38" name="Text 36"/>
          <p:cNvSpPr/>
          <p:nvPr/>
        </p:nvSpPr>
        <p:spPr>
          <a:xfrm>
            <a:off x="10424160" y="2834640"/>
            <a:ext cx="1280160" cy="274320"/>
          </a:xfrm>
          <a:prstGeom prst="rect">
            <a:avLst/>
          </a:prstGeom>
          <a:noFill/>
          <a:ln/>
        </p:spPr>
        <p:txBody>
          <a:bodyPr wrap="square" rtlCol="0" anchor="ctr"/>
          <a:lstStyle/>
          <a:p>
            <a:pPr indent="0" marL="0">
              <a:buNone/>
            </a:pPr>
            <a:r>
              <a:rPr lang="en-US" sz="1000" b="1" dirty="0">
                <a:solidFill>
                  <a:srgbClr val="1E293B"/>
                </a:solidFill>
                <a:latin typeface="Arial Black" pitchFamily="34" charset="0"/>
                <a:ea typeface="Arial Black" pitchFamily="34" charset="-122"/>
                <a:cs typeface="Arial Black" pitchFamily="34" charset="-120"/>
              </a:rPr>
              <a:t>持续改善基线</a:t>
            </a:r>
            <a:endParaRPr lang="en-US" sz="1000" dirty="0"/>
          </a:p>
        </p:txBody>
      </p:sp>
      <p:sp>
        <p:nvSpPr>
          <p:cNvPr id="39" name="Text 37"/>
          <p:cNvSpPr/>
          <p:nvPr/>
        </p:nvSpPr>
        <p:spPr>
          <a:xfrm>
            <a:off x="10012680" y="3127248"/>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精益核心原则</a:t>
            </a:r>
            <a:endParaRPr lang="en-US" sz="800" dirty="0"/>
          </a:p>
        </p:txBody>
      </p:sp>
      <p:sp>
        <p:nvSpPr>
          <p:cNvPr id="40" name="Shape 38"/>
          <p:cNvSpPr/>
          <p:nvPr/>
        </p:nvSpPr>
        <p:spPr>
          <a:xfrm>
            <a:off x="457200" y="3840480"/>
            <a:ext cx="11274552" cy="36576"/>
          </a:xfrm>
          <a:prstGeom prst="rect">
            <a:avLst/>
          </a:prstGeom>
          <a:solidFill>
            <a:srgbClr val="1E2761"/>
          </a:solidFill>
          <a:ln w="12700">
            <a:solidFill>
              <a:srgbClr val="1E2761"/>
            </a:solidFill>
            <a:prstDash val="solid"/>
          </a:ln>
        </p:spPr>
        <p:txBody>
          <a:bodyPr/>
          <a:p/>
        </p:txBody>
      </p:sp>
      <p:sp>
        <p:nvSpPr>
          <p:cNvPr id="41" name="Text 39"/>
          <p:cNvSpPr/>
          <p:nvPr/>
        </p:nvSpPr>
        <p:spPr>
          <a:xfrm>
            <a:off x="731520" y="3977640"/>
            <a:ext cx="2743200" cy="365760"/>
          </a:xfrm>
          <a:prstGeom prst="rect">
            <a:avLst/>
          </a:prstGeom>
          <a:noFill/>
          <a:ln/>
        </p:spPr>
        <p:txBody>
          <a:bodyPr wrap="square" rtlCol="0" anchor="ctr"/>
          <a:lstStyle/>
          <a:p>
            <a:pPr indent="0" marL="0">
              <a:buNone/>
            </a:pPr>
            <a:r>
              <a:rPr lang="en-US" sz="1400" b="1" dirty="0">
                <a:solidFill>
                  <a:srgbClr val="1E2761"/>
                </a:solidFill>
                <a:latin typeface="Arial Black" pitchFamily="34" charset="0"/>
                <a:ea typeface="Arial Black" pitchFamily="34" charset="-122"/>
                <a:cs typeface="Arial Black" pitchFamily="34" charset="-120"/>
              </a:rPr>
              <a:t>精益五大原则</a:t>
            </a:r>
            <a:endParaRPr lang="en-US" sz="1400" dirty="0"/>
          </a:p>
        </p:txBody>
      </p:sp>
      <p:sp>
        <p:nvSpPr>
          <p:cNvPr id="42" name="Shape 40"/>
          <p:cNvSpPr/>
          <p:nvPr/>
        </p:nvSpPr>
        <p:spPr>
          <a:xfrm>
            <a:off x="457200" y="4434840"/>
            <a:ext cx="2148840" cy="502920"/>
          </a:xfrm>
          <a:prstGeom prst="roundRect">
            <a:avLst>
              <a:gd name="adj" fmla="val 10909"/>
            </a:avLst>
          </a:prstGeom>
          <a:solidFill>
            <a:srgbClr val="0D9488"/>
          </a:solidFill>
          <a:ln w="6350">
            <a:solidFill>
              <a:srgbClr val="0D9488"/>
            </a:solidFill>
            <a:prstDash val="solid"/>
          </a:ln>
        </p:spPr>
        <p:txBody>
          <a:bodyPr/>
          <a:p/>
        </p:txBody>
      </p:sp>
      <p:sp>
        <p:nvSpPr>
          <p:cNvPr id="43" name="Text 41"/>
          <p:cNvSpPr/>
          <p:nvPr/>
        </p:nvSpPr>
        <p:spPr>
          <a:xfrm>
            <a:off x="548640" y="4453128"/>
            <a:ext cx="1965960" cy="4572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1. 价值 Value</a:t>
            </a:r>
            <a:endParaRPr lang="en-US" sz="900" dirty="0"/>
          </a:p>
        </p:txBody>
      </p:sp>
      <p:sp>
        <p:nvSpPr>
          <p:cNvPr id="44" name="Shape 42"/>
          <p:cNvSpPr/>
          <p:nvPr/>
        </p:nvSpPr>
        <p:spPr>
          <a:xfrm>
            <a:off x="2743200" y="4434840"/>
            <a:ext cx="2148840" cy="502920"/>
          </a:xfrm>
          <a:prstGeom prst="roundRect">
            <a:avLst>
              <a:gd name="adj" fmla="val 10909"/>
            </a:avLst>
          </a:prstGeom>
          <a:solidFill>
            <a:srgbClr val="0D9488"/>
          </a:solidFill>
          <a:ln w="6350">
            <a:solidFill>
              <a:srgbClr val="0D9488"/>
            </a:solidFill>
            <a:prstDash val="solid"/>
          </a:ln>
        </p:spPr>
        <p:txBody>
          <a:bodyPr/>
          <a:p/>
        </p:txBody>
      </p:sp>
      <p:sp>
        <p:nvSpPr>
          <p:cNvPr id="45" name="Text 43"/>
          <p:cNvSpPr/>
          <p:nvPr/>
        </p:nvSpPr>
        <p:spPr>
          <a:xfrm>
            <a:off x="2834640" y="4453128"/>
            <a:ext cx="1965960" cy="4572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2. 价值流 Value Stream</a:t>
            </a:r>
            <a:endParaRPr lang="en-US" sz="900" dirty="0"/>
          </a:p>
        </p:txBody>
      </p:sp>
      <p:sp>
        <p:nvSpPr>
          <p:cNvPr id="46" name="Shape 44"/>
          <p:cNvSpPr/>
          <p:nvPr/>
        </p:nvSpPr>
        <p:spPr>
          <a:xfrm>
            <a:off x="5029200" y="4434840"/>
            <a:ext cx="2148840" cy="502920"/>
          </a:xfrm>
          <a:prstGeom prst="roundRect">
            <a:avLst>
              <a:gd name="adj" fmla="val 10909"/>
            </a:avLst>
          </a:prstGeom>
          <a:solidFill>
            <a:srgbClr val="0D9488"/>
          </a:solidFill>
          <a:ln w="6350">
            <a:solidFill>
              <a:srgbClr val="0D9488"/>
            </a:solidFill>
            <a:prstDash val="solid"/>
          </a:ln>
        </p:spPr>
        <p:txBody>
          <a:bodyPr/>
          <a:p/>
        </p:txBody>
      </p:sp>
      <p:sp>
        <p:nvSpPr>
          <p:cNvPr id="47" name="Text 45"/>
          <p:cNvSpPr/>
          <p:nvPr/>
        </p:nvSpPr>
        <p:spPr>
          <a:xfrm>
            <a:off x="5120640" y="4453128"/>
            <a:ext cx="1965960" cy="4572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3. 流动 Flow</a:t>
            </a:r>
            <a:endParaRPr lang="en-US" sz="900" dirty="0"/>
          </a:p>
        </p:txBody>
      </p:sp>
      <p:sp>
        <p:nvSpPr>
          <p:cNvPr id="48" name="Shape 46"/>
          <p:cNvSpPr/>
          <p:nvPr/>
        </p:nvSpPr>
        <p:spPr>
          <a:xfrm>
            <a:off x="7315200" y="4434840"/>
            <a:ext cx="2148840" cy="502920"/>
          </a:xfrm>
          <a:prstGeom prst="roundRect">
            <a:avLst>
              <a:gd name="adj" fmla="val 10909"/>
            </a:avLst>
          </a:prstGeom>
          <a:solidFill>
            <a:srgbClr val="0D9488"/>
          </a:solidFill>
          <a:ln w="6350">
            <a:solidFill>
              <a:srgbClr val="0D9488"/>
            </a:solidFill>
            <a:prstDash val="solid"/>
          </a:ln>
        </p:spPr>
        <p:txBody>
          <a:bodyPr/>
          <a:p/>
        </p:txBody>
      </p:sp>
      <p:sp>
        <p:nvSpPr>
          <p:cNvPr id="49" name="Text 47"/>
          <p:cNvSpPr/>
          <p:nvPr/>
        </p:nvSpPr>
        <p:spPr>
          <a:xfrm>
            <a:off x="7406640" y="4453128"/>
            <a:ext cx="1965960" cy="4572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4. 拉动 Pull</a:t>
            </a:r>
            <a:endParaRPr lang="en-US" sz="900" dirty="0"/>
          </a:p>
        </p:txBody>
      </p:sp>
      <p:sp>
        <p:nvSpPr>
          <p:cNvPr id="50" name="Shape 48"/>
          <p:cNvSpPr/>
          <p:nvPr/>
        </p:nvSpPr>
        <p:spPr>
          <a:xfrm>
            <a:off x="9601200" y="4434840"/>
            <a:ext cx="2148840" cy="502920"/>
          </a:xfrm>
          <a:prstGeom prst="roundRect">
            <a:avLst>
              <a:gd name="adj" fmla="val 10909"/>
            </a:avLst>
          </a:prstGeom>
          <a:solidFill>
            <a:srgbClr val="0D9488"/>
          </a:solidFill>
          <a:ln w="6350">
            <a:solidFill>
              <a:srgbClr val="0D9488"/>
            </a:solidFill>
            <a:prstDash val="solid"/>
          </a:ln>
        </p:spPr>
        <p:txBody>
          <a:bodyPr/>
          <a:p/>
        </p:txBody>
      </p:sp>
      <p:sp>
        <p:nvSpPr>
          <p:cNvPr id="51" name="Text 49"/>
          <p:cNvSpPr/>
          <p:nvPr/>
        </p:nvSpPr>
        <p:spPr>
          <a:xfrm>
            <a:off x="9692640" y="4453128"/>
            <a:ext cx="1965960" cy="4572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5. 尽善尽美 Perfection</a:t>
            </a:r>
            <a:endParaRPr lang="en-US" sz="900" dirty="0"/>
          </a:p>
        </p:txBody>
      </p:sp>
      <p:sp>
        <p:nvSpPr>
          <p:cNvPr id="52" name="Shape 50"/>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53" name="Text 51"/>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VSM是精益转型的起点 | 先看清现状，再设计未来</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VSM 实施步骤</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7 Steps to Value Stream Mapping</a:t>
            </a:r>
            <a:endParaRPr lang="en-US" sz="1400" dirty="0"/>
          </a:p>
        </p:txBody>
      </p:sp>
      <p:sp>
        <p:nvSpPr>
          <p:cNvPr id="7" name="Shape 5"/>
          <p:cNvSpPr/>
          <p:nvPr/>
        </p:nvSpPr>
        <p:spPr>
          <a:xfrm>
            <a:off x="274320" y="1188720"/>
            <a:ext cx="1554480" cy="914400"/>
          </a:xfrm>
          <a:prstGeom prst="roundRect">
            <a:avLst>
              <a:gd name="adj" fmla="val 10000"/>
            </a:avLst>
          </a:prstGeom>
          <a:solidFill>
            <a:srgbClr val="1E2761"/>
          </a:solidFill>
          <a:ln/>
        </p:spPr>
        <p:txBody>
          <a:bodyPr/>
          <a:p/>
        </p:txBody>
      </p:sp>
      <p:sp>
        <p:nvSpPr>
          <p:cNvPr id="8" name="Text 6"/>
          <p:cNvSpPr/>
          <p:nvPr/>
        </p:nvSpPr>
        <p:spPr>
          <a:xfrm>
            <a:off x="27432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1</a:t>
            </a:r>
            <a:endParaRPr lang="en-US" sz="2200" dirty="0"/>
          </a:p>
        </p:txBody>
      </p:sp>
      <p:sp>
        <p:nvSpPr>
          <p:cNvPr id="9" name="Text 7"/>
          <p:cNvSpPr/>
          <p:nvPr/>
        </p:nvSpPr>
        <p:spPr>
          <a:xfrm>
            <a:off x="27432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选择</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产品族</a:t>
            </a:r>
            <a:endParaRPr lang="en-US" sz="900" dirty="0"/>
          </a:p>
        </p:txBody>
      </p:sp>
      <p:sp>
        <p:nvSpPr>
          <p:cNvPr id="10" name="Shape 8"/>
          <p:cNvSpPr/>
          <p:nvPr/>
        </p:nvSpPr>
        <p:spPr>
          <a:xfrm>
            <a:off x="1828800" y="1508760"/>
            <a:ext cx="137160" cy="36576"/>
          </a:xfrm>
          <a:prstGeom prst="rect">
            <a:avLst/>
          </a:prstGeom>
          <a:solidFill>
            <a:srgbClr val="0D9488"/>
          </a:solidFill>
          <a:ln w="12700">
            <a:solidFill>
              <a:srgbClr val="0D9488"/>
            </a:solidFill>
            <a:prstDash val="solid"/>
          </a:ln>
        </p:spPr>
        <p:txBody>
          <a:bodyPr/>
          <a:p/>
        </p:txBody>
      </p:sp>
      <p:sp>
        <p:nvSpPr>
          <p:cNvPr id="11" name="Shape 9"/>
          <p:cNvSpPr/>
          <p:nvPr/>
        </p:nvSpPr>
        <p:spPr>
          <a:xfrm>
            <a:off x="1920240" y="1417320"/>
            <a:ext cx="164592" cy="219456"/>
          </a:xfrm>
          <a:prstGeom prst="rightArrow">
            <a:avLst/>
          </a:prstGeom>
          <a:solidFill>
            <a:srgbClr val="0D9488"/>
          </a:solidFill>
          <a:ln w="12700">
            <a:solidFill>
              <a:srgbClr val="0D9488"/>
            </a:solidFill>
            <a:prstDash val="solid"/>
          </a:ln>
        </p:spPr>
        <p:txBody>
          <a:bodyPr/>
          <a:p/>
        </p:txBody>
      </p:sp>
      <p:sp>
        <p:nvSpPr>
          <p:cNvPr id="12" name="Text 10"/>
          <p:cNvSpPr/>
          <p:nvPr/>
        </p:nvSpPr>
        <p:spPr>
          <a:xfrm>
            <a:off x="22860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按价值流选择</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关键产品族</a:t>
            </a:r>
            <a:endParaRPr lang="en-US" sz="800" dirty="0"/>
          </a:p>
        </p:txBody>
      </p:sp>
      <p:sp>
        <p:nvSpPr>
          <p:cNvPr id="13" name="Shape 11"/>
          <p:cNvSpPr/>
          <p:nvPr/>
        </p:nvSpPr>
        <p:spPr>
          <a:xfrm>
            <a:off x="1965960" y="1188720"/>
            <a:ext cx="1554480" cy="914400"/>
          </a:xfrm>
          <a:prstGeom prst="roundRect">
            <a:avLst>
              <a:gd name="adj" fmla="val 10000"/>
            </a:avLst>
          </a:prstGeom>
          <a:solidFill>
            <a:srgbClr val="0D9488"/>
          </a:solidFill>
          <a:ln/>
        </p:spPr>
        <p:txBody>
          <a:bodyPr/>
          <a:p/>
        </p:txBody>
      </p:sp>
      <p:sp>
        <p:nvSpPr>
          <p:cNvPr id="14" name="Text 12"/>
          <p:cNvSpPr/>
          <p:nvPr/>
        </p:nvSpPr>
        <p:spPr>
          <a:xfrm>
            <a:off x="196596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15" name="Text 13"/>
          <p:cNvSpPr/>
          <p:nvPr/>
        </p:nvSpPr>
        <p:spPr>
          <a:xfrm>
            <a:off x="196596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绘制</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当前状态</a:t>
            </a:r>
            <a:endParaRPr lang="en-US" sz="900" dirty="0"/>
          </a:p>
        </p:txBody>
      </p:sp>
      <p:sp>
        <p:nvSpPr>
          <p:cNvPr id="16" name="Shape 14"/>
          <p:cNvSpPr/>
          <p:nvPr/>
        </p:nvSpPr>
        <p:spPr>
          <a:xfrm>
            <a:off x="3520440" y="1508760"/>
            <a:ext cx="137160" cy="36576"/>
          </a:xfrm>
          <a:prstGeom prst="rect">
            <a:avLst/>
          </a:prstGeom>
          <a:solidFill>
            <a:srgbClr val="0D9488"/>
          </a:solidFill>
          <a:ln w="12700">
            <a:solidFill>
              <a:srgbClr val="0D9488"/>
            </a:solidFill>
            <a:prstDash val="solid"/>
          </a:ln>
        </p:spPr>
        <p:txBody>
          <a:bodyPr/>
          <a:p/>
        </p:txBody>
      </p:sp>
      <p:sp>
        <p:nvSpPr>
          <p:cNvPr id="17" name="Shape 15"/>
          <p:cNvSpPr/>
          <p:nvPr/>
        </p:nvSpPr>
        <p:spPr>
          <a:xfrm>
            <a:off x="3611880" y="1417320"/>
            <a:ext cx="164592" cy="219456"/>
          </a:xfrm>
          <a:prstGeom prst="rightArrow">
            <a:avLst/>
          </a:prstGeom>
          <a:solidFill>
            <a:srgbClr val="0D9488"/>
          </a:solidFill>
          <a:ln w="12700">
            <a:solidFill>
              <a:srgbClr val="0D9488"/>
            </a:solidFill>
            <a:prstDash val="solid"/>
          </a:ln>
        </p:spPr>
        <p:txBody>
          <a:bodyPr/>
          <a:p/>
        </p:txBody>
      </p:sp>
      <p:sp>
        <p:nvSpPr>
          <p:cNvPr id="18" name="Text 16"/>
          <p:cNvSpPr/>
          <p:nvPr/>
        </p:nvSpPr>
        <p:spPr>
          <a:xfrm>
            <a:off x="192024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现场收集数据</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绘制现状流程图</a:t>
            </a:r>
            <a:endParaRPr lang="en-US" sz="800" dirty="0"/>
          </a:p>
        </p:txBody>
      </p:sp>
      <p:sp>
        <p:nvSpPr>
          <p:cNvPr id="19" name="Shape 17"/>
          <p:cNvSpPr/>
          <p:nvPr/>
        </p:nvSpPr>
        <p:spPr>
          <a:xfrm>
            <a:off x="3657600" y="1188720"/>
            <a:ext cx="1554480" cy="914400"/>
          </a:xfrm>
          <a:prstGeom prst="roundRect">
            <a:avLst>
              <a:gd name="adj" fmla="val 10000"/>
            </a:avLst>
          </a:prstGeom>
          <a:solidFill>
            <a:srgbClr val="DC2626"/>
          </a:solidFill>
          <a:ln/>
        </p:spPr>
        <p:txBody>
          <a:bodyPr/>
          <a:p/>
        </p:txBody>
      </p:sp>
      <p:sp>
        <p:nvSpPr>
          <p:cNvPr id="20" name="Text 18"/>
          <p:cNvSpPr/>
          <p:nvPr/>
        </p:nvSpPr>
        <p:spPr>
          <a:xfrm>
            <a:off x="365760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21" name="Text 19"/>
          <p:cNvSpPr/>
          <p:nvPr/>
        </p:nvSpPr>
        <p:spPr>
          <a:xfrm>
            <a:off x="365760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分析</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浪费</a:t>
            </a:r>
            <a:endParaRPr lang="en-US" sz="900" dirty="0"/>
          </a:p>
        </p:txBody>
      </p:sp>
      <p:sp>
        <p:nvSpPr>
          <p:cNvPr id="22" name="Shape 20"/>
          <p:cNvSpPr/>
          <p:nvPr/>
        </p:nvSpPr>
        <p:spPr>
          <a:xfrm>
            <a:off x="5212080" y="1508760"/>
            <a:ext cx="137160" cy="36576"/>
          </a:xfrm>
          <a:prstGeom prst="rect">
            <a:avLst/>
          </a:prstGeom>
          <a:solidFill>
            <a:srgbClr val="0D9488"/>
          </a:solidFill>
          <a:ln w="12700">
            <a:solidFill>
              <a:srgbClr val="0D9488"/>
            </a:solidFill>
            <a:prstDash val="solid"/>
          </a:ln>
        </p:spPr>
        <p:txBody>
          <a:bodyPr/>
          <a:p/>
        </p:txBody>
      </p:sp>
      <p:sp>
        <p:nvSpPr>
          <p:cNvPr id="23" name="Shape 21"/>
          <p:cNvSpPr/>
          <p:nvPr/>
        </p:nvSpPr>
        <p:spPr>
          <a:xfrm>
            <a:off x="5303520" y="1417320"/>
            <a:ext cx="164592" cy="219456"/>
          </a:xfrm>
          <a:prstGeom prst="rightArrow">
            <a:avLst/>
          </a:prstGeom>
          <a:solidFill>
            <a:srgbClr val="0D9488"/>
          </a:solidFill>
          <a:ln w="12700">
            <a:solidFill>
              <a:srgbClr val="0D9488"/>
            </a:solidFill>
            <a:prstDash val="solid"/>
          </a:ln>
        </p:spPr>
        <p:txBody>
          <a:bodyPr/>
          <a:p/>
        </p:txBody>
      </p:sp>
      <p:sp>
        <p:nvSpPr>
          <p:cNvPr id="24" name="Text 22"/>
          <p:cNvSpPr/>
          <p:nvPr/>
        </p:nvSpPr>
        <p:spPr>
          <a:xfrm>
            <a:off x="361188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识别7大浪费</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量化损失</a:t>
            </a:r>
            <a:endParaRPr lang="en-US" sz="800" dirty="0"/>
          </a:p>
        </p:txBody>
      </p:sp>
      <p:sp>
        <p:nvSpPr>
          <p:cNvPr id="25" name="Shape 23"/>
          <p:cNvSpPr/>
          <p:nvPr/>
        </p:nvSpPr>
        <p:spPr>
          <a:xfrm>
            <a:off x="5349240" y="1188720"/>
            <a:ext cx="1554480" cy="914400"/>
          </a:xfrm>
          <a:prstGeom prst="roundRect">
            <a:avLst>
              <a:gd name="adj" fmla="val 10000"/>
            </a:avLst>
          </a:prstGeom>
          <a:solidFill>
            <a:srgbClr val="059669"/>
          </a:solidFill>
          <a:ln/>
        </p:spPr>
        <p:txBody>
          <a:bodyPr/>
          <a:p/>
        </p:txBody>
      </p:sp>
      <p:sp>
        <p:nvSpPr>
          <p:cNvPr id="26" name="Text 24"/>
          <p:cNvSpPr/>
          <p:nvPr/>
        </p:nvSpPr>
        <p:spPr>
          <a:xfrm>
            <a:off x="534924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27" name="Text 25"/>
          <p:cNvSpPr/>
          <p:nvPr/>
        </p:nvSpPr>
        <p:spPr>
          <a:xfrm>
            <a:off x="534924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设计</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未来状态</a:t>
            </a:r>
            <a:endParaRPr lang="en-US" sz="900" dirty="0"/>
          </a:p>
        </p:txBody>
      </p:sp>
      <p:sp>
        <p:nvSpPr>
          <p:cNvPr id="28" name="Shape 26"/>
          <p:cNvSpPr/>
          <p:nvPr/>
        </p:nvSpPr>
        <p:spPr>
          <a:xfrm>
            <a:off x="6903720" y="1508760"/>
            <a:ext cx="137160" cy="36576"/>
          </a:xfrm>
          <a:prstGeom prst="rect">
            <a:avLst/>
          </a:prstGeom>
          <a:solidFill>
            <a:srgbClr val="0D9488"/>
          </a:solidFill>
          <a:ln w="12700">
            <a:solidFill>
              <a:srgbClr val="0D9488"/>
            </a:solidFill>
            <a:prstDash val="solid"/>
          </a:ln>
        </p:spPr>
        <p:txBody>
          <a:bodyPr/>
          <a:p/>
        </p:txBody>
      </p:sp>
      <p:sp>
        <p:nvSpPr>
          <p:cNvPr id="29" name="Shape 27"/>
          <p:cNvSpPr/>
          <p:nvPr/>
        </p:nvSpPr>
        <p:spPr>
          <a:xfrm>
            <a:off x="6995160" y="1417320"/>
            <a:ext cx="164592" cy="219456"/>
          </a:xfrm>
          <a:prstGeom prst="rightArrow">
            <a:avLst/>
          </a:prstGeom>
          <a:solidFill>
            <a:srgbClr val="0D9488"/>
          </a:solidFill>
          <a:ln w="12700">
            <a:solidFill>
              <a:srgbClr val="0D9488"/>
            </a:solidFill>
            <a:prstDash val="solid"/>
          </a:ln>
        </p:spPr>
        <p:txBody>
          <a:bodyPr/>
          <a:p/>
        </p:txBody>
      </p:sp>
      <p:sp>
        <p:nvSpPr>
          <p:cNvPr id="30" name="Text 28"/>
          <p:cNvSpPr/>
          <p:nvPr/>
        </p:nvSpPr>
        <p:spPr>
          <a:xfrm>
            <a:off x="530352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理想流程设计</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目标指标设定</a:t>
            </a:r>
            <a:endParaRPr lang="en-US" sz="800" dirty="0"/>
          </a:p>
        </p:txBody>
      </p:sp>
      <p:sp>
        <p:nvSpPr>
          <p:cNvPr id="31" name="Shape 29"/>
          <p:cNvSpPr/>
          <p:nvPr/>
        </p:nvSpPr>
        <p:spPr>
          <a:xfrm>
            <a:off x="7040880" y="1188720"/>
            <a:ext cx="1554480" cy="914400"/>
          </a:xfrm>
          <a:prstGeom prst="roundRect">
            <a:avLst>
              <a:gd name="adj" fmla="val 10000"/>
            </a:avLst>
          </a:prstGeom>
          <a:solidFill>
            <a:srgbClr val="D97706"/>
          </a:solidFill>
          <a:ln/>
        </p:spPr>
        <p:txBody>
          <a:bodyPr/>
          <a:p/>
        </p:txBody>
      </p:sp>
      <p:sp>
        <p:nvSpPr>
          <p:cNvPr id="32" name="Text 30"/>
          <p:cNvSpPr/>
          <p:nvPr/>
        </p:nvSpPr>
        <p:spPr>
          <a:xfrm>
            <a:off x="704088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5</a:t>
            </a:r>
            <a:endParaRPr lang="en-US" sz="2200" dirty="0"/>
          </a:p>
        </p:txBody>
      </p:sp>
      <p:sp>
        <p:nvSpPr>
          <p:cNvPr id="33" name="Text 31"/>
          <p:cNvSpPr/>
          <p:nvPr/>
        </p:nvSpPr>
        <p:spPr>
          <a:xfrm>
            <a:off x="704088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制定</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改善计划</a:t>
            </a:r>
            <a:endParaRPr lang="en-US" sz="900" dirty="0"/>
          </a:p>
        </p:txBody>
      </p:sp>
      <p:sp>
        <p:nvSpPr>
          <p:cNvPr id="34" name="Shape 32"/>
          <p:cNvSpPr/>
          <p:nvPr/>
        </p:nvSpPr>
        <p:spPr>
          <a:xfrm>
            <a:off x="8595360" y="1508760"/>
            <a:ext cx="137160" cy="36576"/>
          </a:xfrm>
          <a:prstGeom prst="rect">
            <a:avLst/>
          </a:prstGeom>
          <a:solidFill>
            <a:srgbClr val="0D9488"/>
          </a:solidFill>
          <a:ln w="12700">
            <a:solidFill>
              <a:srgbClr val="0D9488"/>
            </a:solidFill>
            <a:prstDash val="solid"/>
          </a:ln>
        </p:spPr>
        <p:txBody>
          <a:bodyPr/>
          <a:p/>
        </p:txBody>
      </p:sp>
      <p:sp>
        <p:nvSpPr>
          <p:cNvPr id="35" name="Shape 33"/>
          <p:cNvSpPr/>
          <p:nvPr/>
        </p:nvSpPr>
        <p:spPr>
          <a:xfrm>
            <a:off x="8686800" y="1417320"/>
            <a:ext cx="164592" cy="219456"/>
          </a:xfrm>
          <a:prstGeom prst="rightArrow">
            <a:avLst/>
          </a:prstGeom>
          <a:solidFill>
            <a:srgbClr val="0D9488"/>
          </a:solidFill>
          <a:ln w="12700">
            <a:solidFill>
              <a:srgbClr val="0D9488"/>
            </a:solidFill>
            <a:prstDash val="solid"/>
          </a:ln>
        </p:spPr>
        <p:txBody>
          <a:bodyPr/>
          <a:p/>
        </p:txBody>
      </p:sp>
      <p:sp>
        <p:nvSpPr>
          <p:cNvPr id="36" name="Text 34"/>
          <p:cNvSpPr/>
          <p:nvPr/>
        </p:nvSpPr>
        <p:spPr>
          <a:xfrm>
            <a:off x="699516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分解改善项目</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制定实施路线</a:t>
            </a:r>
            <a:endParaRPr lang="en-US" sz="800" dirty="0"/>
          </a:p>
        </p:txBody>
      </p:sp>
      <p:sp>
        <p:nvSpPr>
          <p:cNvPr id="37" name="Shape 35"/>
          <p:cNvSpPr/>
          <p:nvPr/>
        </p:nvSpPr>
        <p:spPr>
          <a:xfrm>
            <a:off x="8732520" y="1188720"/>
            <a:ext cx="1554480" cy="914400"/>
          </a:xfrm>
          <a:prstGeom prst="roundRect">
            <a:avLst>
              <a:gd name="adj" fmla="val 10000"/>
            </a:avLst>
          </a:prstGeom>
          <a:solidFill>
            <a:srgbClr val="0D9488"/>
          </a:solidFill>
          <a:ln/>
        </p:spPr>
        <p:txBody>
          <a:bodyPr/>
          <a:p/>
        </p:txBody>
      </p:sp>
      <p:sp>
        <p:nvSpPr>
          <p:cNvPr id="38" name="Text 36"/>
          <p:cNvSpPr/>
          <p:nvPr/>
        </p:nvSpPr>
        <p:spPr>
          <a:xfrm>
            <a:off x="873252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6</a:t>
            </a:r>
            <a:endParaRPr lang="en-US" sz="2200" dirty="0"/>
          </a:p>
        </p:txBody>
      </p:sp>
      <p:sp>
        <p:nvSpPr>
          <p:cNvPr id="39" name="Text 37"/>
          <p:cNvSpPr/>
          <p:nvPr/>
        </p:nvSpPr>
        <p:spPr>
          <a:xfrm>
            <a:off x="873252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实施</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改善</a:t>
            </a:r>
            <a:endParaRPr lang="en-US" sz="900" dirty="0"/>
          </a:p>
        </p:txBody>
      </p:sp>
      <p:sp>
        <p:nvSpPr>
          <p:cNvPr id="40" name="Shape 38"/>
          <p:cNvSpPr/>
          <p:nvPr/>
        </p:nvSpPr>
        <p:spPr>
          <a:xfrm>
            <a:off x="10287000" y="1508760"/>
            <a:ext cx="137160" cy="36576"/>
          </a:xfrm>
          <a:prstGeom prst="rect">
            <a:avLst/>
          </a:prstGeom>
          <a:solidFill>
            <a:srgbClr val="0D9488"/>
          </a:solidFill>
          <a:ln w="12700">
            <a:solidFill>
              <a:srgbClr val="0D9488"/>
            </a:solidFill>
            <a:prstDash val="solid"/>
          </a:ln>
        </p:spPr>
        <p:txBody>
          <a:bodyPr/>
          <a:p/>
        </p:txBody>
      </p:sp>
      <p:sp>
        <p:nvSpPr>
          <p:cNvPr id="41" name="Shape 39"/>
          <p:cNvSpPr/>
          <p:nvPr/>
        </p:nvSpPr>
        <p:spPr>
          <a:xfrm>
            <a:off x="10378440" y="1417320"/>
            <a:ext cx="164592" cy="219456"/>
          </a:xfrm>
          <a:prstGeom prst="rightArrow">
            <a:avLst/>
          </a:prstGeom>
          <a:solidFill>
            <a:srgbClr val="0D9488"/>
          </a:solidFill>
          <a:ln w="12700">
            <a:solidFill>
              <a:srgbClr val="0D9488"/>
            </a:solidFill>
            <a:prstDash val="solid"/>
          </a:ln>
        </p:spPr>
        <p:txBody>
          <a:bodyPr/>
          <a:p/>
        </p:txBody>
      </p:sp>
      <p:sp>
        <p:nvSpPr>
          <p:cNvPr id="42" name="Text 40"/>
          <p:cNvSpPr/>
          <p:nvPr/>
        </p:nvSpPr>
        <p:spPr>
          <a:xfrm>
            <a:off x="868680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执行改善计划</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跟踪进度</a:t>
            </a:r>
            <a:endParaRPr lang="en-US" sz="800" dirty="0"/>
          </a:p>
        </p:txBody>
      </p:sp>
      <p:sp>
        <p:nvSpPr>
          <p:cNvPr id="43" name="Shape 41"/>
          <p:cNvSpPr/>
          <p:nvPr/>
        </p:nvSpPr>
        <p:spPr>
          <a:xfrm>
            <a:off x="10424160" y="1188720"/>
            <a:ext cx="1554480" cy="914400"/>
          </a:xfrm>
          <a:prstGeom prst="roundRect">
            <a:avLst>
              <a:gd name="adj" fmla="val 10000"/>
            </a:avLst>
          </a:prstGeom>
          <a:solidFill>
            <a:srgbClr val="1E2761"/>
          </a:solidFill>
          <a:ln/>
        </p:spPr>
        <p:txBody>
          <a:bodyPr/>
          <a:p/>
        </p:txBody>
      </p:sp>
      <p:sp>
        <p:nvSpPr>
          <p:cNvPr id="44" name="Text 42"/>
          <p:cNvSpPr/>
          <p:nvPr/>
        </p:nvSpPr>
        <p:spPr>
          <a:xfrm>
            <a:off x="10424160" y="1234440"/>
            <a:ext cx="1554480" cy="36576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7</a:t>
            </a:r>
            <a:endParaRPr lang="en-US" sz="2200" dirty="0"/>
          </a:p>
        </p:txBody>
      </p:sp>
      <p:sp>
        <p:nvSpPr>
          <p:cNvPr id="45" name="Text 43"/>
          <p:cNvSpPr/>
          <p:nvPr/>
        </p:nvSpPr>
        <p:spPr>
          <a:xfrm>
            <a:off x="10424160" y="1572768"/>
            <a:ext cx="1554480" cy="50292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标准化</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持续改善</a:t>
            </a:r>
            <a:endParaRPr lang="en-US" sz="900" dirty="0"/>
          </a:p>
        </p:txBody>
      </p:sp>
      <p:sp>
        <p:nvSpPr>
          <p:cNvPr id="46" name="Text 44"/>
          <p:cNvSpPr/>
          <p:nvPr/>
        </p:nvSpPr>
        <p:spPr>
          <a:xfrm>
            <a:off x="10378440" y="2240280"/>
            <a:ext cx="1645920" cy="4572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固化改善成果</a:t>
            </a:r>
            <a:endParaRPr lang="en-US" sz="800" dirty="0"/>
          </a:p>
          <a:p>
            <a:pPr algn="ctr" indent="0" marL="0">
              <a:buNone/>
            </a:pPr>
            <a:r>
              <a:rPr lang="en-US" sz="800" dirty="0">
                <a:solidFill>
                  <a:srgbClr val="64748B"/>
                </a:solidFill>
                <a:latin typeface="Arial" pitchFamily="34" charset="0"/>
                <a:ea typeface="Arial" pitchFamily="34" charset="-122"/>
                <a:cs typeface="Arial" pitchFamily="34" charset="-120"/>
              </a:rPr>
              <a:t>建立机制</a:t>
            </a:r>
            <a:endParaRPr lang="en-US" sz="800" dirty="0"/>
          </a:p>
        </p:txBody>
      </p:sp>
      <p:sp>
        <p:nvSpPr>
          <p:cNvPr id="47" name="Shape 45"/>
          <p:cNvSpPr/>
          <p:nvPr/>
        </p:nvSpPr>
        <p:spPr>
          <a:xfrm>
            <a:off x="457200" y="2926080"/>
            <a:ext cx="11274552" cy="2011680"/>
          </a:xfrm>
          <a:prstGeom prst="roundRect">
            <a:avLst>
              <a:gd name="adj" fmla="val 4545"/>
            </a:avLst>
          </a:prstGeom>
          <a:solidFill>
            <a:srgbClr val="1E2761"/>
          </a:solidFill>
          <a:ln/>
        </p:spPr>
        <p:txBody>
          <a:bodyPr/>
          <a:p/>
        </p:txBody>
      </p:sp>
      <p:sp>
        <p:nvSpPr>
          <p:cNvPr id="48" name="Text 46"/>
          <p:cNvSpPr/>
          <p:nvPr/>
        </p:nvSpPr>
        <p:spPr>
          <a:xfrm>
            <a:off x="731520" y="3017520"/>
            <a:ext cx="10698480"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当前状态图 vs 未来状态图</a:t>
            </a:r>
            <a:endParaRPr lang="en-US" sz="1600" dirty="0"/>
          </a:p>
        </p:txBody>
      </p:sp>
      <p:sp>
        <p:nvSpPr>
          <p:cNvPr id="49" name="Shape 47"/>
          <p:cNvSpPr/>
          <p:nvPr/>
        </p:nvSpPr>
        <p:spPr>
          <a:xfrm>
            <a:off x="731520" y="3474720"/>
            <a:ext cx="5120640" cy="1280160"/>
          </a:xfrm>
          <a:prstGeom prst="roundRect">
            <a:avLst>
              <a:gd name="adj" fmla="val 571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50" name="Shape 48"/>
          <p:cNvSpPr/>
          <p:nvPr/>
        </p:nvSpPr>
        <p:spPr>
          <a:xfrm>
            <a:off x="731520" y="3474720"/>
            <a:ext cx="5120640" cy="274320"/>
          </a:xfrm>
          <a:prstGeom prst="rect">
            <a:avLst/>
          </a:prstGeom>
          <a:solidFill>
            <a:srgbClr val="DC2626"/>
          </a:solidFill>
          <a:ln w="12700">
            <a:solidFill>
              <a:srgbClr val="DC2626"/>
            </a:solidFill>
            <a:prstDash val="solid"/>
          </a:ln>
        </p:spPr>
        <p:txBody>
          <a:bodyPr/>
          <a:p/>
        </p:txBody>
      </p:sp>
      <p:sp>
        <p:nvSpPr>
          <p:cNvPr id="51" name="Text 49"/>
          <p:cNvSpPr/>
          <p:nvPr/>
        </p:nvSpPr>
        <p:spPr>
          <a:xfrm>
            <a:off x="868680" y="3493008"/>
            <a:ext cx="4846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当前状态图 Current State</a:t>
            </a:r>
            <a:endParaRPr lang="en-US" sz="1100" dirty="0"/>
          </a:p>
        </p:txBody>
      </p:sp>
      <p:sp>
        <p:nvSpPr>
          <p:cNvPr id="52" name="Text 50"/>
          <p:cNvSpPr/>
          <p:nvPr/>
        </p:nvSpPr>
        <p:spPr>
          <a:xfrm>
            <a:off x="868680" y="3794760"/>
            <a:ext cx="484632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如实反映现有流程，暴露问题和浪费</a:t>
            </a:r>
            <a:endParaRPr lang="en-US" sz="900" dirty="0"/>
          </a:p>
        </p:txBody>
      </p:sp>
      <p:sp>
        <p:nvSpPr>
          <p:cNvPr id="53" name="Text 51"/>
          <p:cNvSpPr/>
          <p:nvPr/>
        </p:nvSpPr>
        <p:spPr>
          <a:xfrm>
            <a:off x="914400" y="4069080"/>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现场实测数据</a:t>
            </a:r>
            <a:endParaRPr lang="en-US" sz="900" dirty="0"/>
          </a:p>
        </p:txBody>
      </p:sp>
      <p:sp>
        <p:nvSpPr>
          <p:cNvPr id="54" name="Text 52"/>
          <p:cNvSpPr/>
          <p:nvPr/>
        </p:nvSpPr>
        <p:spPr>
          <a:xfrm>
            <a:off x="914400" y="4270248"/>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实际库存水平</a:t>
            </a:r>
            <a:endParaRPr lang="en-US" sz="900" dirty="0"/>
          </a:p>
        </p:txBody>
      </p:sp>
      <p:sp>
        <p:nvSpPr>
          <p:cNvPr id="55" name="Text 53"/>
          <p:cNvSpPr/>
          <p:nvPr/>
        </p:nvSpPr>
        <p:spPr>
          <a:xfrm>
            <a:off x="914400" y="4471416"/>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真实节拍时间</a:t>
            </a:r>
            <a:endParaRPr lang="en-US" sz="900" dirty="0"/>
          </a:p>
        </p:txBody>
      </p:sp>
      <p:sp>
        <p:nvSpPr>
          <p:cNvPr id="56" name="Text 54"/>
          <p:cNvSpPr/>
          <p:nvPr/>
        </p:nvSpPr>
        <p:spPr>
          <a:xfrm>
            <a:off x="914400" y="4672584"/>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现有信息流</a:t>
            </a:r>
            <a:endParaRPr lang="en-US" sz="900" dirty="0"/>
          </a:p>
        </p:txBody>
      </p:sp>
      <p:sp>
        <p:nvSpPr>
          <p:cNvPr id="57" name="Shape 55"/>
          <p:cNvSpPr/>
          <p:nvPr/>
        </p:nvSpPr>
        <p:spPr>
          <a:xfrm>
            <a:off x="6217920" y="3474720"/>
            <a:ext cx="5120640" cy="1280160"/>
          </a:xfrm>
          <a:prstGeom prst="roundRect">
            <a:avLst>
              <a:gd name="adj" fmla="val 571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58" name="Shape 56"/>
          <p:cNvSpPr/>
          <p:nvPr/>
        </p:nvSpPr>
        <p:spPr>
          <a:xfrm>
            <a:off x="6217920" y="3474720"/>
            <a:ext cx="5120640" cy="274320"/>
          </a:xfrm>
          <a:prstGeom prst="rect">
            <a:avLst/>
          </a:prstGeom>
          <a:solidFill>
            <a:srgbClr val="059669"/>
          </a:solidFill>
          <a:ln w="12700">
            <a:solidFill>
              <a:srgbClr val="059669"/>
            </a:solidFill>
            <a:prstDash val="solid"/>
          </a:ln>
        </p:spPr>
        <p:txBody>
          <a:bodyPr/>
          <a:p/>
        </p:txBody>
      </p:sp>
      <p:sp>
        <p:nvSpPr>
          <p:cNvPr id="59" name="Text 57"/>
          <p:cNvSpPr/>
          <p:nvPr/>
        </p:nvSpPr>
        <p:spPr>
          <a:xfrm>
            <a:off x="6355080" y="3493008"/>
            <a:ext cx="4846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未来状态图 Future State</a:t>
            </a:r>
            <a:endParaRPr lang="en-US" sz="1100" dirty="0"/>
          </a:p>
        </p:txBody>
      </p:sp>
      <p:sp>
        <p:nvSpPr>
          <p:cNvPr id="60" name="Text 58"/>
          <p:cNvSpPr/>
          <p:nvPr/>
        </p:nvSpPr>
        <p:spPr>
          <a:xfrm>
            <a:off x="6355080" y="3794760"/>
            <a:ext cx="484632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设计理想流程，设定改善目标和方向</a:t>
            </a:r>
            <a:endParaRPr lang="en-US" sz="900" dirty="0"/>
          </a:p>
        </p:txBody>
      </p:sp>
      <p:sp>
        <p:nvSpPr>
          <p:cNvPr id="61" name="Text 59"/>
          <p:cNvSpPr/>
          <p:nvPr/>
        </p:nvSpPr>
        <p:spPr>
          <a:xfrm>
            <a:off x="6400800" y="4069080"/>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目标节拍时间</a:t>
            </a:r>
            <a:endParaRPr lang="en-US" sz="900" dirty="0"/>
          </a:p>
        </p:txBody>
      </p:sp>
      <p:sp>
        <p:nvSpPr>
          <p:cNvPr id="62" name="Text 60"/>
          <p:cNvSpPr/>
          <p:nvPr/>
        </p:nvSpPr>
        <p:spPr>
          <a:xfrm>
            <a:off x="6400800" y="4270248"/>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目标库存水平</a:t>
            </a:r>
            <a:endParaRPr lang="en-US" sz="900" dirty="0"/>
          </a:p>
        </p:txBody>
      </p:sp>
      <p:sp>
        <p:nvSpPr>
          <p:cNvPr id="63" name="Text 61"/>
          <p:cNvSpPr/>
          <p:nvPr/>
        </p:nvSpPr>
        <p:spPr>
          <a:xfrm>
            <a:off x="6400800" y="4471416"/>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拉动式生产</a:t>
            </a:r>
            <a:endParaRPr lang="en-US" sz="900" dirty="0"/>
          </a:p>
        </p:txBody>
      </p:sp>
      <p:sp>
        <p:nvSpPr>
          <p:cNvPr id="64" name="Text 62"/>
          <p:cNvSpPr/>
          <p:nvPr/>
        </p:nvSpPr>
        <p:spPr>
          <a:xfrm>
            <a:off x="6400800" y="4672584"/>
            <a:ext cx="475488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 连续流设计</a:t>
            </a:r>
            <a:endParaRPr lang="en-US" sz="900" dirty="0"/>
          </a:p>
        </p:txBody>
      </p:sp>
      <p:sp>
        <p:nvSpPr>
          <p:cNvPr id="65" name="Shape 63"/>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66" name="Text 64"/>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VSM不是一次性项目，而是持续改善的循环 | 建议每年至少更新一次</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VSM 当前状态图</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Current State Map</a:t>
            </a:r>
            <a:endParaRPr lang="en-US" sz="1400" dirty="0"/>
          </a:p>
        </p:txBody>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当前状态图绘制要素 — 以产品生产为例</a:t>
            </a:r>
            <a:endParaRPr lang="en-US" sz="1600" dirty="0"/>
          </a:p>
        </p:txBody>
      </p:sp>
      <p:sp>
        <p:nvSpPr>
          <p:cNvPr id="8" name="Shape 6"/>
          <p:cNvSpPr/>
          <p:nvPr/>
        </p:nvSpPr>
        <p:spPr>
          <a:xfrm>
            <a:off x="365760" y="1554480"/>
            <a:ext cx="1737360" cy="1371600"/>
          </a:xfrm>
          <a:prstGeom prst="rect">
            <a:avLst/>
          </a:prstGeom>
          <a:solidFill>
            <a:srgbClr val="FFFFFF"/>
          </a:solidFill>
          <a:ln w="12700">
            <a:solidFill>
              <a:srgbClr val="1E2761"/>
            </a:solidFill>
            <a:prstDash val="solid"/>
          </a:ln>
        </p:spPr>
        <p:txBody>
          <a:bodyPr/>
          <a:p/>
        </p:txBody>
      </p:sp>
      <p:sp>
        <p:nvSpPr>
          <p:cNvPr id="9" name="Text 7"/>
          <p:cNvSpPr/>
          <p:nvPr/>
        </p:nvSpPr>
        <p:spPr>
          <a:xfrm>
            <a:off x="36576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机加工</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Machining</a:t>
            </a:r>
            <a:endParaRPr lang="en-US" sz="1000" dirty="0"/>
          </a:p>
        </p:txBody>
      </p:sp>
      <p:sp>
        <p:nvSpPr>
          <p:cNvPr id="10" name="Shape 8"/>
          <p:cNvSpPr/>
          <p:nvPr/>
        </p:nvSpPr>
        <p:spPr>
          <a:xfrm>
            <a:off x="365760" y="1965960"/>
            <a:ext cx="1737360" cy="36576"/>
          </a:xfrm>
          <a:prstGeom prst="rect">
            <a:avLst/>
          </a:prstGeom>
          <a:solidFill>
            <a:srgbClr val="1E2761"/>
          </a:solidFill>
          <a:ln w="12700">
            <a:solidFill>
              <a:srgbClr val="1E2761"/>
            </a:solidFill>
            <a:prstDash val="solid"/>
          </a:ln>
        </p:spPr>
        <p:txBody>
          <a:bodyPr/>
          <a:p/>
        </p:txBody>
      </p:sp>
      <p:sp>
        <p:nvSpPr>
          <p:cNvPr id="11" name="Text 9"/>
          <p:cNvSpPr/>
          <p:nvPr/>
        </p:nvSpPr>
        <p:spPr>
          <a:xfrm>
            <a:off x="36576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CT=2.5min</a:t>
            </a:r>
            <a:endParaRPr lang="en-US" sz="900" dirty="0"/>
          </a:p>
        </p:txBody>
      </p:sp>
      <p:sp>
        <p:nvSpPr>
          <p:cNvPr id="12" name="Text 10"/>
          <p:cNvSpPr/>
          <p:nvPr/>
        </p:nvSpPr>
        <p:spPr>
          <a:xfrm>
            <a:off x="36576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UP=85%</a:t>
            </a:r>
            <a:endParaRPr lang="en-US" sz="900" dirty="0"/>
          </a:p>
        </p:txBody>
      </p:sp>
      <p:sp>
        <p:nvSpPr>
          <p:cNvPr id="13" name="Text 11"/>
          <p:cNvSpPr/>
          <p:nvPr/>
        </p:nvSpPr>
        <p:spPr>
          <a:xfrm>
            <a:off x="36576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Batch=2000</a:t>
            </a:r>
            <a:endParaRPr lang="en-US" sz="800" dirty="0"/>
          </a:p>
        </p:txBody>
      </p:sp>
      <p:sp>
        <p:nvSpPr>
          <p:cNvPr id="14" name="Shape 12"/>
          <p:cNvSpPr/>
          <p:nvPr/>
        </p:nvSpPr>
        <p:spPr>
          <a:xfrm>
            <a:off x="2148840" y="1664208"/>
            <a:ext cx="182880" cy="274320"/>
          </a:xfrm>
          <a:prstGeom prst="diamond">
            <a:avLst/>
          </a:prstGeom>
          <a:solidFill>
            <a:srgbClr val="D97706"/>
          </a:solidFill>
          <a:ln w="12700">
            <a:solidFill>
              <a:srgbClr val="D97706"/>
            </a:solidFill>
            <a:prstDash val="solid"/>
          </a:ln>
        </p:spPr>
        <p:txBody>
          <a:bodyPr/>
          <a:p/>
        </p:txBody>
      </p:sp>
      <p:sp>
        <p:nvSpPr>
          <p:cNvPr id="15" name="Text 13"/>
          <p:cNvSpPr/>
          <p:nvPr/>
        </p:nvSpPr>
        <p:spPr>
          <a:xfrm>
            <a:off x="2130552" y="1975104"/>
            <a:ext cx="237744" cy="27432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500</a:t>
            </a:r>
            <a:endParaRPr lang="en-US" sz="700" dirty="0"/>
          </a:p>
        </p:txBody>
      </p:sp>
      <p:sp>
        <p:nvSpPr>
          <p:cNvPr id="16" name="Shape 14"/>
          <p:cNvSpPr/>
          <p:nvPr/>
        </p:nvSpPr>
        <p:spPr>
          <a:xfrm>
            <a:off x="2331720" y="2423160"/>
            <a:ext cx="109728" cy="182880"/>
          </a:xfrm>
          <a:prstGeom prst="rightArrow">
            <a:avLst/>
          </a:prstGeom>
          <a:solidFill>
            <a:srgbClr val="DC2626"/>
          </a:solidFill>
          <a:ln w="12700">
            <a:solidFill>
              <a:srgbClr val="DC2626"/>
            </a:solidFill>
            <a:prstDash val="solid"/>
          </a:ln>
        </p:spPr>
        <p:txBody>
          <a:bodyPr/>
          <a:p/>
        </p:txBody>
      </p:sp>
      <p:sp>
        <p:nvSpPr>
          <p:cNvPr id="17" name="Text 15"/>
          <p:cNvSpPr/>
          <p:nvPr/>
        </p:nvSpPr>
        <p:spPr>
          <a:xfrm>
            <a:off x="2304288" y="2606040"/>
            <a:ext cx="182880" cy="182880"/>
          </a:xfrm>
          <a:prstGeom prst="rect">
            <a:avLst/>
          </a:prstGeom>
          <a:noFill/>
          <a:ln/>
        </p:spPr>
        <p:txBody>
          <a:bodyPr wrap="square" rtlCol="0" anchor="ctr"/>
          <a:lstStyle/>
          <a:p>
            <a:pPr algn="ctr" indent="0" marL="0">
              <a:buNone/>
            </a:pPr>
            <a:r>
              <a:rPr lang="en-US" sz="700" dirty="0">
                <a:solidFill>
                  <a:srgbClr val="DC2626"/>
                </a:solidFill>
                <a:latin typeface="Arial" pitchFamily="34" charset="0"/>
                <a:ea typeface="Arial" pitchFamily="34" charset="-122"/>
                <a:cs typeface="Arial" pitchFamily="34" charset="-120"/>
              </a:rPr>
              <a:t>推</a:t>
            </a:r>
            <a:endParaRPr lang="en-US" sz="700" dirty="0"/>
          </a:p>
        </p:txBody>
      </p:sp>
      <p:sp>
        <p:nvSpPr>
          <p:cNvPr id="18" name="Shape 16"/>
          <p:cNvSpPr/>
          <p:nvPr/>
        </p:nvSpPr>
        <p:spPr>
          <a:xfrm>
            <a:off x="2286000" y="1554480"/>
            <a:ext cx="1737360" cy="1371600"/>
          </a:xfrm>
          <a:prstGeom prst="rect">
            <a:avLst/>
          </a:prstGeom>
          <a:solidFill>
            <a:srgbClr val="FFFFFF"/>
          </a:solidFill>
          <a:ln w="12700">
            <a:solidFill>
              <a:srgbClr val="1E2761"/>
            </a:solidFill>
            <a:prstDash val="solid"/>
          </a:ln>
        </p:spPr>
        <p:txBody>
          <a:bodyPr/>
          <a:p/>
        </p:txBody>
      </p:sp>
      <p:sp>
        <p:nvSpPr>
          <p:cNvPr id="19" name="Text 17"/>
          <p:cNvSpPr/>
          <p:nvPr/>
        </p:nvSpPr>
        <p:spPr>
          <a:xfrm>
            <a:off x="228600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精加工</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Precision Machining</a:t>
            </a:r>
            <a:endParaRPr lang="en-US" sz="1000" dirty="0"/>
          </a:p>
        </p:txBody>
      </p:sp>
      <p:sp>
        <p:nvSpPr>
          <p:cNvPr id="20" name="Shape 18"/>
          <p:cNvSpPr/>
          <p:nvPr/>
        </p:nvSpPr>
        <p:spPr>
          <a:xfrm>
            <a:off x="2286000" y="1965960"/>
            <a:ext cx="1737360" cy="36576"/>
          </a:xfrm>
          <a:prstGeom prst="rect">
            <a:avLst/>
          </a:prstGeom>
          <a:solidFill>
            <a:srgbClr val="1E2761"/>
          </a:solidFill>
          <a:ln w="12700">
            <a:solidFill>
              <a:srgbClr val="1E2761"/>
            </a:solidFill>
            <a:prstDash val="solid"/>
          </a:ln>
        </p:spPr>
        <p:txBody>
          <a:bodyPr/>
          <a:p/>
        </p:txBody>
      </p:sp>
      <p:sp>
        <p:nvSpPr>
          <p:cNvPr id="21" name="Text 19"/>
          <p:cNvSpPr/>
          <p:nvPr/>
        </p:nvSpPr>
        <p:spPr>
          <a:xfrm>
            <a:off x="228600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CT=1.8min</a:t>
            </a:r>
            <a:endParaRPr lang="en-US" sz="900" dirty="0"/>
          </a:p>
        </p:txBody>
      </p:sp>
      <p:sp>
        <p:nvSpPr>
          <p:cNvPr id="22" name="Text 20"/>
          <p:cNvSpPr/>
          <p:nvPr/>
        </p:nvSpPr>
        <p:spPr>
          <a:xfrm>
            <a:off x="228600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UP=90%</a:t>
            </a:r>
            <a:endParaRPr lang="en-US" sz="900" dirty="0"/>
          </a:p>
        </p:txBody>
      </p:sp>
      <p:sp>
        <p:nvSpPr>
          <p:cNvPr id="23" name="Text 21"/>
          <p:cNvSpPr/>
          <p:nvPr/>
        </p:nvSpPr>
        <p:spPr>
          <a:xfrm>
            <a:off x="228600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Batch=2500</a:t>
            </a:r>
            <a:endParaRPr lang="en-US" sz="800" dirty="0"/>
          </a:p>
        </p:txBody>
      </p:sp>
      <p:sp>
        <p:nvSpPr>
          <p:cNvPr id="24" name="Shape 22"/>
          <p:cNvSpPr/>
          <p:nvPr/>
        </p:nvSpPr>
        <p:spPr>
          <a:xfrm>
            <a:off x="4069080" y="1664208"/>
            <a:ext cx="182880" cy="274320"/>
          </a:xfrm>
          <a:prstGeom prst="diamond">
            <a:avLst/>
          </a:prstGeom>
          <a:solidFill>
            <a:srgbClr val="D97706"/>
          </a:solidFill>
          <a:ln w="12700">
            <a:solidFill>
              <a:srgbClr val="D97706"/>
            </a:solidFill>
            <a:prstDash val="solid"/>
          </a:ln>
        </p:spPr>
        <p:txBody>
          <a:bodyPr/>
          <a:p/>
        </p:txBody>
      </p:sp>
      <p:sp>
        <p:nvSpPr>
          <p:cNvPr id="25" name="Text 23"/>
          <p:cNvSpPr/>
          <p:nvPr/>
        </p:nvSpPr>
        <p:spPr>
          <a:xfrm>
            <a:off x="4050792" y="1975104"/>
            <a:ext cx="237744" cy="27432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700</a:t>
            </a:r>
            <a:endParaRPr lang="en-US" sz="700" dirty="0"/>
          </a:p>
        </p:txBody>
      </p:sp>
      <p:sp>
        <p:nvSpPr>
          <p:cNvPr id="26" name="Shape 24"/>
          <p:cNvSpPr/>
          <p:nvPr/>
        </p:nvSpPr>
        <p:spPr>
          <a:xfrm>
            <a:off x="4251960" y="2423160"/>
            <a:ext cx="109728" cy="182880"/>
          </a:xfrm>
          <a:prstGeom prst="rightArrow">
            <a:avLst/>
          </a:prstGeom>
          <a:solidFill>
            <a:srgbClr val="DC2626"/>
          </a:solidFill>
          <a:ln w="12700">
            <a:solidFill>
              <a:srgbClr val="DC2626"/>
            </a:solidFill>
            <a:prstDash val="solid"/>
          </a:ln>
        </p:spPr>
        <p:txBody>
          <a:bodyPr/>
          <a:p/>
        </p:txBody>
      </p:sp>
      <p:sp>
        <p:nvSpPr>
          <p:cNvPr id="27" name="Text 25"/>
          <p:cNvSpPr/>
          <p:nvPr/>
        </p:nvSpPr>
        <p:spPr>
          <a:xfrm>
            <a:off x="4224528" y="2606040"/>
            <a:ext cx="182880" cy="182880"/>
          </a:xfrm>
          <a:prstGeom prst="rect">
            <a:avLst/>
          </a:prstGeom>
          <a:noFill/>
          <a:ln/>
        </p:spPr>
        <p:txBody>
          <a:bodyPr wrap="square" rtlCol="0" anchor="ctr"/>
          <a:lstStyle/>
          <a:p>
            <a:pPr algn="ctr" indent="0" marL="0">
              <a:buNone/>
            </a:pPr>
            <a:r>
              <a:rPr lang="en-US" sz="700" dirty="0">
                <a:solidFill>
                  <a:srgbClr val="DC2626"/>
                </a:solidFill>
                <a:latin typeface="Arial" pitchFamily="34" charset="0"/>
                <a:ea typeface="Arial" pitchFamily="34" charset="-122"/>
                <a:cs typeface="Arial" pitchFamily="34" charset="-120"/>
              </a:rPr>
              <a:t>推</a:t>
            </a:r>
            <a:endParaRPr lang="en-US" sz="700" dirty="0"/>
          </a:p>
        </p:txBody>
      </p:sp>
      <p:sp>
        <p:nvSpPr>
          <p:cNvPr id="28" name="Shape 26"/>
          <p:cNvSpPr/>
          <p:nvPr/>
        </p:nvSpPr>
        <p:spPr>
          <a:xfrm>
            <a:off x="4206240" y="1554480"/>
            <a:ext cx="1737360" cy="1371600"/>
          </a:xfrm>
          <a:prstGeom prst="rect">
            <a:avLst/>
          </a:prstGeom>
          <a:solidFill>
            <a:srgbClr val="FFFFFF"/>
          </a:solidFill>
          <a:ln w="12700">
            <a:solidFill>
              <a:srgbClr val="1E2761"/>
            </a:solidFill>
            <a:prstDash val="solid"/>
          </a:ln>
        </p:spPr>
        <p:txBody>
          <a:bodyPr/>
          <a:p/>
        </p:txBody>
      </p:sp>
      <p:sp>
        <p:nvSpPr>
          <p:cNvPr id="29" name="Text 27"/>
          <p:cNvSpPr/>
          <p:nvPr/>
        </p:nvSpPr>
        <p:spPr>
          <a:xfrm>
            <a:off x="420624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热处理</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Heat Treat.</a:t>
            </a:r>
            <a:endParaRPr lang="en-US" sz="1000" dirty="0"/>
          </a:p>
        </p:txBody>
      </p:sp>
      <p:sp>
        <p:nvSpPr>
          <p:cNvPr id="30" name="Shape 28"/>
          <p:cNvSpPr/>
          <p:nvPr/>
        </p:nvSpPr>
        <p:spPr>
          <a:xfrm>
            <a:off x="4206240" y="1965960"/>
            <a:ext cx="1737360" cy="36576"/>
          </a:xfrm>
          <a:prstGeom prst="rect">
            <a:avLst/>
          </a:prstGeom>
          <a:solidFill>
            <a:srgbClr val="1E2761"/>
          </a:solidFill>
          <a:ln w="12700">
            <a:solidFill>
              <a:srgbClr val="1E2761"/>
            </a:solidFill>
            <a:prstDash val="solid"/>
          </a:ln>
        </p:spPr>
        <p:txBody>
          <a:bodyPr/>
          <a:p/>
        </p:txBody>
      </p:sp>
      <p:sp>
        <p:nvSpPr>
          <p:cNvPr id="31" name="Text 29"/>
          <p:cNvSpPr/>
          <p:nvPr/>
        </p:nvSpPr>
        <p:spPr>
          <a:xfrm>
            <a:off x="420624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CT=45min</a:t>
            </a:r>
            <a:endParaRPr lang="en-US" sz="900" dirty="0"/>
          </a:p>
        </p:txBody>
      </p:sp>
      <p:sp>
        <p:nvSpPr>
          <p:cNvPr id="32" name="Text 30"/>
          <p:cNvSpPr/>
          <p:nvPr/>
        </p:nvSpPr>
        <p:spPr>
          <a:xfrm>
            <a:off x="420624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UP=75%</a:t>
            </a:r>
            <a:endParaRPr lang="en-US" sz="900" dirty="0"/>
          </a:p>
        </p:txBody>
      </p:sp>
      <p:sp>
        <p:nvSpPr>
          <p:cNvPr id="33" name="Text 31"/>
          <p:cNvSpPr/>
          <p:nvPr/>
        </p:nvSpPr>
        <p:spPr>
          <a:xfrm>
            <a:off x="420624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Batch=500</a:t>
            </a:r>
            <a:endParaRPr lang="en-US" sz="800" dirty="0"/>
          </a:p>
        </p:txBody>
      </p:sp>
      <p:sp>
        <p:nvSpPr>
          <p:cNvPr id="34" name="Shape 32"/>
          <p:cNvSpPr/>
          <p:nvPr/>
        </p:nvSpPr>
        <p:spPr>
          <a:xfrm>
            <a:off x="5989320" y="1664208"/>
            <a:ext cx="182880" cy="274320"/>
          </a:xfrm>
          <a:prstGeom prst="diamond">
            <a:avLst/>
          </a:prstGeom>
          <a:solidFill>
            <a:srgbClr val="D97706"/>
          </a:solidFill>
          <a:ln w="12700">
            <a:solidFill>
              <a:srgbClr val="D97706"/>
            </a:solidFill>
            <a:prstDash val="solid"/>
          </a:ln>
        </p:spPr>
        <p:txBody>
          <a:bodyPr/>
          <a:p/>
        </p:txBody>
      </p:sp>
      <p:sp>
        <p:nvSpPr>
          <p:cNvPr id="35" name="Text 33"/>
          <p:cNvSpPr/>
          <p:nvPr/>
        </p:nvSpPr>
        <p:spPr>
          <a:xfrm>
            <a:off x="5971032" y="1975104"/>
            <a:ext cx="237744" cy="27432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900</a:t>
            </a:r>
            <a:endParaRPr lang="en-US" sz="700" dirty="0"/>
          </a:p>
        </p:txBody>
      </p:sp>
      <p:sp>
        <p:nvSpPr>
          <p:cNvPr id="36" name="Shape 34"/>
          <p:cNvSpPr/>
          <p:nvPr/>
        </p:nvSpPr>
        <p:spPr>
          <a:xfrm>
            <a:off x="6172200" y="2423160"/>
            <a:ext cx="109728" cy="182880"/>
          </a:xfrm>
          <a:prstGeom prst="rightArrow">
            <a:avLst/>
          </a:prstGeom>
          <a:solidFill>
            <a:srgbClr val="DC2626"/>
          </a:solidFill>
          <a:ln w="12700">
            <a:solidFill>
              <a:srgbClr val="DC2626"/>
            </a:solidFill>
            <a:prstDash val="solid"/>
          </a:ln>
        </p:spPr>
        <p:txBody>
          <a:bodyPr/>
          <a:p/>
        </p:txBody>
      </p:sp>
      <p:sp>
        <p:nvSpPr>
          <p:cNvPr id="37" name="Text 35"/>
          <p:cNvSpPr/>
          <p:nvPr/>
        </p:nvSpPr>
        <p:spPr>
          <a:xfrm>
            <a:off x="6144768" y="2606040"/>
            <a:ext cx="182880" cy="182880"/>
          </a:xfrm>
          <a:prstGeom prst="rect">
            <a:avLst/>
          </a:prstGeom>
          <a:noFill/>
          <a:ln/>
        </p:spPr>
        <p:txBody>
          <a:bodyPr wrap="square" rtlCol="0" anchor="ctr"/>
          <a:lstStyle/>
          <a:p>
            <a:pPr algn="ctr" indent="0" marL="0">
              <a:buNone/>
            </a:pPr>
            <a:r>
              <a:rPr lang="en-US" sz="700" dirty="0">
                <a:solidFill>
                  <a:srgbClr val="DC2626"/>
                </a:solidFill>
                <a:latin typeface="Arial" pitchFamily="34" charset="0"/>
                <a:ea typeface="Arial" pitchFamily="34" charset="-122"/>
                <a:cs typeface="Arial" pitchFamily="34" charset="-120"/>
              </a:rPr>
              <a:t>推</a:t>
            </a:r>
            <a:endParaRPr lang="en-US" sz="700" dirty="0"/>
          </a:p>
        </p:txBody>
      </p:sp>
      <p:sp>
        <p:nvSpPr>
          <p:cNvPr id="38" name="Shape 36"/>
          <p:cNvSpPr/>
          <p:nvPr/>
        </p:nvSpPr>
        <p:spPr>
          <a:xfrm>
            <a:off x="6126480" y="1554480"/>
            <a:ext cx="1737360" cy="1371600"/>
          </a:xfrm>
          <a:prstGeom prst="rect">
            <a:avLst/>
          </a:prstGeom>
          <a:solidFill>
            <a:srgbClr val="FFFFFF"/>
          </a:solidFill>
          <a:ln w="12700">
            <a:solidFill>
              <a:srgbClr val="1E2761"/>
            </a:solidFill>
            <a:prstDash val="solid"/>
          </a:ln>
        </p:spPr>
        <p:txBody>
          <a:bodyPr/>
          <a:p/>
        </p:txBody>
      </p:sp>
      <p:sp>
        <p:nvSpPr>
          <p:cNvPr id="39" name="Text 37"/>
          <p:cNvSpPr/>
          <p:nvPr/>
        </p:nvSpPr>
        <p:spPr>
          <a:xfrm>
            <a:off x="612648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表面处理</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Surface Tr.</a:t>
            </a:r>
            <a:endParaRPr lang="en-US" sz="1000" dirty="0"/>
          </a:p>
        </p:txBody>
      </p:sp>
      <p:sp>
        <p:nvSpPr>
          <p:cNvPr id="40" name="Shape 38"/>
          <p:cNvSpPr/>
          <p:nvPr/>
        </p:nvSpPr>
        <p:spPr>
          <a:xfrm>
            <a:off x="6126480" y="1965960"/>
            <a:ext cx="1737360" cy="36576"/>
          </a:xfrm>
          <a:prstGeom prst="rect">
            <a:avLst/>
          </a:prstGeom>
          <a:solidFill>
            <a:srgbClr val="1E2761"/>
          </a:solidFill>
          <a:ln w="12700">
            <a:solidFill>
              <a:srgbClr val="1E2761"/>
            </a:solidFill>
            <a:prstDash val="solid"/>
          </a:ln>
        </p:spPr>
        <p:txBody>
          <a:bodyPr/>
          <a:p/>
        </p:txBody>
      </p:sp>
      <p:sp>
        <p:nvSpPr>
          <p:cNvPr id="41" name="Text 39"/>
          <p:cNvSpPr/>
          <p:nvPr/>
        </p:nvSpPr>
        <p:spPr>
          <a:xfrm>
            <a:off x="612648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CT=30min</a:t>
            </a:r>
            <a:endParaRPr lang="en-US" sz="900" dirty="0"/>
          </a:p>
        </p:txBody>
      </p:sp>
      <p:sp>
        <p:nvSpPr>
          <p:cNvPr id="42" name="Text 40"/>
          <p:cNvSpPr/>
          <p:nvPr/>
        </p:nvSpPr>
        <p:spPr>
          <a:xfrm>
            <a:off x="612648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UP=80%</a:t>
            </a:r>
            <a:endParaRPr lang="en-US" sz="900" dirty="0"/>
          </a:p>
        </p:txBody>
      </p:sp>
      <p:sp>
        <p:nvSpPr>
          <p:cNvPr id="43" name="Text 41"/>
          <p:cNvSpPr/>
          <p:nvPr/>
        </p:nvSpPr>
        <p:spPr>
          <a:xfrm>
            <a:off x="612648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Batch=800</a:t>
            </a:r>
            <a:endParaRPr lang="en-US" sz="800" dirty="0"/>
          </a:p>
        </p:txBody>
      </p:sp>
      <p:sp>
        <p:nvSpPr>
          <p:cNvPr id="44" name="Shape 42"/>
          <p:cNvSpPr/>
          <p:nvPr/>
        </p:nvSpPr>
        <p:spPr>
          <a:xfrm>
            <a:off x="7909560" y="1664208"/>
            <a:ext cx="182880" cy="274320"/>
          </a:xfrm>
          <a:prstGeom prst="diamond">
            <a:avLst/>
          </a:prstGeom>
          <a:solidFill>
            <a:srgbClr val="D97706"/>
          </a:solidFill>
          <a:ln w="12700">
            <a:solidFill>
              <a:srgbClr val="D97706"/>
            </a:solidFill>
            <a:prstDash val="solid"/>
          </a:ln>
        </p:spPr>
        <p:txBody>
          <a:bodyPr/>
          <a:p/>
        </p:txBody>
      </p:sp>
      <p:sp>
        <p:nvSpPr>
          <p:cNvPr id="45" name="Text 43"/>
          <p:cNvSpPr/>
          <p:nvPr/>
        </p:nvSpPr>
        <p:spPr>
          <a:xfrm>
            <a:off x="7891272" y="1975104"/>
            <a:ext cx="237744" cy="27432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1100</a:t>
            </a:r>
            <a:endParaRPr lang="en-US" sz="700" dirty="0"/>
          </a:p>
        </p:txBody>
      </p:sp>
      <p:sp>
        <p:nvSpPr>
          <p:cNvPr id="46" name="Shape 44"/>
          <p:cNvSpPr/>
          <p:nvPr/>
        </p:nvSpPr>
        <p:spPr>
          <a:xfrm>
            <a:off x="8092440" y="2423160"/>
            <a:ext cx="109728" cy="182880"/>
          </a:xfrm>
          <a:prstGeom prst="rightArrow">
            <a:avLst/>
          </a:prstGeom>
          <a:solidFill>
            <a:srgbClr val="DC2626"/>
          </a:solidFill>
          <a:ln w="12700">
            <a:solidFill>
              <a:srgbClr val="DC2626"/>
            </a:solidFill>
            <a:prstDash val="solid"/>
          </a:ln>
        </p:spPr>
        <p:txBody>
          <a:bodyPr/>
          <a:p/>
        </p:txBody>
      </p:sp>
      <p:sp>
        <p:nvSpPr>
          <p:cNvPr id="47" name="Text 45"/>
          <p:cNvSpPr/>
          <p:nvPr/>
        </p:nvSpPr>
        <p:spPr>
          <a:xfrm>
            <a:off x="8065008" y="2606040"/>
            <a:ext cx="182880" cy="182880"/>
          </a:xfrm>
          <a:prstGeom prst="rect">
            <a:avLst/>
          </a:prstGeom>
          <a:noFill/>
          <a:ln/>
        </p:spPr>
        <p:txBody>
          <a:bodyPr wrap="square" rtlCol="0" anchor="ctr"/>
          <a:lstStyle/>
          <a:p>
            <a:pPr algn="ctr" indent="0" marL="0">
              <a:buNone/>
            </a:pPr>
            <a:r>
              <a:rPr lang="en-US" sz="700" dirty="0">
                <a:solidFill>
                  <a:srgbClr val="DC2626"/>
                </a:solidFill>
                <a:latin typeface="Arial" pitchFamily="34" charset="0"/>
                <a:ea typeface="Arial" pitchFamily="34" charset="-122"/>
                <a:cs typeface="Arial" pitchFamily="34" charset="-120"/>
              </a:rPr>
              <a:t>推</a:t>
            </a:r>
            <a:endParaRPr lang="en-US" sz="700" dirty="0"/>
          </a:p>
        </p:txBody>
      </p:sp>
      <p:sp>
        <p:nvSpPr>
          <p:cNvPr id="48" name="Shape 46"/>
          <p:cNvSpPr/>
          <p:nvPr/>
        </p:nvSpPr>
        <p:spPr>
          <a:xfrm>
            <a:off x="8046720" y="1554480"/>
            <a:ext cx="1737360" cy="1371600"/>
          </a:xfrm>
          <a:prstGeom prst="rect">
            <a:avLst/>
          </a:prstGeom>
          <a:solidFill>
            <a:srgbClr val="FFFFFF"/>
          </a:solidFill>
          <a:ln w="12700">
            <a:solidFill>
              <a:srgbClr val="1E2761"/>
            </a:solidFill>
            <a:prstDash val="solid"/>
          </a:ln>
        </p:spPr>
        <p:txBody>
          <a:bodyPr/>
          <a:p/>
        </p:txBody>
      </p:sp>
      <p:sp>
        <p:nvSpPr>
          <p:cNvPr id="49" name="Text 47"/>
          <p:cNvSpPr/>
          <p:nvPr/>
        </p:nvSpPr>
        <p:spPr>
          <a:xfrm>
            <a:off x="804672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装配</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Inspection</a:t>
            </a:r>
            <a:endParaRPr lang="en-US" sz="1000" dirty="0"/>
          </a:p>
        </p:txBody>
      </p:sp>
      <p:sp>
        <p:nvSpPr>
          <p:cNvPr id="50" name="Shape 48"/>
          <p:cNvSpPr/>
          <p:nvPr/>
        </p:nvSpPr>
        <p:spPr>
          <a:xfrm>
            <a:off x="8046720" y="1965960"/>
            <a:ext cx="1737360" cy="36576"/>
          </a:xfrm>
          <a:prstGeom prst="rect">
            <a:avLst/>
          </a:prstGeom>
          <a:solidFill>
            <a:srgbClr val="1E2761"/>
          </a:solidFill>
          <a:ln w="12700">
            <a:solidFill>
              <a:srgbClr val="1E2761"/>
            </a:solidFill>
            <a:prstDash val="solid"/>
          </a:ln>
        </p:spPr>
        <p:txBody>
          <a:bodyPr/>
          <a:p/>
        </p:txBody>
      </p:sp>
      <p:sp>
        <p:nvSpPr>
          <p:cNvPr id="51" name="Text 49"/>
          <p:cNvSpPr/>
          <p:nvPr/>
        </p:nvSpPr>
        <p:spPr>
          <a:xfrm>
            <a:off x="804672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CT=0.5min</a:t>
            </a:r>
            <a:endParaRPr lang="en-US" sz="900" dirty="0"/>
          </a:p>
        </p:txBody>
      </p:sp>
      <p:sp>
        <p:nvSpPr>
          <p:cNvPr id="52" name="Text 50"/>
          <p:cNvSpPr/>
          <p:nvPr/>
        </p:nvSpPr>
        <p:spPr>
          <a:xfrm>
            <a:off x="804672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UP=95%</a:t>
            </a:r>
            <a:endParaRPr lang="en-US" sz="900" dirty="0"/>
          </a:p>
        </p:txBody>
      </p:sp>
      <p:sp>
        <p:nvSpPr>
          <p:cNvPr id="53" name="Text 51"/>
          <p:cNvSpPr/>
          <p:nvPr/>
        </p:nvSpPr>
        <p:spPr>
          <a:xfrm>
            <a:off x="804672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Batch=3000</a:t>
            </a:r>
            <a:endParaRPr lang="en-US" sz="800" dirty="0"/>
          </a:p>
        </p:txBody>
      </p:sp>
      <p:sp>
        <p:nvSpPr>
          <p:cNvPr id="54" name="Shape 52"/>
          <p:cNvSpPr/>
          <p:nvPr/>
        </p:nvSpPr>
        <p:spPr>
          <a:xfrm>
            <a:off x="9829800" y="1664208"/>
            <a:ext cx="182880" cy="274320"/>
          </a:xfrm>
          <a:prstGeom prst="diamond">
            <a:avLst/>
          </a:prstGeom>
          <a:solidFill>
            <a:srgbClr val="D97706"/>
          </a:solidFill>
          <a:ln w="12700">
            <a:solidFill>
              <a:srgbClr val="D97706"/>
            </a:solidFill>
            <a:prstDash val="solid"/>
          </a:ln>
        </p:spPr>
        <p:txBody>
          <a:bodyPr/>
          <a:p/>
        </p:txBody>
      </p:sp>
      <p:sp>
        <p:nvSpPr>
          <p:cNvPr id="55" name="Text 53"/>
          <p:cNvSpPr/>
          <p:nvPr/>
        </p:nvSpPr>
        <p:spPr>
          <a:xfrm>
            <a:off x="9811512" y="1975104"/>
            <a:ext cx="237744" cy="27432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1300</a:t>
            </a:r>
            <a:endParaRPr lang="en-US" sz="700" dirty="0"/>
          </a:p>
        </p:txBody>
      </p:sp>
      <p:sp>
        <p:nvSpPr>
          <p:cNvPr id="56" name="Shape 54"/>
          <p:cNvSpPr/>
          <p:nvPr/>
        </p:nvSpPr>
        <p:spPr>
          <a:xfrm>
            <a:off x="10012680" y="2423160"/>
            <a:ext cx="109728" cy="182880"/>
          </a:xfrm>
          <a:prstGeom prst="rightArrow">
            <a:avLst/>
          </a:prstGeom>
          <a:solidFill>
            <a:srgbClr val="DC2626"/>
          </a:solidFill>
          <a:ln w="12700">
            <a:solidFill>
              <a:srgbClr val="DC2626"/>
            </a:solidFill>
            <a:prstDash val="solid"/>
          </a:ln>
        </p:spPr>
        <p:txBody>
          <a:bodyPr/>
          <a:p/>
        </p:txBody>
      </p:sp>
      <p:sp>
        <p:nvSpPr>
          <p:cNvPr id="57" name="Text 55"/>
          <p:cNvSpPr/>
          <p:nvPr/>
        </p:nvSpPr>
        <p:spPr>
          <a:xfrm>
            <a:off x="9985248" y="2606040"/>
            <a:ext cx="182880" cy="182880"/>
          </a:xfrm>
          <a:prstGeom prst="rect">
            <a:avLst/>
          </a:prstGeom>
          <a:noFill/>
          <a:ln/>
        </p:spPr>
        <p:txBody>
          <a:bodyPr wrap="square" rtlCol="0" anchor="ctr"/>
          <a:lstStyle/>
          <a:p>
            <a:pPr algn="ctr" indent="0" marL="0">
              <a:buNone/>
            </a:pPr>
            <a:r>
              <a:rPr lang="en-US" sz="700" dirty="0">
                <a:solidFill>
                  <a:srgbClr val="DC2626"/>
                </a:solidFill>
                <a:latin typeface="Arial" pitchFamily="34" charset="0"/>
                <a:ea typeface="Arial" pitchFamily="34" charset="-122"/>
                <a:cs typeface="Arial" pitchFamily="34" charset="-120"/>
              </a:rPr>
              <a:t>推</a:t>
            </a:r>
            <a:endParaRPr lang="en-US" sz="700" dirty="0"/>
          </a:p>
        </p:txBody>
      </p:sp>
      <p:sp>
        <p:nvSpPr>
          <p:cNvPr id="58" name="Shape 56"/>
          <p:cNvSpPr/>
          <p:nvPr/>
        </p:nvSpPr>
        <p:spPr>
          <a:xfrm>
            <a:off x="9966960" y="1554480"/>
            <a:ext cx="1737360" cy="1371600"/>
          </a:xfrm>
          <a:prstGeom prst="rect">
            <a:avLst/>
          </a:prstGeom>
          <a:solidFill>
            <a:srgbClr val="FFFFFF"/>
          </a:solidFill>
          <a:ln w="12700">
            <a:solidFill>
              <a:srgbClr val="1E2761"/>
            </a:solidFill>
            <a:prstDash val="solid"/>
          </a:ln>
        </p:spPr>
        <p:txBody>
          <a:bodyPr/>
          <a:p/>
        </p:txBody>
      </p:sp>
      <p:sp>
        <p:nvSpPr>
          <p:cNvPr id="59" name="Text 57"/>
          <p:cNvSpPr/>
          <p:nvPr/>
        </p:nvSpPr>
        <p:spPr>
          <a:xfrm>
            <a:off x="9966960" y="1600200"/>
            <a:ext cx="1737360" cy="365760"/>
          </a:xfrm>
          <a:prstGeom prst="rect">
            <a:avLst/>
          </a:prstGeom>
          <a:noFill/>
          <a:ln/>
        </p:spPr>
        <p:txBody>
          <a:bodyPr wrap="square" rtlCol="0" anchor="ctr"/>
          <a:lstStyle/>
          <a:p>
            <a:pPr algn="ctr" indent="0" marL="0">
              <a:buNone/>
            </a:pPr>
            <a:r>
              <a:rPr lang="en-US" sz="1000" b="1" dirty="0">
                <a:solidFill>
                  <a:srgbClr val="1E2761"/>
                </a:solidFill>
                <a:latin typeface="Arial Black" pitchFamily="34" charset="0"/>
                <a:ea typeface="Arial Black" pitchFamily="34" charset="-122"/>
                <a:cs typeface="Arial Black" pitchFamily="34" charset="-120"/>
              </a:rPr>
              <a:t>包装</a:t>
            </a:r>
            <a:endParaRPr lang="en-US" sz="1000" dirty="0"/>
          </a:p>
          <a:p>
            <a:pPr algn="ctr" indent="0" marL="0">
              <a:buNone/>
            </a:pPr>
            <a:r>
              <a:rPr lang="en-US" sz="1000" b="1" dirty="0">
                <a:solidFill>
                  <a:srgbClr val="1E2761"/>
                </a:solidFill>
                <a:latin typeface="Arial Black" pitchFamily="34" charset="0"/>
                <a:ea typeface="Arial Black" pitchFamily="34" charset="-122"/>
                <a:cs typeface="Arial Black" pitchFamily="34" charset="-120"/>
              </a:rPr>
              <a:t>Packaging</a:t>
            </a:r>
            <a:endParaRPr lang="en-US" sz="1000" dirty="0"/>
          </a:p>
        </p:txBody>
      </p:sp>
      <p:sp>
        <p:nvSpPr>
          <p:cNvPr id="60" name="Shape 58"/>
          <p:cNvSpPr/>
          <p:nvPr/>
        </p:nvSpPr>
        <p:spPr>
          <a:xfrm>
            <a:off x="9966960" y="1965960"/>
            <a:ext cx="1737360" cy="36576"/>
          </a:xfrm>
          <a:prstGeom prst="rect">
            <a:avLst/>
          </a:prstGeom>
          <a:solidFill>
            <a:srgbClr val="1E2761"/>
          </a:solidFill>
          <a:ln w="12700">
            <a:solidFill>
              <a:srgbClr val="1E2761"/>
            </a:solidFill>
            <a:prstDash val="solid"/>
          </a:ln>
        </p:spPr>
        <p:txBody>
          <a:bodyPr/>
          <a:p/>
        </p:txBody>
      </p:sp>
      <p:sp>
        <p:nvSpPr>
          <p:cNvPr id="61" name="Text 59"/>
          <p:cNvSpPr/>
          <p:nvPr/>
        </p:nvSpPr>
        <p:spPr>
          <a:xfrm>
            <a:off x="9966960" y="20574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CT=0.3min</a:t>
            </a:r>
            <a:endParaRPr lang="en-US" sz="900" dirty="0"/>
          </a:p>
        </p:txBody>
      </p:sp>
      <p:sp>
        <p:nvSpPr>
          <p:cNvPr id="62" name="Text 60"/>
          <p:cNvSpPr/>
          <p:nvPr/>
        </p:nvSpPr>
        <p:spPr>
          <a:xfrm>
            <a:off x="9966960" y="2286000"/>
            <a:ext cx="1737360" cy="228600"/>
          </a:xfrm>
          <a:prstGeom prst="rect">
            <a:avLst/>
          </a:prstGeom>
          <a:noFill/>
          <a:ln/>
        </p:spPr>
        <p:txBody>
          <a:bodyPr wrap="square"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UP=98%</a:t>
            </a:r>
            <a:endParaRPr lang="en-US" sz="900" dirty="0"/>
          </a:p>
        </p:txBody>
      </p:sp>
      <p:sp>
        <p:nvSpPr>
          <p:cNvPr id="63" name="Text 61"/>
          <p:cNvSpPr/>
          <p:nvPr/>
        </p:nvSpPr>
        <p:spPr>
          <a:xfrm>
            <a:off x="9966960" y="2514600"/>
            <a:ext cx="173736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Batch=5000</a:t>
            </a:r>
            <a:endParaRPr lang="en-US" sz="800" dirty="0"/>
          </a:p>
        </p:txBody>
      </p:sp>
      <p:sp>
        <p:nvSpPr>
          <p:cNvPr id="64" name="Shape 62"/>
          <p:cNvSpPr/>
          <p:nvPr/>
        </p:nvSpPr>
        <p:spPr>
          <a:xfrm>
            <a:off x="365760" y="3200400"/>
            <a:ext cx="11430000" cy="54864"/>
          </a:xfrm>
          <a:prstGeom prst="rect">
            <a:avLst/>
          </a:prstGeom>
          <a:solidFill>
            <a:srgbClr val="1E2761"/>
          </a:solidFill>
          <a:ln w="12700">
            <a:solidFill>
              <a:srgbClr val="1E2761"/>
            </a:solidFill>
            <a:prstDash val="solid"/>
          </a:ln>
        </p:spPr>
        <p:txBody>
          <a:bodyPr/>
          <a:p/>
        </p:txBody>
      </p:sp>
      <p:sp>
        <p:nvSpPr>
          <p:cNvPr id="65" name="Text 63"/>
          <p:cNvSpPr/>
          <p:nvPr/>
        </p:nvSpPr>
        <p:spPr>
          <a:xfrm>
            <a:off x="457200" y="3337560"/>
            <a:ext cx="10972800" cy="274320"/>
          </a:xfrm>
          <a:prstGeom prst="rect">
            <a:avLst/>
          </a:prstGeom>
          <a:noFill/>
          <a:ln/>
        </p:spPr>
        <p:txBody>
          <a:bodyPr wrap="square" rtlCol="0" anchor="ctr"/>
          <a:lstStyle/>
          <a:p>
            <a:pPr indent="0" marL="0">
              <a:buNone/>
            </a:pPr>
            <a:r>
              <a:rPr lang="en-US" sz="1200" b="1" dirty="0">
                <a:solidFill>
                  <a:srgbClr val="1E2761"/>
                </a:solidFill>
                <a:latin typeface="Arial Black" pitchFamily="34" charset="0"/>
                <a:ea typeface="Arial Black" pitchFamily="34" charset="-122"/>
                <a:cs typeface="Arial Black" pitchFamily="34" charset="-120"/>
              </a:rPr>
              <a:t>Lead Time = CT之和(49.9min) + 等待时间(~72h) = ~75h</a:t>
            </a:r>
            <a:endParaRPr lang="en-US" sz="1200" dirty="0"/>
          </a:p>
        </p:txBody>
      </p:sp>
      <p:sp>
        <p:nvSpPr>
          <p:cNvPr id="66" name="Shape 64"/>
          <p:cNvSpPr/>
          <p:nvPr/>
        </p:nvSpPr>
        <p:spPr>
          <a:xfrm>
            <a:off x="365760" y="3749040"/>
            <a:ext cx="2651760" cy="1097280"/>
          </a:xfrm>
          <a:prstGeom prst="roundRect">
            <a:avLst>
              <a:gd name="adj" fmla="val 666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67" name="Shape 65"/>
          <p:cNvSpPr/>
          <p:nvPr/>
        </p:nvSpPr>
        <p:spPr>
          <a:xfrm>
            <a:off x="365760" y="3749040"/>
            <a:ext cx="2651760" cy="237744"/>
          </a:xfrm>
          <a:prstGeom prst="rect">
            <a:avLst/>
          </a:prstGeom>
          <a:solidFill>
            <a:srgbClr val="059669"/>
          </a:solidFill>
          <a:ln w="12700">
            <a:solidFill>
              <a:srgbClr val="059669"/>
            </a:solidFill>
            <a:prstDash val="solid"/>
          </a:ln>
        </p:spPr>
        <p:txBody>
          <a:bodyPr/>
          <a:p/>
        </p:txBody>
      </p:sp>
      <p:sp>
        <p:nvSpPr>
          <p:cNvPr id="68" name="Text 66"/>
          <p:cNvSpPr/>
          <p:nvPr/>
        </p:nvSpPr>
        <p:spPr>
          <a:xfrm>
            <a:off x="365760" y="3767328"/>
            <a:ext cx="265176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加工时间</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Processing</a:t>
            </a:r>
            <a:endParaRPr lang="en-US" sz="900" dirty="0"/>
          </a:p>
        </p:txBody>
      </p:sp>
      <p:sp>
        <p:nvSpPr>
          <p:cNvPr id="69" name="Text 67"/>
          <p:cNvSpPr/>
          <p:nvPr/>
        </p:nvSpPr>
        <p:spPr>
          <a:xfrm>
            <a:off x="365760" y="4069080"/>
            <a:ext cx="2651760" cy="457200"/>
          </a:xfrm>
          <a:prstGeom prst="rect">
            <a:avLst/>
          </a:prstGeom>
          <a:noFill/>
          <a:ln/>
        </p:spPr>
        <p:txBody>
          <a:bodyPr wrap="square" rtlCol="0" anchor="ctr"/>
          <a:lstStyle/>
          <a:p>
            <a:pPr algn="ctr" indent="0" marL="0">
              <a:buNone/>
            </a:pPr>
            <a:r>
              <a:rPr lang="en-US" sz="2000" b="1" dirty="0">
                <a:solidFill>
                  <a:srgbClr val="059669"/>
                </a:solidFill>
                <a:latin typeface="Arial Black" pitchFamily="34" charset="0"/>
                <a:ea typeface="Arial Black" pitchFamily="34" charset="-122"/>
                <a:cs typeface="Arial Black" pitchFamily="34" charset="-120"/>
              </a:rPr>
              <a:t>49.9</a:t>
            </a:r>
            <a:endParaRPr lang="en-US" sz="2000" dirty="0"/>
          </a:p>
          <a:p>
            <a:pPr algn="ctr" indent="0" marL="0">
              <a:buNone/>
            </a:pPr>
            <a:r>
              <a:rPr lang="en-US" sz="2000" b="1" dirty="0">
                <a:solidFill>
                  <a:srgbClr val="059669"/>
                </a:solidFill>
                <a:latin typeface="Arial Black" pitchFamily="34" charset="0"/>
                <a:ea typeface="Arial Black" pitchFamily="34" charset="-122"/>
                <a:cs typeface="Arial Black" pitchFamily="34" charset="-120"/>
              </a:rPr>
              <a:t>min</a:t>
            </a:r>
            <a:endParaRPr lang="en-US" sz="2000" dirty="0"/>
          </a:p>
        </p:txBody>
      </p:sp>
      <p:sp>
        <p:nvSpPr>
          <p:cNvPr id="70" name="Shape 68"/>
          <p:cNvSpPr/>
          <p:nvPr/>
        </p:nvSpPr>
        <p:spPr>
          <a:xfrm>
            <a:off x="3200400" y="3749040"/>
            <a:ext cx="2651760" cy="1097280"/>
          </a:xfrm>
          <a:prstGeom prst="roundRect">
            <a:avLst>
              <a:gd name="adj" fmla="val 666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71" name="Shape 69"/>
          <p:cNvSpPr/>
          <p:nvPr/>
        </p:nvSpPr>
        <p:spPr>
          <a:xfrm>
            <a:off x="3200400" y="3749040"/>
            <a:ext cx="2651760" cy="237744"/>
          </a:xfrm>
          <a:prstGeom prst="rect">
            <a:avLst/>
          </a:prstGeom>
          <a:solidFill>
            <a:srgbClr val="DC2626"/>
          </a:solidFill>
          <a:ln w="12700">
            <a:solidFill>
              <a:srgbClr val="DC2626"/>
            </a:solidFill>
            <a:prstDash val="solid"/>
          </a:ln>
        </p:spPr>
        <p:txBody>
          <a:bodyPr/>
          <a:p/>
        </p:txBody>
      </p:sp>
      <p:sp>
        <p:nvSpPr>
          <p:cNvPr id="72" name="Text 70"/>
          <p:cNvSpPr/>
          <p:nvPr/>
        </p:nvSpPr>
        <p:spPr>
          <a:xfrm>
            <a:off x="3200400" y="3767328"/>
            <a:ext cx="265176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等待时间</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Waiting</a:t>
            </a:r>
            <a:endParaRPr lang="en-US" sz="900" dirty="0"/>
          </a:p>
        </p:txBody>
      </p:sp>
      <p:sp>
        <p:nvSpPr>
          <p:cNvPr id="73" name="Text 71"/>
          <p:cNvSpPr/>
          <p:nvPr/>
        </p:nvSpPr>
        <p:spPr>
          <a:xfrm>
            <a:off x="3200400" y="4069080"/>
            <a:ext cx="2651760" cy="457200"/>
          </a:xfrm>
          <a:prstGeom prst="rect">
            <a:avLst/>
          </a:prstGeom>
          <a:noFill/>
          <a:ln/>
        </p:spPr>
        <p:txBody>
          <a:bodyPr wrap="square" rtlCol="0" anchor="ctr"/>
          <a:lstStyle/>
          <a:p>
            <a:pPr algn="ctr" indent="0" marL="0">
              <a:buNone/>
            </a:pPr>
            <a:r>
              <a:rPr lang="en-US" sz="2000" b="1" dirty="0">
                <a:solidFill>
                  <a:srgbClr val="DC2626"/>
                </a:solidFill>
                <a:latin typeface="Arial Black" pitchFamily="34" charset="0"/>
                <a:ea typeface="Arial Black" pitchFamily="34" charset="-122"/>
                <a:cs typeface="Arial Black" pitchFamily="34" charset="-120"/>
              </a:rPr>
              <a:t>~72</a:t>
            </a:r>
            <a:endParaRPr lang="en-US" sz="2000" dirty="0"/>
          </a:p>
          <a:p>
            <a:pPr algn="ctr" indent="0" marL="0">
              <a:buNone/>
            </a:pPr>
            <a:r>
              <a:rPr lang="en-US" sz="2000" b="1" dirty="0">
                <a:solidFill>
                  <a:srgbClr val="DC2626"/>
                </a:solidFill>
                <a:latin typeface="Arial Black" pitchFamily="34" charset="0"/>
                <a:ea typeface="Arial Black" pitchFamily="34" charset="-122"/>
                <a:cs typeface="Arial Black" pitchFamily="34" charset="-120"/>
              </a:rPr>
              <a:t>hour</a:t>
            </a:r>
            <a:endParaRPr lang="en-US" sz="2000" dirty="0"/>
          </a:p>
        </p:txBody>
      </p:sp>
      <p:sp>
        <p:nvSpPr>
          <p:cNvPr id="74" name="Shape 72"/>
          <p:cNvSpPr/>
          <p:nvPr/>
        </p:nvSpPr>
        <p:spPr>
          <a:xfrm>
            <a:off x="6035040" y="3749040"/>
            <a:ext cx="2651760" cy="1097280"/>
          </a:xfrm>
          <a:prstGeom prst="roundRect">
            <a:avLst>
              <a:gd name="adj" fmla="val 666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75" name="Shape 73"/>
          <p:cNvSpPr/>
          <p:nvPr/>
        </p:nvSpPr>
        <p:spPr>
          <a:xfrm>
            <a:off x="6035040" y="3749040"/>
            <a:ext cx="2651760" cy="237744"/>
          </a:xfrm>
          <a:prstGeom prst="rect">
            <a:avLst/>
          </a:prstGeom>
          <a:solidFill>
            <a:srgbClr val="1E2761"/>
          </a:solidFill>
          <a:ln w="12700">
            <a:solidFill>
              <a:srgbClr val="1E2761"/>
            </a:solidFill>
            <a:prstDash val="solid"/>
          </a:ln>
        </p:spPr>
        <p:txBody>
          <a:bodyPr/>
          <a:p/>
        </p:txBody>
      </p:sp>
      <p:sp>
        <p:nvSpPr>
          <p:cNvPr id="76" name="Text 74"/>
          <p:cNvSpPr/>
          <p:nvPr/>
        </p:nvSpPr>
        <p:spPr>
          <a:xfrm>
            <a:off x="6035040" y="3767328"/>
            <a:ext cx="265176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交付周期</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Lead Time</a:t>
            </a:r>
            <a:endParaRPr lang="en-US" sz="900" dirty="0"/>
          </a:p>
        </p:txBody>
      </p:sp>
      <p:sp>
        <p:nvSpPr>
          <p:cNvPr id="77" name="Text 75"/>
          <p:cNvSpPr/>
          <p:nvPr/>
        </p:nvSpPr>
        <p:spPr>
          <a:xfrm>
            <a:off x="6035040" y="4069080"/>
            <a:ext cx="2651760" cy="457200"/>
          </a:xfrm>
          <a:prstGeom prst="rect">
            <a:avLst/>
          </a:prstGeom>
          <a:noFill/>
          <a:ln/>
        </p:spPr>
        <p:txBody>
          <a:bodyPr wrap="square" rtlCol="0" anchor="ctr"/>
          <a:lstStyle/>
          <a:p>
            <a:pPr algn="ctr" indent="0" marL="0">
              <a:buNone/>
            </a:pPr>
            <a:r>
              <a:rPr lang="en-US" sz="2000" b="1" dirty="0">
                <a:solidFill>
                  <a:srgbClr val="1E2761"/>
                </a:solidFill>
                <a:latin typeface="Arial Black" pitchFamily="34" charset="0"/>
                <a:ea typeface="Arial Black" pitchFamily="34" charset="-122"/>
                <a:cs typeface="Arial Black" pitchFamily="34" charset="-120"/>
              </a:rPr>
              <a:t>~75</a:t>
            </a:r>
            <a:endParaRPr lang="en-US" sz="2000" dirty="0"/>
          </a:p>
          <a:p>
            <a:pPr algn="ctr" indent="0" marL="0">
              <a:buNone/>
            </a:pPr>
            <a:r>
              <a:rPr lang="en-US" sz="2000" b="1" dirty="0">
                <a:solidFill>
                  <a:srgbClr val="1E2761"/>
                </a:solidFill>
                <a:latin typeface="Arial Black" pitchFamily="34" charset="0"/>
                <a:ea typeface="Arial Black" pitchFamily="34" charset="-122"/>
                <a:cs typeface="Arial Black" pitchFamily="34" charset="-120"/>
              </a:rPr>
              <a:t>hour</a:t>
            </a:r>
            <a:endParaRPr lang="en-US" sz="2000" dirty="0"/>
          </a:p>
        </p:txBody>
      </p:sp>
      <p:sp>
        <p:nvSpPr>
          <p:cNvPr id="78" name="Shape 76"/>
          <p:cNvSpPr/>
          <p:nvPr/>
        </p:nvSpPr>
        <p:spPr>
          <a:xfrm>
            <a:off x="8869680" y="3749040"/>
            <a:ext cx="2651760" cy="1097280"/>
          </a:xfrm>
          <a:prstGeom prst="roundRect">
            <a:avLst>
              <a:gd name="adj" fmla="val 666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79" name="Shape 77"/>
          <p:cNvSpPr/>
          <p:nvPr/>
        </p:nvSpPr>
        <p:spPr>
          <a:xfrm>
            <a:off x="8869680" y="3749040"/>
            <a:ext cx="2651760" cy="237744"/>
          </a:xfrm>
          <a:prstGeom prst="rect">
            <a:avLst/>
          </a:prstGeom>
          <a:solidFill>
            <a:srgbClr val="D97706"/>
          </a:solidFill>
          <a:ln w="12700">
            <a:solidFill>
              <a:srgbClr val="D97706"/>
            </a:solidFill>
            <a:prstDash val="solid"/>
          </a:ln>
        </p:spPr>
        <p:txBody>
          <a:bodyPr/>
          <a:p/>
        </p:txBody>
      </p:sp>
      <p:sp>
        <p:nvSpPr>
          <p:cNvPr id="80" name="Text 78"/>
          <p:cNvSpPr/>
          <p:nvPr/>
        </p:nvSpPr>
        <p:spPr>
          <a:xfrm>
            <a:off x="8869680" y="3767328"/>
            <a:ext cx="265176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增值比</a:t>
            </a:r>
            <a:endParaRPr lang="en-US" sz="900" dirty="0"/>
          </a:p>
          <a:p>
            <a:pPr algn="ctr" indent="0" marL="0">
              <a:buNone/>
            </a:pPr>
            <a:r>
              <a:rPr lang="en-US" sz="900" b="1" dirty="0">
                <a:solidFill>
                  <a:srgbClr val="FFFFFF"/>
                </a:solidFill>
                <a:latin typeface="Arial Black" pitchFamily="34" charset="0"/>
                <a:ea typeface="Arial Black" pitchFamily="34" charset="-122"/>
                <a:cs typeface="Arial Black" pitchFamily="34" charset="-120"/>
              </a:rPr>
              <a:t>VA Ratio</a:t>
            </a:r>
            <a:endParaRPr lang="en-US" sz="900" dirty="0"/>
          </a:p>
        </p:txBody>
      </p:sp>
      <p:sp>
        <p:nvSpPr>
          <p:cNvPr id="81" name="Text 79"/>
          <p:cNvSpPr/>
          <p:nvPr/>
        </p:nvSpPr>
        <p:spPr>
          <a:xfrm>
            <a:off x="8869680" y="4069080"/>
            <a:ext cx="2651760" cy="457200"/>
          </a:xfrm>
          <a:prstGeom prst="rect">
            <a:avLst/>
          </a:prstGeom>
          <a:noFill/>
          <a:ln/>
        </p:spPr>
        <p:txBody>
          <a:bodyPr wrap="square" rtlCol="0" anchor="ctr"/>
          <a:lstStyle/>
          <a:p>
            <a:pPr algn="ctr" indent="0" marL="0">
              <a:buNone/>
            </a:pPr>
            <a:r>
              <a:rPr lang="en-US" sz="2000" b="1" dirty="0">
                <a:solidFill>
                  <a:srgbClr val="D97706"/>
                </a:solidFill>
                <a:latin typeface="Arial Black" pitchFamily="34" charset="0"/>
                <a:ea typeface="Arial Black" pitchFamily="34" charset="-122"/>
                <a:cs typeface="Arial Black" pitchFamily="34" charset="-120"/>
              </a:rPr>
              <a:t>1.1</a:t>
            </a:r>
            <a:endParaRPr lang="en-US" sz="2000" dirty="0"/>
          </a:p>
          <a:p>
            <a:pPr algn="ctr" indent="0" marL="0">
              <a:buNone/>
            </a:pPr>
            <a:r>
              <a:rPr lang="en-US" sz="2000" b="1" dirty="0">
                <a:solidFill>
                  <a:srgbClr val="D97706"/>
                </a:solidFill>
                <a:latin typeface="Arial Black" pitchFamily="34" charset="0"/>
                <a:ea typeface="Arial Black" pitchFamily="34" charset="-122"/>
                <a:cs typeface="Arial Black" pitchFamily="34" charset="-120"/>
              </a:rPr>
              <a:t>%</a:t>
            </a:r>
            <a:endParaRPr lang="en-US" sz="2000" dirty="0"/>
          </a:p>
        </p:txBody>
      </p:sp>
      <p:sp>
        <p:nvSpPr>
          <p:cNvPr id="82" name="Shape 80"/>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83" name="Text 81"/>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当前状态图揭示真实浪费 | 增值比通常仅1-5%，改善空间巨大</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VSM 未来状态图</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Future State Map — Design Principles</a:t>
            </a:r>
            <a:endParaRPr lang="en-US" sz="1400" dirty="0"/>
          </a:p>
        </p:txBody>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未来状态设计四大原则</a:t>
            </a:r>
            <a:endParaRPr lang="en-US" sz="1600" dirty="0"/>
          </a:p>
        </p:txBody>
      </p:sp>
      <p:sp>
        <p:nvSpPr>
          <p:cNvPr id="8" name="Shape 6"/>
          <p:cNvSpPr/>
          <p:nvPr/>
        </p:nvSpPr>
        <p:spPr>
          <a:xfrm>
            <a:off x="457200" y="1508760"/>
            <a:ext cx="5486400" cy="1325880"/>
          </a:xfrm>
          <a:prstGeom prst="roundRect">
            <a:avLst>
              <a:gd name="adj" fmla="val 551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9" name="Shape 7"/>
          <p:cNvSpPr/>
          <p:nvPr/>
        </p:nvSpPr>
        <p:spPr>
          <a:xfrm>
            <a:off x="457200" y="1508760"/>
            <a:ext cx="5486400" cy="274320"/>
          </a:xfrm>
          <a:prstGeom prst="rect">
            <a:avLst/>
          </a:prstGeom>
          <a:solidFill>
            <a:srgbClr val="059669"/>
          </a:solidFill>
          <a:ln w="12700">
            <a:solidFill>
              <a:srgbClr val="059669"/>
            </a:solidFill>
            <a:prstDash val="solid"/>
          </a:ln>
        </p:spPr>
        <p:txBody>
          <a:bodyPr/>
          <a:p/>
        </p:txBody>
      </p:sp>
      <p:sp>
        <p:nvSpPr>
          <p:cNvPr id="10" name="Text 8"/>
          <p:cNvSpPr/>
          <p:nvPr/>
        </p:nvSpPr>
        <p:spPr>
          <a:xfrm>
            <a:off x="594360" y="1527048"/>
            <a:ext cx="5212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按节拍生产 Takt Time</a:t>
            </a:r>
            <a:endParaRPr lang="en-US" sz="1100" dirty="0"/>
          </a:p>
        </p:txBody>
      </p:sp>
      <p:sp>
        <p:nvSpPr>
          <p:cNvPr id="11" name="Text 9"/>
          <p:cNvSpPr/>
          <p:nvPr/>
        </p:nvSpPr>
        <p:spPr>
          <a:xfrm>
            <a:off x="594360" y="1856232"/>
            <a:ext cx="5212080" cy="320040"/>
          </a:xfrm>
          <a:prstGeom prst="rect">
            <a:avLst/>
          </a:prstGeom>
          <a:noFill/>
          <a:ln/>
        </p:spPr>
        <p:txBody>
          <a:bodyPr wrap="square" rtlCol="0" anchor="ctr"/>
          <a:lstStyle/>
          <a:p>
            <a:pPr algn="ctr" indent="0" marL="0">
              <a:buNone/>
            </a:pPr>
            <a:r>
              <a:rPr lang="en-US" sz="1000" dirty="0">
                <a:solidFill>
                  <a:srgbClr val="1E293B"/>
                </a:solidFill>
                <a:latin typeface="Arial" pitchFamily="34" charset="0"/>
                <a:ea typeface="Arial" pitchFamily="34" charset="-122"/>
                <a:cs typeface="Arial" pitchFamily="34" charset="-120"/>
              </a:rPr>
              <a:t>根据客户需求速率设定生产节拍</a:t>
            </a:r>
            <a:endParaRPr lang="en-US" sz="1000" dirty="0"/>
          </a:p>
          <a:p>
            <a:pPr algn="ctr" indent="0" marL="0">
              <a:buNone/>
            </a:pPr>
            <a:r>
              <a:rPr lang="en-US" sz="1000" dirty="0">
                <a:solidFill>
                  <a:srgbClr val="1E293B"/>
                </a:solidFill>
                <a:latin typeface="Arial" pitchFamily="34" charset="0"/>
                <a:ea typeface="Arial" pitchFamily="34" charset="-122"/>
                <a:cs typeface="Arial" pitchFamily="34" charset="-120"/>
              </a:rPr>
              <a:t>消除过量生产浪费</a:t>
            </a:r>
            <a:endParaRPr lang="en-US" sz="1000" dirty="0"/>
          </a:p>
        </p:txBody>
      </p:sp>
      <p:sp>
        <p:nvSpPr>
          <p:cNvPr id="12" name="Shape 10"/>
          <p:cNvSpPr/>
          <p:nvPr/>
        </p:nvSpPr>
        <p:spPr>
          <a:xfrm>
            <a:off x="1188720" y="2286000"/>
            <a:ext cx="1097280" cy="320040"/>
          </a:xfrm>
          <a:prstGeom prst="rect">
            <a:avLst>
              <a:gd name="adj" fmla="val 11429"/>
            </a:avLst>
          </a:prstGeom>
          <a:solidFill>
            <a:srgbClr val="059669"/>
          </a:solidFill>
          <a:ln/>
        </p:spPr>
        <p:txBody>
          <a:bodyPr/>
          <a:p/>
        </p:txBody>
      </p:sp>
      <p:sp>
        <p:nvSpPr>
          <p:cNvPr id="13" name="Text 11"/>
          <p:cNvSpPr/>
          <p:nvPr/>
        </p:nvSpPr>
        <p:spPr>
          <a:xfrm>
            <a:off x="1188720" y="230428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工序A</a:t>
            </a:r>
            <a:endParaRPr lang="en-US" sz="800" dirty="0"/>
          </a:p>
        </p:txBody>
      </p:sp>
      <p:sp>
        <p:nvSpPr>
          <p:cNvPr id="14" name="Shape 12"/>
          <p:cNvSpPr/>
          <p:nvPr/>
        </p:nvSpPr>
        <p:spPr>
          <a:xfrm>
            <a:off x="2286000" y="2331720"/>
            <a:ext cx="274320" cy="228600"/>
          </a:xfrm>
          <a:prstGeom prst="rightArrow">
            <a:avLst/>
          </a:prstGeom>
          <a:solidFill>
            <a:srgbClr val="059669"/>
          </a:solidFill>
          <a:ln w="12700">
            <a:solidFill>
              <a:srgbClr val="059669"/>
            </a:solidFill>
            <a:prstDash val="solid"/>
          </a:ln>
        </p:spPr>
        <p:txBody>
          <a:bodyPr/>
          <a:p/>
        </p:txBody>
      </p:sp>
      <p:sp>
        <p:nvSpPr>
          <p:cNvPr id="15" name="Shape 13"/>
          <p:cNvSpPr/>
          <p:nvPr/>
        </p:nvSpPr>
        <p:spPr>
          <a:xfrm>
            <a:off x="2560320" y="2286000"/>
            <a:ext cx="1097280" cy="320040"/>
          </a:xfrm>
          <a:prstGeom prst="rect">
            <a:avLst>
              <a:gd name="adj" fmla="val 11429"/>
            </a:avLst>
          </a:prstGeom>
          <a:solidFill>
            <a:srgbClr val="059669"/>
          </a:solidFill>
          <a:ln/>
        </p:spPr>
        <p:txBody>
          <a:bodyPr/>
          <a:p/>
        </p:txBody>
      </p:sp>
      <p:sp>
        <p:nvSpPr>
          <p:cNvPr id="16" name="Text 14"/>
          <p:cNvSpPr/>
          <p:nvPr/>
        </p:nvSpPr>
        <p:spPr>
          <a:xfrm>
            <a:off x="2560320" y="230428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工序B</a:t>
            </a:r>
            <a:endParaRPr lang="en-US" sz="800" dirty="0"/>
          </a:p>
        </p:txBody>
      </p:sp>
      <p:sp>
        <p:nvSpPr>
          <p:cNvPr id="17" name="Shape 15"/>
          <p:cNvSpPr/>
          <p:nvPr/>
        </p:nvSpPr>
        <p:spPr>
          <a:xfrm>
            <a:off x="6217920" y="1508760"/>
            <a:ext cx="5486400" cy="1325880"/>
          </a:xfrm>
          <a:prstGeom prst="roundRect">
            <a:avLst>
              <a:gd name="adj" fmla="val 551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18" name="Shape 16"/>
          <p:cNvSpPr/>
          <p:nvPr/>
        </p:nvSpPr>
        <p:spPr>
          <a:xfrm>
            <a:off x="6217920" y="1508760"/>
            <a:ext cx="5486400" cy="274320"/>
          </a:xfrm>
          <a:prstGeom prst="rect">
            <a:avLst/>
          </a:prstGeom>
          <a:solidFill>
            <a:srgbClr val="0D9488"/>
          </a:solidFill>
          <a:ln w="12700">
            <a:solidFill>
              <a:srgbClr val="0D9488"/>
            </a:solidFill>
            <a:prstDash val="solid"/>
          </a:ln>
        </p:spPr>
        <p:txBody>
          <a:bodyPr/>
          <a:p/>
        </p:txBody>
      </p:sp>
      <p:sp>
        <p:nvSpPr>
          <p:cNvPr id="19" name="Text 17"/>
          <p:cNvSpPr/>
          <p:nvPr/>
        </p:nvSpPr>
        <p:spPr>
          <a:xfrm>
            <a:off x="6355080" y="1527048"/>
            <a:ext cx="5212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连续流 Continuous Flow</a:t>
            </a:r>
            <a:endParaRPr lang="en-US" sz="1100" dirty="0"/>
          </a:p>
        </p:txBody>
      </p:sp>
      <p:sp>
        <p:nvSpPr>
          <p:cNvPr id="20" name="Text 18"/>
          <p:cNvSpPr/>
          <p:nvPr/>
        </p:nvSpPr>
        <p:spPr>
          <a:xfrm>
            <a:off x="6355080" y="1856232"/>
            <a:ext cx="5212080" cy="320040"/>
          </a:xfrm>
          <a:prstGeom prst="rect">
            <a:avLst/>
          </a:prstGeom>
          <a:noFill/>
          <a:ln/>
        </p:spPr>
        <p:txBody>
          <a:bodyPr wrap="square" rtlCol="0" anchor="ctr"/>
          <a:lstStyle/>
          <a:p>
            <a:pPr algn="ctr" indent="0" marL="0">
              <a:buNone/>
            </a:pPr>
            <a:r>
              <a:rPr lang="en-US" sz="1000" dirty="0">
                <a:solidFill>
                  <a:srgbClr val="1E293B"/>
                </a:solidFill>
                <a:latin typeface="Arial" pitchFamily="34" charset="0"/>
                <a:ea typeface="Arial" pitchFamily="34" charset="-122"/>
                <a:cs typeface="Arial" pitchFamily="34" charset="-120"/>
              </a:rPr>
              <a:t>消除工序间等待</a:t>
            </a:r>
            <a:endParaRPr lang="en-US" sz="1000" dirty="0"/>
          </a:p>
          <a:p>
            <a:pPr algn="ctr" indent="0" marL="0">
              <a:buNone/>
            </a:pPr>
            <a:r>
              <a:rPr lang="en-US" sz="1000" dirty="0">
                <a:solidFill>
                  <a:srgbClr val="1E293B"/>
                </a:solidFill>
                <a:latin typeface="Arial" pitchFamily="34" charset="0"/>
                <a:ea typeface="Arial" pitchFamily="34" charset="-122"/>
                <a:cs typeface="Arial" pitchFamily="34" charset="-120"/>
              </a:rPr>
              <a:t>实现一件流或小批量流</a:t>
            </a:r>
            <a:endParaRPr lang="en-US" sz="1000" dirty="0"/>
          </a:p>
        </p:txBody>
      </p:sp>
      <p:sp>
        <p:nvSpPr>
          <p:cNvPr id="21" name="Shape 19"/>
          <p:cNvSpPr/>
          <p:nvPr/>
        </p:nvSpPr>
        <p:spPr>
          <a:xfrm>
            <a:off x="6949440" y="2286000"/>
            <a:ext cx="1097280" cy="320040"/>
          </a:xfrm>
          <a:prstGeom prst="rect">
            <a:avLst>
              <a:gd name="adj" fmla="val 11429"/>
            </a:avLst>
          </a:prstGeom>
          <a:solidFill>
            <a:srgbClr val="0D9488"/>
          </a:solidFill>
          <a:ln/>
        </p:spPr>
        <p:txBody>
          <a:bodyPr/>
          <a:p/>
        </p:txBody>
      </p:sp>
      <p:sp>
        <p:nvSpPr>
          <p:cNvPr id="22" name="Text 20"/>
          <p:cNvSpPr/>
          <p:nvPr/>
        </p:nvSpPr>
        <p:spPr>
          <a:xfrm>
            <a:off x="6949440" y="230428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工序A</a:t>
            </a:r>
            <a:endParaRPr lang="en-US" sz="800" dirty="0"/>
          </a:p>
        </p:txBody>
      </p:sp>
      <p:sp>
        <p:nvSpPr>
          <p:cNvPr id="23" name="Shape 21"/>
          <p:cNvSpPr/>
          <p:nvPr/>
        </p:nvSpPr>
        <p:spPr>
          <a:xfrm>
            <a:off x="8046720" y="2331720"/>
            <a:ext cx="274320" cy="228600"/>
          </a:xfrm>
          <a:prstGeom prst="rightArrow">
            <a:avLst/>
          </a:prstGeom>
          <a:solidFill>
            <a:srgbClr val="0D9488"/>
          </a:solidFill>
          <a:ln w="12700">
            <a:solidFill>
              <a:srgbClr val="0D9488"/>
            </a:solidFill>
            <a:prstDash val="solid"/>
          </a:ln>
        </p:spPr>
        <p:txBody>
          <a:bodyPr/>
          <a:p/>
        </p:txBody>
      </p:sp>
      <p:sp>
        <p:nvSpPr>
          <p:cNvPr id="24" name="Shape 22"/>
          <p:cNvSpPr/>
          <p:nvPr/>
        </p:nvSpPr>
        <p:spPr>
          <a:xfrm>
            <a:off x="8321040" y="2286000"/>
            <a:ext cx="1097280" cy="320040"/>
          </a:xfrm>
          <a:prstGeom prst="rect">
            <a:avLst>
              <a:gd name="adj" fmla="val 11429"/>
            </a:avLst>
          </a:prstGeom>
          <a:solidFill>
            <a:srgbClr val="0D9488"/>
          </a:solidFill>
          <a:ln/>
        </p:spPr>
        <p:txBody>
          <a:bodyPr/>
          <a:p/>
        </p:txBody>
      </p:sp>
      <p:sp>
        <p:nvSpPr>
          <p:cNvPr id="25" name="Text 23"/>
          <p:cNvSpPr/>
          <p:nvPr/>
        </p:nvSpPr>
        <p:spPr>
          <a:xfrm>
            <a:off x="8321040" y="230428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工序B</a:t>
            </a:r>
            <a:endParaRPr lang="en-US" sz="800" dirty="0"/>
          </a:p>
        </p:txBody>
      </p:sp>
      <p:sp>
        <p:nvSpPr>
          <p:cNvPr id="26" name="Shape 24"/>
          <p:cNvSpPr/>
          <p:nvPr/>
        </p:nvSpPr>
        <p:spPr>
          <a:xfrm>
            <a:off x="457200" y="2971800"/>
            <a:ext cx="5486400" cy="1325880"/>
          </a:xfrm>
          <a:prstGeom prst="roundRect">
            <a:avLst>
              <a:gd name="adj" fmla="val 551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27" name="Shape 25"/>
          <p:cNvSpPr/>
          <p:nvPr/>
        </p:nvSpPr>
        <p:spPr>
          <a:xfrm>
            <a:off x="457200" y="2971800"/>
            <a:ext cx="5486400" cy="274320"/>
          </a:xfrm>
          <a:prstGeom prst="rect">
            <a:avLst/>
          </a:prstGeom>
          <a:solidFill>
            <a:srgbClr val="1E2761"/>
          </a:solidFill>
          <a:ln w="12700">
            <a:solidFill>
              <a:srgbClr val="1E2761"/>
            </a:solidFill>
            <a:prstDash val="solid"/>
          </a:ln>
        </p:spPr>
        <p:txBody>
          <a:bodyPr/>
          <a:p/>
        </p:txBody>
      </p:sp>
      <p:sp>
        <p:nvSpPr>
          <p:cNvPr id="28" name="Text 26"/>
          <p:cNvSpPr/>
          <p:nvPr/>
        </p:nvSpPr>
        <p:spPr>
          <a:xfrm>
            <a:off x="594360" y="2990088"/>
            <a:ext cx="5212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拉动式生产 Pull System</a:t>
            </a:r>
            <a:endParaRPr lang="en-US" sz="1100" dirty="0"/>
          </a:p>
        </p:txBody>
      </p:sp>
      <p:sp>
        <p:nvSpPr>
          <p:cNvPr id="29" name="Text 27"/>
          <p:cNvSpPr/>
          <p:nvPr/>
        </p:nvSpPr>
        <p:spPr>
          <a:xfrm>
            <a:off x="594360" y="3319272"/>
            <a:ext cx="5212080" cy="320040"/>
          </a:xfrm>
          <a:prstGeom prst="rect">
            <a:avLst/>
          </a:prstGeom>
          <a:noFill/>
          <a:ln/>
        </p:spPr>
        <p:txBody>
          <a:bodyPr wrap="square" rtlCol="0" anchor="ctr"/>
          <a:lstStyle/>
          <a:p>
            <a:pPr algn="ctr" indent="0" marL="0">
              <a:buNone/>
            </a:pPr>
            <a:r>
              <a:rPr lang="en-US" sz="1000" dirty="0">
                <a:solidFill>
                  <a:srgbClr val="1E293B"/>
                </a:solidFill>
                <a:latin typeface="Arial" pitchFamily="34" charset="0"/>
                <a:ea typeface="Arial" pitchFamily="34" charset="-122"/>
                <a:cs typeface="Arial" pitchFamily="34" charset="-120"/>
              </a:rPr>
              <a:t>后工序向前工序取货</a:t>
            </a:r>
            <a:endParaRPr lang="en-US" sz="1000" dirty="0"/>
          </a:p>
          <a:p>
            <a:pPr algn="ctr" indent="0" marL="0">
              <a:buNone/>
            </a:pPr>
            <a:r>
              <a:rPr lang="en-US" sz="1000" dirty="0">
                <a:solidFill>
                  <a:srgbClr val="1E293B"/>
                </a:solidFill>
                <a:latin typeface="Arial" pitchFamily="34" charset="0"/>
                <a:ea typeface="Arial" pitchFamily="34" charset="-122"/>
                <a:cs typeface="Arial" pitchFamily="34" charset="-120"/>
              </a:rPr>
              <a:t>用看板控制生产</a:t>
            </a:r>
            <a:endParaRPr lang="en-US" sz="1000" dirty="0"/>
          </a:p>
        </p:txBody>
      </p:sp>
      <p:sp>
        <p:nvSpPr>
          <p:cNvPr id="30" name="Shape 28"/>
          <p:cNvSpPr/>
          <p:nvPr/>
        </p:nvSpPr>
        <p:spPr>
          <a:xfrm>
            <a:off x="1188720" y="3749040"/>
            <a:ext cx="1097280" cy="320040"/>
          </a:xfrm>
          <a:prstGeom prst="rect">
            <a:avLst>
              <a:gd name="adj" fmla="val 11429"/>
            </a:avLst>
          </a:prstGeom>
          <a:solidFill>
            <a:srgbClr val="1E2761"/>
          </a:solidFill>
          <a:ln/>
        </p:spPr>
        <p:txBody>
          <a:bodyPr/>
          <a:p/>
        </p:txBody>
      </p:sp>
      <p:sp>
        <p:nvSpPr>
          <p:cNvPr id="31" name="Text 29"/>
          <p:cNvSpPr/>
          <p:nvPr/>
        </p:nvSpPr>
        <p:spPr>
          <a:xfrm>
            <a:off x="1188720" y="376732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工序A</a:t>
            </a:r>
            <a:endParaRPr lang="en-US" sz="800" dirty="0"/>
          </a:p>
        </p:txBody>
      </p:sp>
      <p:sp>
        <p:nvSpPr>
          <p:cNvPr id="32" name="Shape 30"/>
          <p:cNvSpPr/>
          <p:nvPr/>
        </p:nvSpPr>
        <p:spPr>
          <a:xfrm>
            <a:off x="2286000" y="3794760"/>
            <a:ext cx="274320" cy="228600"/>
          </a:xfrm>
          <a:prstGeom prst="rightArrow">
            <a:avLst/>
          </a:prstGeom>
          <a:solidFill>
            <a:srgbClr val="1E2761"/>
          </a:solidFill>
          <a:ln w="12700">
            <a:solidFill>
              <a:srgbClr val="1E2761"/>
            </a:solidFill>
            <a:prstDash val="solid"/>
          </a:ln>
        </p:spPr>
        <p:txBody>
          <a:bodyPr/>
          <a:p/>
        </p:txBody>
      </p:sp>
      <p:sp>
        <p:nvSpPr>
          <p:cNvPr id="33" name="Shape 31"/>
          <p:cNvSpPr/>
          <p:nvPr/>
        </p:nvSpPr>
        <p:spPr>
          <a:xfrm>
            <a:off x="2560320" y="3749040"/>
            <a:ext cx="1097280" cy="320040"/>
          </a:xfrm>
          <a:prstGeom prst="rect">
            <a:avLst>
              <a:gd name="adj" fmla="val 11429"/>
            </a:avLst>
          </a:prstGeom>
          <a:solidFill>
            <a:srgbClr val="1E2761"/>
          </a:solidFill>
          <a:ln/>
        </p:spPr>
        <p:txBody>
          <a:bodyPr/>
          <a:p/>
        </p:txBody>
      </p:sp>
      <p:sp>
        <p:nvSpPr>
          <p:cNvPr id="34" name="Text 32"/>
          <p:cNvSpPr/>
          <p:nvPr/>
        </p:nvSpPr>
        <p:spPr>
          <a:xfrm>
            <a:off x="2560320" y="376732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工序B</a:t>
            </a:r>
            <a:endParaRPr lang="en-US" sz="800" dirty="0"/>
          </a:p>
        </p:txBody>
      </p:sp>
      <p:sp>
        <p:nvSpPr>
          <p:cNvPr id="35" name="Shape 33"/>
          <p:cNvSpPr/>
          <p:nvPr/>
        </p:nvSpPr>
        <p:spPr>
          <a:xfrm>
            <a:off x="6217920" y="2971800"/>
            <a:ext cx="5486400" cy="1325880"/>
          </a:xfrm>
          <a:prstGeom prst="roundRect">
            <a:avLst>
              <a:gd name="adj" fmla="val 5517"/>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36" name="Shape 34"/>
          <p:cNvSpPr/>
          <p:nvPr/>
        </p:nvSpPr>
        <p:spPr>
          <a:xfrm>
            <a:off x="6217920" y="2971800"/>
            <a:ext cx="5486400" cy="274320"/>
          </a:xfrm>
          <a:prstGeom prst="rect">
            <a:avLst/>
          </a:prstGeom>
          <a:solidFill>
            <a:srgbClr val="D97706"/>
          </a:solidFill>
          <a:ln w="12700">
            <a:solidFill>
              <a:srgbClr val="D97706"/>
            </a:solidFill>
            <a:prstDash val="solid"/>
          </a:ln>
        </p:spPr>
        <p:txBody>
          <a:bodyPr/>
          <a:p/>
        </p:txBody>
      </p:sp>
      <p:sp>
        <p:nvSpPr>
          <p:cNvPr id="37" name="Text 35"/>
          <p:cNvSpPr/>
          <p:nvPr/>
        </p:nvSpPr>
        <p:spPr>
          <a:xfrm>
            <a:off x="6355080" y="2990088"/>
            <a:ext cx="5212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均衡化生产 Heijunka</a:t>
            </a:r>
            <a:endParaRPr lang="en-US" sz="1100" dirty="0"/>
          </a:p>
        </p:txBody>
      </p:sp>
      <p:sp>
        <p:nvSpPr>
          <p:cNvPr id="38" name="Text 36"/>
          <p:cNvSpPr/>
          <p:nvPr/>
        </p:nvSpPr>
        <p:spPr>
          <a:xfrm>
            <a:off x="6355080" y="3319272"/>
            <a:ext cx="5212080" cy="320040"/>
          </a:xfrm>
          <a:prstGeom prst="rect">
            <a:avLst/>
          </a:prstGeom>
          <a:noFill/>
          <a:ln/>
        </p:spPr>
        <p:txBody>
          <a:bodyPr wrap="square" rtlCol="0" anchor="ctr"/>
          <a:lstStyle/>
          <a:p>
            <a:pPr algn="ctr" indent="0" marL="0">
              <a:buNone/>
            </a:pPr>
            <a:r>
              <a:rPr lang="en-US" sz="1000" dirty="0">
                <a:solidFill>
                  <a:srgbClr val="1E293B"/>
                </a:solidFill>
                <a:latin typeface="Arial" pitchFamily="34" charset="0"/>
                <a:ea typeface="Arial" pitchFamily="34" charset="-122"/>
                <a:cs typeface="Arial" pitchFamily="34" charset="-120"/>
              </a:rPr>
              <a:t>平准化产品组合</a:t>
            </a:r>
            <a:endParaRPr lang="en-US" sz="1000" dirty="0"/>
          </a:p>
          <a:p>
            <a:pPr algn="ctr" indent="0" marL="0">
              <a:buNone/>
            </a:pPr>
            <a:r>
              <a:rPr lang="en-US" sz="1000" dirty="0">
                <a:solidFill>
                  <a:srgbClr val="1E293B"/>
                </a:solidFill>
                <a:latin typeface="Arial" pitchFamily="34" charset="0"/>
                <a:ea typeface="Arial" pitchFamily="34" charset="-122"/>
                <a:cs typeface="Arial" pitchFamily="34" charset="-120"/>
              </a:rPr>
              <a:t>减少波动和浪费</a:t>
            </a:r>
            <a:endParaRPr lang="en-US" sz="1000" dirty="0"/>
          </a:p>
        </p:txBody>
      </p:sp>
      <p:sp>
        <p:nvSpPr>
          <p:cNvPr id="39" name="Shape 37"/>
          <p:cNvSpPr/>
          <p:nvPr/>
        </p:nvSpPr>
        <p:spPr>
          <a:xfrm>
            <a:off x="6949440" y="3749040"/>
            <a:ext cx="1097280" cy="320040"/>
          </a:xfrm>
          <a:prstGeom prst="rect">
            <a:avLst>
              <a:gd name="adj" fmla="val 11429"/>
            </a:avLst>
          </a:prstGeom>
          <a:solidFill>
            <a:srgbClr val="D97706"/>
          </a:solidFill>
          <a:ln/>
        </p:spPr>
        <p:txBody>
          <a:bodyPr/>
          <a:p/>
        </p:txBody>
      </p:sp>
      <p:sp>
        <p:nvSpPr>
          <p:cNvPr id="40" name="Text 38"/>
          <p:cNvSpPr/>
          <p:nvPr/>
        </p:nvSpPr>
        <p:spPr>
          <a:xfrm>
            <a:off x="6949440" y="376732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工序A</a:t>
            </a:r>
            <a:endParaRPr lang="en-US" sz="800" dirty="0"/>
          </a:p>
        </p:txBody>
      </p:sp>
      <p:sp>
        <p:nvSpPr>
          <p:cNvPr id="41" name="Shape 39"/>
          <p:cNvSpPr/>
          <p:nvPr/>
        </p:nvSpPr>
        <p:spPr>
          <a:xfrm>
            <a:off x="8046720" y="3794760"/>
            <a:ext cx="274320" cy="228600"/>
          </a:xfrm>
          <a:prstGeom prst="rightArrow">
            <a:avLst/>
          </a:prstGeom>
          <a:solidFill>
            <a:srgbClr val="D97706"/>
          </a:solidFill>
          <a:ln w="12700">
            <a:solidFill>
              <a:srgbClr val="D97706"/>
            </a:solidFill>
            <a:prstDash val="solid"/>
          </a:ln>
        </p:spPr>
        <p:txBody>
          <a:bodyPr/>
          <a:p/>
        </p:txBody>
      </p:sp>
      <p:sp>
        <p:nvSpPr>
          <p:cNvPr id="42" name="Shape 40"/>
          <p:cNvSpPr/>
          <p:nvPr/>
        </p:nvSpPr>
        <p:spPr>
          <a:xfrm>
            <a:off x="8321040" y="3749040"/>
            <a:ext cx="1097280" cy="320040"/>
          </a:xfrm>
          <a:prstGeom prst="rect">
            <a:avLst>
              <a:gd name="adj" fmla="val 11429"/>
            </a:avLst>
          </a:prstGeom>
          <a:solidFill>
            <a:srgbClr val="D97706"/>
          </a:solidFill>
          <a:ln/>
        </p:spPr>
        <p:txBody>
          <a:bodyPr/>
          <a:p/>
        </p:txBody>
      </p:sp>
      <p:sp>
        <p:nvSpPr>
          <p:cNvPr id="43" name="Text 41"/>
          <p:cNvSpPr/>
          <p:nvPr/>
        </p:nvSpPr>
        <p:spPr>
          <a:xfrm>
            <a:off x="8321040" y="3767328"/>
            <a:ext cx="1097280" cy="274320"/>
          </a:xfrm>
          <a:prstGeom prst="rect">
            <a:avLst/>
          </a:prstGeom>
          <a:noFill/>
          <a:ln/>
        </p:spPr>
        <p:txBody>
          <a:bodyPr wrap="square" rtlCol="0" anchor="ctr"/>
          <a:lstStyle/>
          <a:p>
            <a:pPr algn="ctr" indent="0" marL="0">
              <a:buNone/>
            </a:pPr>
            <a:r>
              <a:rPr lang="en-US" sz="800" dirty="0">
                <a:solidFill>
                  <a:srgbClr val="1E293B"/>
                </a:solidFill>
                <a:latin typeface="Arial" pitchFamily="34" charset="0"/>
                <a:ea typeface="Arial" pitchFamily="34" charset="-122"/>
                <a:cs typeface="Arial" pitchFamily="34" charset="-120"/>
              </a:rPr>
              <a:t>工序B</a:t>
            </a:r>
            <a:endParaRPr lang="en-US" sz="800" dirty="0"/>
          </a:p>
        </p:txBody>
      </p:sp>
      <p:sp>
        <p:nvSpPr>
          <p:cNvPr id="44" name="Shape 42"/>
          <p:cNvSpPr/>
          <p:nvPr/>
        </p:nvSpPr>
        <p:spPr>
          <a:xfrm>
            <a:off x="457200" y="4663440"/>
            <a:ext cx="11274552" cy="411480"/>
          </a:xfrm>
          <a:prstGeom prst="roundRect">
            <a:avLst>
              <a:gd name="adj" fmla="val 13333"/>
            </a:avLst>
          </a:prstGeom>
          <a:solidFill>
            <a:srgbClr val="059669"/>
          </a:solidFill>
          <a:ln w="6350">
            <a:solidFill>
              <a:srgbClr val="059669"/>
            </a:solidFill>
            <a:prstDash val="solid"/>
          </a:ln>
        </p:spPr>
        <p:txBody>
          <a:bodyPr/>
          <a:p/>
        </p:txBody>
      </p:sp>
      <p:sp>
        <p:nvSpPr>
          <p:cNvPr id="45" name="Text 43"/>
          <p:cNvSpPr/>
          <p:nvPr/>
        </p:nvSpPr>
        <p:spPr>
          <a:xfrm>
            <a:off x="457200" y="4681728"/>
            <a:ext cx="11274552" cy="384048"/>
          </a:xfrm>
          <a:prstGeom prst="rect">
            <a:avLst/>
          </a:prstGeom>
          <a:noFill/>
          <a:ln/>
        </p:spPr>
        <p:txBody>
          <a:bodyPr wrap="square" rtlCol="0" anchor="ctr"/>
          <a:lstStyle/>
          <a:p>
            <a:pPr algn="ctr" indent="0" marL="0">
              <a:buNone/>
            </a:pPr>
            <a:r>
              <a:rPr lang="en-US" sz="1300" dirty="0">
                <a:solidFill>
                  <a:srgbClr val="059669"/>
                </a:solidFill>
                <a:latin typeface="Arial Black" pitchFamily="34" charset="0"/>
                <a:ea typeface="Arial Black" pitchFamily="34" charset="-122"/>
                <a:cs typeface="Arial Black" pitchFamily="34" charset="-120"/>
              </a:rPr>
              <a:t>目标指标：Lead Time -50% | 库存 -60% | 增值比 &gt;5% | OEE &gt;85%</a:t>
            </a:r>
            <a:endParaRPr lang="en-US" sz="1300" dirty="0"/>
          </a:p>
        </p:txBody>
      </p:sp>
      <p:sp>
        <p:nvSpPr>
          <p:cNvPr id="46" name="Shape 44"/>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47" name="Text 45"/>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未来状态图是改善的蓝图 | 从现状到未来需要分阶段实施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制造业 VSM 应用</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VSM in Discrete Manufacturing</a:t>
            </a:r>
            <a:endParaRPr lang="en-US" sz="1400" dirty="0"/>
          </a:p>
        </p:txBody>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典型产品生产价值流</a:t>
            </a:r>
            <a:endParaRPr lang="en-US" sz="1600" dirty="0"/>
          </a:p>
        </p:txBody>
      </p:sp>
      <p:sp>
        <p:nvSpPr>
          <p:cNvPr id="8" name="Shape 6"/>
          <p:cNvSpPr/>
          <p:nvPr/>
        </p:nvSpPr>
        <p:spPr>
          <a:xfrm>
            <a:off x="27432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9" name="Shape 7"/>
          <p:cNvSpPr/>
          <p:nvPr/>
        </p:nvSpPr>
        <p:spPr>
          <a:xfrm>
            <a:off x="274320" y="1554480"/>
            <a:ext cx="1783080" cy="256032"/>
          </a:xfrm>
          <a:prstGeom prst="rect">
            <a:avLst/>
          </a:prstGeom>
          <a:solidFill>
            <a:srgbClr val="1E2761"/>
          </a:solidFill>
          <a:ln w="12700">
            <a:solidFill>
              <a:srgbClr val="1E2761"/>
            </a:solidFill>
            <a:prstDash val="solid"/>
          </a:ln>
        </p:spPr>
        <p:txBody>
          <a:bodyPr/>
          <a:p/>
        </p:txBody>
      </p:sp>
      <p:sp>
        <p:nvSpPr>
          <p:cNvPr id="10" name="Text 8"/>
          <p:cNvSpPr/>
          <p:nvPr/>
        </p:nvSpPr>
        <p:spPr>
          <a:xfrm>
            <a:off x="27432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机加工</a:t>
            </a:r>
            <a:endParaRPr lang="en-US" sz="1100" dirty="0"/>
          </a:p>
        </p:txBody>
      </p:sp>
      <p:sp>
        <p:nvSpPr>
          <p:cNvPr id="11" name="Text 9"/>
          <p:cNvSpPr/>
          <p:nvPr/>
        </p:nvSpPr>
        <p:spPr>
          <a:xfrm>
            <a:off x="36576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Machining</a:t>
            </a:r>
            <a:endParaRPr lang="en-US" sz="700" dirty="0"/>
          </a:p>
        </p:txBody>
      </p:sp>
      <p:sp>
        <p:nvSpPr>
          <p:cNvPr id="12" name="Text 10"/>
          <p:cNvSpPr/>
          <p:nvPr/>
        </p:nvSpPr>
        <p:spPr>
          <a:xfrm>
            <a:off x="36576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2.5 min</a:t>
            </a:r>
            <a:endParaRPr lang="en-US" sz="900" dirty="0"/>
          </a:p>
        </p:txBody>
      </p:sp>
      <p:sp>
        <p:nvSpPr>
          <p:cNvPr id="13" name="Text 11"/>
          <p:cNvSpPr/>
          <p:nvPr/>
        </p:nvSpPr>
        <p:spPr>
          <a:xfrm>
            <a:off x="36576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85%</a:t>
            </a:r>
            <a:endParaRPr lang="en-US" sz="900" dirty="0"/>
          </a:p>
        </p:txBody>
      </p:sp>
      <p:sp>
        <p:nvSpPr>
          <p:cNvPr id="14" name="Text 12"/>
          <p:cNvSpPr/>
          <p:nvPr/>
        </p:nvSpPr>
        <p:spPr>
          <a:xfrm>
            <a:off x="36576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500</a:t>
            </a:r>
            <a:endParaRPr lang="en-US" sz="900" dirty="0"/>
          </a:p>
        </p:txBody>
      </p:sp>
      <p:sp>
        <p:nvSpPr>
          <p:cNvPr id="15" name="Shape 13"/>
          <p:cNvSpPr/>
          <p:nvPr/>
        </p:nvSpPr>
        <p:spPr>
          <a:xfrm>
            <a:off x="457200" y="2834640"/>
            <a:ext cx="1417320" cy="73152"/>
          </a:xfrm>
          <a:prstGeom prst="rect">
            <a:avLst>
              <a:gd name="adj" fmla="val 37500"/>
            </a:avLst>
          </a:prstGeom>
          <a:solidFill>
            <a:srgbClr val="E2E8F0"/>
          </a:solidFill>
          <a:ln/>
        </p:spPr>
        <p:txBody>
          <a:bodyPr/>
          <a:p/>
        </p:txBody>
      </p:sp>
      <p:sp>
        <p:nvSpPr>
          <p:cNvPr id="16" name="Shape 14"/>
          <p:cNvSpPr/>
          <p:nvPr/>
        </p:nvSpPr>
        <p:spPr>
          <a:xfrm>
            <a:off x="457200" y="2834640"/>
            <a:ext cx="1204722" cy="73152"/>
          </a:xfrm>
          <a:prstGeom prst="rect">
            <a:avLst>
              <a:gd name="adj" fmla="val 37500"/>
            </a:avLst>
          </a:prstGeom>
          <a:solidFill>
            <a:srgbClr val="1E2761"/>
          </a:solidFill>
          <a:ln/>
        </p:spPr>
        <p:txBody>
          <a:bodyPr/>
          <a:p/>
        </p:txBody>
      </p:sp>
      <p:sp>
        <p:nvSpPr>
          <p:cNvPr id="17" name="Text 15"/>
          <p:cNvSpPr/>
          <p:nvPr/>
        </p:nvSpPr>
        <p:spPr>
          <a:xfrm>
            <a:off x="45720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85%</a:t>
            </a:r>
            <a:endParaRPr lang="en-US" sz="800" dirty="0"/>
          </a:p>
        </p:txBody>
      </p:sp>
      <p:sp>
        <p:nvSpPr>
          <p:cNvPr id="18" name="Shape 16"/>
          <p:cNvSpPr/>
          <p:nvPr/>
        </p:nvSpPr>
        <p:spPr>
          <a:xfrm>
            <a:off x="219456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19" name="Shape 17"/>
          <p:cNvSpPr/>
          <p:nvPr/>
        </p:nvSpPr>
        <p:spPr>
          <a:xfrm>
            <a:off x="2194560" y="1554480"/>
            <a:ext cx="1783080" cy="256032"/>
          </a:xfrm>
          <a:prstGeom prst="rect">
            <a:avLst/>
          </a:prstGeom>
          <a:solidFill>
            <a:srgbClr val="0D9488"/>
          </a:solidFill>
          <a:ln w="12700">
            <a:solidFill>
              <a:srgbClr val="0D9488"/>
            </a:solidFill>
            <a:prstDash val="solid"/>
          </a:ln>
        </p:spPr>
        <p:txBody>
          <a:bodyPr/>
          <a:p/>
        </p:txBody>
      </p:sp>
      <p:sp>
        <p:nvSpPr>
          <p:cNvPr id="20" name="Text 18"/>
          <p:cNvSpPr/>
          <p:nvPr/>
        </p:nvSpPr>
        <p:spPr>
          <a:xfrm>
            <a:off x="219456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精加工</a:t>
            </a:r>
            <a:endParaRPr lang="en-US" sz="1100" dirty="0"/>
          </a:p>
        </p:txBody>
      </p:sp>
      <p:sp>
        <p:nvSpPr>
          <p:cNvPr id="21" name="Text 19"/>
          <p:cNvSpPr/>
          <p:nvPr/>
        </p:nvSpPr>
        <p:spPr>
          <a:xfrm>
            <a:off x="228600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Precision Machining</a:t>
            </a:r>
            <a:endParaRPr lang="en-US" sz="700" dirty="0"/>
          </a:p>
        </p:txBody>
      </p:sp>
      <p:sp>
        <p:nvSpPr>
          <p:cNvPr id="22" name="Text 20"/>
          <p:cNvSpPr/>
          <p:nvPr/>
        </p:nvSpPr>
        <p:spPr>
          <a:xfrm>
            <a:off x="228600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1.8 min</a:t>
            </a:r>
            <a:endParaRPr lang="en-US" sz="900" dirty="0"/>
          </a:p>
        </p:txBody>
      </p:sp>
      <p:sp>
        <p:nvSpPr>
          <p:cNvPr id="23" name="Text 21"/>
          <p:cNvSpPr/>
          <p:nvPr/>
        </p:nvSpPr>
        <p:spPr>
          <a:xfrm>
            <a:off x="228600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90%</a:t>
            </a:r>
            <a:endParaRPr lang="en-US" sz="900" dirty="0"/>
          </a:p>
        </p:txBody>
      </p:sp>
      <p:sp>
        <p:nvSpPr>
          <p:cNvPr id="24" name="Text 22"/>
          <p:cNvSpPr/>
          <p:nvPr/>
        </p:nvSpPr>
        <p:spPr>
          <a:xfrm>
            <a:off x="228600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700</a:t>
            </a:r>
            <a:endParaRPr lang="en-US" sz="900" dirty="0"/>
          </a:p>
        </p:txBody>
      </p:sp>
      <p:sp>
        <p:nvSpPr>
          <p:cNvPr id="25" name="Shape 23"/>
          <p:cNvSpPr/>
          <p:nvPr/>
        </p:nvSpPr>
        <p:spPr>
          <a:xfrm>
            <a:off x="2377440" y="2834640"/>
            <a:ext cx="1417320" cy="73152"/>
          </a:xfrm>
          <a:prstGeom prst="rect">
            <a:avLst>
              <a:gd name="adj" fmla="val 37500"/>
            </a:avLst>
          </a:prstGeom>
          <a:solidFill>
            <a:srgbClr val="E2E8F0"/>
          </a:solidFill>
          <a:ln/>
        </p:spPr>
        <p:txBody>
          <a:bodyPr/>
          <a:p/>
        </p:txBody>
      </p:sp>
      <p:sp>
        <p:nvSpPr>
          <p:cNvPr id="26" name="Shape 24"/>
          <p:cNvSpPr/>
          <p:nvPr/>
        </p:nvSpPr>
        <p:spPr>
          <a:xfrm>
            <a:off x="2377440" y="2834640"/>
            <a:ext cx="1275588" cy="73152"/>
          </a:xfrm>
          <a:prstGeom prst="rect">
            <a:avLst>
              <a:gd name="adj" fmla="val 37500"/>
            </a:avLst>
          </a:prstGeom>
          <a:solidFill>
            <a:srgbClr val="0D9488"/>
          </a:solidFill>
          <a:ln/>
        </p:spPr>
        <p:txBody>
          <a:bodyPr/>
          <a:p/>
        </p:txBody>
      </p:sp>
      <p:sp>
        <p:nvSpPr>
          <p:cNvPr id="27" name="Text 25"/>
          <p:cNvSpPr/>
          <p:nvPr/>
        </p:nvSpPr>
        <p:spPr>
          <a:xfrm>
            <a:off x="237744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90%</a:t>
            </a:r>
            <a:endParaRPr lang="en-US" sz="800" dirty="0"/>
          </a:p>
        </p:txBody>
      </p:sp>
      <p:sp>
        <p:nvSpPr>
          <p:cNvPr id="28" name="Shape 26"/>
          <p:cNvSpPr/>
          <p:nvPr/>
        </p:nvSpPr>
        <p:spPr>
          <a:xfrm>
            <a:off x="411480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29" name="Shape 27"/>
          <p:cNvSpPr/>
          <p:nvPr/>
        </p:nvSpPr>
        <p:spPr>
          <a:xfrm>
            <a:off x="4114800" y="1554480"/>
            <a:ext cx="1783080" cy="256032"/>
          </a:xfrm>
          <a:prstGeom prst="rect">
            <a:avLst/>
          </a:prstGeom>
          <a:solidFill>
            <a:srgbClr val="D97706"/>
          </a:solidFill>
          <a:ln w="12700">
            <a:solidFill>
              <a:srgbClr val="D97706"/>
            </a:solidFill>
            <a:prstDash val="solid"/>
          </a:ln>
        </p:spPr>
        <p:txBody>
          <a:bodyPr/>
          <a:p/>
        </p:txBody>
      </p:sp>
      <p:sp>
        <p:nvSpPr>
          <p:cNvPr id="30" name="Text 28"/>
          <p:cNvSpPr/>
          <p:nvPr/>
        </p:nvSpPr>
        <p:spPr>
          <a:xfrm>
            <a:off x="411480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热处理</a:t>
            </a:r>
            <a:endParaRPr lang="en-US" sz="1100" dirty="0"/>
          </a:p>
        </p:txBody>
      </p:sp>
      <p:sp>
        <p:nvSpPr>
          <p:cNvPr id="31" name="Text 29"/>
          <p:cNvSpPr/>
          <p:nvPr/>
        </p:nvSpPr>
        <p:spPr>
          <a:xfrm>
            <a:off x="420624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Heat Treat.</a:t>
            </a:r>
            <a:endParaRPr lang="en-US" sz="700" dirty="0"/>
          </a:p>
        </p:txBody>
      </p:sp>
      <p:sp>
        <p:nvSpPr>
          <p:cNvPr id="32" name="Text 30"/>
          <p:cNvSpPr/>
          <p:nvPr/>
        </p:nvSpPr>
        <p:spPr>
          <a:xfrm>
            <a:off x="420624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45 min</a:t>
            </a:r>
            <a:endParaRPr lang="en-US" sz="900" dirty="0"/>
          </a:p>
        </p:txBody>
      </p:sp>
      <p:sp>
        <p:nvSpPr>
          <p:cNvPr id="33" name="Text 31"/>
          <p:cNvSpPr/>
          <p:nvPr/>
        </p:nvSpPr>
        <p:spPr>
          <a:xfrm>
            <a:off x="420624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75%</a:t>
            </a:r>
            <a:endParaRPr lang="en-US" sz="900" dirty="0"/>
          </a:p>
        </p:txBody>
      </p:sp>
      <p:sp>
        <p:nvSpPr>
          <p:cNvPr id="34" name="Text 32"/>
          <p:cNvSpPr/>
          <p:nvPr/>
        </p:nvSpPr>
        <p:spPr>
          <a:xfrm>
            <a:off x="420624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1200</a:t>
            </a:r>
            <a:endParaRPr lang="en-US" sz="900" dirty="0"/>
          </a:p>
        </p:txBody>
      </p:sp>
      <p:sp>
        <p:nvSpPr>
          <p:cNvPr id="35" name="Shape 33"/>
          <p:cNvSpPr/>
          <p:nvPr/>
        </p:nvSpPr>
        <p:spPr>
          <a:xfrm>
            <a:off x="4297680" y="2834640"/>
            <a:ext cx="1417320" cy="73152"/>
          </a:xfrm>
          <a:prstGeom prst="rect">
            <a:avLst>
              <a:gd name="adj" fmla="val 37500"/>
            </a:avLst>
          </a:prstGeom>
          <a:solidFill>
            <a:srgbClr val="E2E8F0"/>
          </a:solidFill>
          <a:ln/>
        </p:spPr>
        <p:txBody>
          <a:bodyPr/>
          <a:p/>
        </p:txBody>
      </p:sp>
      <p:sp>
        <p:nvSpPr>
          <p:cNvPr id="36" name="Shape 34"/>
          <p:cNvSpPr/>
          <p:nvPr/>
        </p:nvSpPr>
        <p:spPr>
          <a:xfrm>
            <a:off x="4297680" y="2834640"/>
            <a:ext cx="1062990" cy="73152"/>
          </a:xfrm>
          <a:prstGeom prst="rect">
            <a:avLst>
              <a:gd name="adj" fmla="val 37500"/>
            </a:avLst>
          </a:prstGeom>
          <a:solidFill>
            <a:srgbClr val="D97706"/>
          </a:solidFill>
          <a:ln/>
        </p:spPr>
        <p:txBody>
          <a:bodyPr/>
          <a:p/>
        </p:txBody>
      </p:sp>
      <p:sp>
        <p:nvSpPr>
          <p:cNvPr id="37" name="Text 35"/>
          <p:cNvSpPr/>
          <p:nvPr/>
        </p:nvSpPr>
        <p:spPr>
          <a:xfrm>
            <a:off x="429768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75%</a:t>
            </a:r>
            <a:endParaRPr lang="en-US" sz="800" dirty="0"/>
          </a:p>
        </p:txBody>
      </p:sp>
      <p:sp>
        <p:nvSpPr>
          <p:cNvPr id="38" name="Shape 36"/>
          <p:cNvSpPr/>
          <p:nvPr/>
        </p:nvSpPr>
        <p:spPr>
          <a:xfrm>
            <a:off x="603504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39" name="Shape 37"/>
          <p:cNvSpPr/>
          <p:nvPr/>
        </p:nvSpPr>
        <p:spPr>
          <a:xfrm>
            <a:off x="6035040" y="1554480"/>
            <a:ext cx="1783080" cy="256032"/>
          </a:xfrm>
          <a:prstGeom prst="rect">
            <a:avLst/>
          </a:prstGeom>
          <a:solidFill>
            <a:srgbClr val="DC2626"/>
          </a:solidFill>
          <a:ln w="12700">
            <a:solidFill>
              <a:srgbClr val="DC2626"/>
            </a:solidFill>
            <a:prstDash val="solid"/>
          </a:ln>
        </p:spPr>
        <p:txBody>
          <a:bodyPr/>
          <a:p/>
        </p:txBody>
      </p:sp>
      <p:sp>
        <p:nvSpPr>
          <p:cNvPr id="40" name="Text 38"/>
          <p:cNvSpPr/>
          <p:nvPr/>
        </p:nvSpPr>
        <p:spPr>
          <a:xfrm>
            <a:off x="603504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表面处理</a:t>
            </a:r>
            <a:endParaRPr lang="en-US" sz="1100" dirty="0"/>
          </a:p>
        </p:txBody>
      </p:sp>
      <p:sp>
        <p:nvSpPr>
          <p:cNvPr id="41" name="Text 39"/>
          <p:cNvSpPr/>
          <p:nvPr/>
        </p:nvSpPr>
        <p:spPr>
          <a:xfrm>
            <a:off x="612648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Surface Tr.</a:t>
            </a:r>
            <a:endParaRPr lang="en-US" sz="700" dirty="0"/>
          </a:p>
        </p:txBody>
      </p:sp>
      <p:sp>
        <p:nvSpPr>
          <p:cNvPr id="42" name="Text 40"/>
          <p:cNvSpPr/>
          <p:nvPr/>
        </p:nvSpPr>
        <p:spPr>
          <a:xfrm>
            <a:off x="612648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30 min</a:t>
            </a:r>
            <a:endParaRPr lang="en-US" sz="900" dirty="0"/>
          </a:p>
        </p:txBody>
      </p:sp>
      <p:sp>
        <p:nvSpPr>
          <p:cNvPr id="43" name="Text 41"/>
          <p:cNvSpPr/>
          <p:nvPr/>
        </p:nvSpPr>
        <p:spPr>
          <a:xfrm>
            <a:off x="612648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80%</a:t>
            </a:r>
            <a:endParaRPr lang="en-US" sz="900" dirty="0"/>
          </a:p>
        </p:txBody>
      </p:sp>
      <p:sp>
        <p:nvSpPr>
          <p:cNvPr id="44" name="Text 42"/>
          <p:cNvSpPr/>
          <p:nvPr/>
        </p:nvSpPr>
        <p:spPr>
          <a:xfrm>
            <a:off x="612648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1000</a:t>
            </a:r>
            <a:endParaRPr lang="en-US" sz="900" dirty="0"/>
          </a:p>
        </p:txBody>
      </p:sp>
      <p:sp>
        <p:nvSpPr>
          <p:cNvPr id="45" name="Shape 43"/>
          <p:cNvSpPr/>
          <p:nvPr/>
        </p:nvSpPr>
        <p:spPr>
          <a:xfrm>
            <a:off x="6217920" y="2834640"/>
            <a:ext cx="1417320" cy="73152"/>
          </a:xfrm>
          <a:prstGeom prst="rect">
            <a:avLst>
              <a:gd name="adj" fmla="val 37500"/>
            </a:avLst>
          </a:prstGeom>
          <a:solidFill>
            <a:srgbClr val="E2E8F0"/>
          </a:solidFill>
          <a:ln/>
        </p:spPr>
        <p:txBody>
          <a:bodyPr/>
          <a:p/>
        </p:txBody>
      </p:sp>
      <p:sp>
        <p:nvSpPr>
          <p:cNvPr id="46" name="Shape 44"/>
          <p:cNvSpPr/>
          <p:nvPr/>
        </p:nvSpPr>
        <p:spPr>
          <a:xfrm>
            <a:off x="6217920" y="2834640"/>
            <a:ext cx="1133856" cy="73152"/>
          </a:xfrm>
          <a:prstGeom prst="rect">
            <a:avLst>
              <a:gd name="adj" fmla="val 37500"/>
            </a:avLst>
          </a:prstGeom>
          <a:solidFill>
            <a:srgbClr val="DC2626"/>
          </a:solidFill>
          <a:ln/>
        </p:spPr>
        <p:txBody>
          <a:bodyPr/>
          <a:p/>
        </p:txBody>
      </p:sp>
      <p:sp>
        <p:nvSpPr>
          <p:cNvPr id="47" name="Text 45"/>
          <p:cNvSpPr/>
          <p:nvPr/>
        </p:nvSpPr>
        <p:spPr>
          <a:xfrm>
            <a:off x="621792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80%</a:t>
            </a:r>
            <a:endParaRPr lang="en-US" sz="800" dirty="0"/>
          </a:p>
        </p:txBody>
      </p:sp>
      <p:sp>
        <p:nvSpPr>
          <p:cNvPr id="48" name="Shape 46"/>
          <p:cNvSpPr/>
          <p:nvPr/>
        </p:nvSpPr>
        <p:spPr>
          <a:xfrm>
            <a:off x="795528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49" name="Shape 47"/>
          <p:cNvSpPr/>
          <p:nvPr/>
        </p:nvSpPr>
        <p:spPr>
          <a:xfrm>
            <a:off x="7955280" y="1554480"/>
            <a:ext cx="1783080" cy="256032"/>
          </a:xfrm>
          <a:prstGeom prst="rect">
            <a:avLst/>
          </a:prstGeom>
          <a:solidFill>
            <a:srgbClr val="059669"/>
          </a:solidFill>
          <a:ln w="12700">
            <a:solidFill>
              <a:srgbClr val="059669"/>
            </a:solidFill>
            <a:prstDash val="solid"/>
          </a:ln>
        </p:spPr>
        <p:txBody>
          <a:bodyPr/>
          <a:p/>
        </p:txBody>
      </p:sp>
      <p:sp>
        <p:nvSpPr>
          <p:cNvPr id="50" name="Text 48"/>
          <p:cNvSpPr/>
          <p:nvPr/>
        </p:nvSpPr>
        <p:spPr>
          <a:xfrm>
            <a:off x="795528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装配</a:t>
            </a:r>
            <a:endParaRPr lang="en-US" sz="1100" dirty="0"/>
          </a:p>
        </p:txBody>
      </p:sp>
      <p:sp>
        <p:nvSpPr>
          <p:cNvPr id="51" name="Text 49"/>
          <p:cNvSpPr/>
          <p:nvPr/>
        </p:nvSpPr>
        <p:spPr>
          <a:xfrm>
            <a:off x="804672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Inspection</a:t>
            </a:r>
            <a:endParaRPr lang="en-US" sz="700" dirty="0"/>
          </a:p>
        </p:txBody>
      </p:sp>
      <p:sp>
        <p:nvSpPr>
          <p:cNvPr id="52" name="Text 50"/>
          <p:cNvSpPr/>
          <p:nvPr/>
        </p:nvSpPr>
        <p:spPr>
          <a:xfrm>
            <a:off x="804672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0.5 min</a:t>
            </a:r>
            <a:endParaRPr lang="en-US" sz="900" dirty="0"/>
          </a:p>
        </p:txBody>
      </p:sp>
      <p:sp>
        <p:nvSpPr>
          <p:cNvPr id="53" name="Text 51"/>
          <p:cNvSpPr/>
          <p:nvPr/>
        </p:nvSpPr>
        <p:spPr>
          <a:xfrm>
            <a:off x="804672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95%</a:t>
            </a:r>
            <a:endParaRPr lang="en-US" sz="900" dirty="0"/>
          </a:p>
        </p:txBody>
      </p:sp>
      <p:sp>
        <p:nvSpPr>
          <p:cNvPr id="54" name="Text 52"/>
          <p:cNvSpPr/>
          <p:nvPr/>
        </p:nvSpPr>
        <p:spPr>
          <a:xfrm>
            <a:off x="804672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300</a:t>
            </a:r>
            <a:endParaRPr lang="en-US" sz="900" dirty="0"/>
          </a:p>
        </p:txBody>
      </p:sp>
      <p:sp>
        <p:nvSpPr>
          <p:cNvPr id="55" name="Shape 53"/>
          <p:cNvSpPr/>
          <p:nvPr/>
        </p:nvSpPr>
        <p:spPr>
          <a:xfrm>
            <a:off x="8138160" y="2834640"/>
            <a:ext cx="1417320" cy="73152"/>
          </a:xfrm>
          <a:prstGeom prst="rect">
            <a:avLst>
              <a:gd name="adj" fmla="val 37500"/>
            </a:avLst>
          </a:prstGeom>
          <a:solidFill>
            <a:srgbClr val="E2E8F0"/>
          </a:solidFill>
          <a:ln/>
        </p:spPr>
        <p:txBody>
          <a:bodyPr/>
          <a:p/>
        </p:txBody>
      </p:sp>
      <p:sp>
        <p:nvSpPr>
          <p:cNvPr id="56" name="Shape 54"/>
          <p:cNvSpPr/>
          <p:nvPr/>
        </p:nvSpPr>
        <p:spPr>
          <a:xfrm>
            <a:off x="8138160" y="2834640"/>
            <a:ext cx="1346454" cy="73152"/>
          </a:xfrm>
          <a:prstGeom prst="rect">
            <a:avLst>
              <a:gd name="adj" fmla="val 37500"/>
            </a:avLst>
          </a:prstGeom>
          <a:solidFill>
            <a:srgbClr val="059669"/>
          </a:solidFill>
          <a:ln/>
        </p:spPr>
        <p:txBody>
          <a:bodyPr/>
          <a:p/>
        </p:txBody>
      </p:sp>
      <p:sp>
        <p:nvSpPr>
          <p:cNvPr id="57" name="Text 55"/>
          <p:cNvSpPr/>
          <p:nvPr/>
        </p:nvSpPr>
        <p:spPr>
          <a:xfrm>
            <a:off x="813816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95%</a:t>
            </a:r>
            <a:endParaRPr lang="en-US" sz="800" dirty="0"/>
          </a:p>
        </p:txBody>
      </p:sp>
      <p:sp>
        <p:nvSpPr>
          <p:cNvPr id="58" name="Shape 56"/>
          <p:cNvSpPr/>
          <p:nvPr/>
        </p:nvSpPr>
        <p:spPr>
          <a:xfrm>
            <a:off x="9875520" y="1554480"/>
            <a:ext cx="1783080" cy="1645920"/>
          </a:xfrm>
          <a:prstGeom prst="roundRect">
            <a:avLst>
              <a:gd name="adj" fmla="val 4444"/>
            </a:avLst>
          </a:prstGeom>
          <a:solidFill>
            <a:srgbClr val="FFFFFF"/>
          </a:solidFill>
          <a:ln/>
          <a:effectLst>
            <a:outerShdw sx="100000" sy="100000" kx="0" ky="0" algn="bl" rotWithShape="0" blurRad="50800" dist="12700" dir="8100000">
              <a:srgbClr val="000000">
                <a:alpha val="8000"/>
              </a:srgbClr>
            </a:outerShdw>
          </a:effectLst>
        </p:spPr>
        <p:txBody>
          <a:bodyPr/>
          <a:p/>
        </p:txBody>
      </p:sp>
      <p:sp>
        <p:nvSpPr>
          <p:cNvPr id="59" name="Shape 57"/>
          <p:cNvSpPr/>
          <p:nvPr/>
        </p:nvSpPr>
        <p:spPr>
          <a:xfrm>
            <a:off x="9875520" y="1554480"/>
            <a:ext cx="1783080" cy="256032"/>
          </a:xfrm>
          <a:prstGeom prst="rect">
            <a:avLst/>
          </a:prstGeom>
          <a:solidFill>
            <a:srgbClr val="0D9488"/>
          </a:solidFill>
          <a:ln w="12700">
            <a:solidFill>
              <a:srgbClr val="0D9488"/>
            </a:solidFill>
            <a:prstDash val="solid"/>
          </a:ln>
        </p:spPr>
        <p:txBody>
          <a:bodyPr/>
          <a:p/>
        </p:txBody>
      </p:sp>
      <p:sp>
        <p:nvSpPr>
          <p:cNvPr id="60" name="Text 58"/>
          <p:cNvSpPr/>
          <p:nvPr/>
        </p:nvSpPr>
        <p:spPr>
          <a:xfrm>
            <a:off x="9875520" y="1572768"/>
            <a:ext cx="1783080"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包装</a:t>
            </a:r>
            <a:endParaRPr lang="en-US" sz="1100" dirty="0"/>
          </a:p>
        </p:txBody>
      </p:sp>
      <p:sp>
        <p:nvSpPr>
          <p:cNvPr id="61" name="Text 59"/>
          <p:cNvSpPr/>
          <p:nvPr/>
        </p:nvSpPr>
        <p:spPr>
          <a:xfrm>
            <a:off x="9966960" y="1828800"/>
            <a:ext cx="1600200" cy="182880"/>
          </a:xfrm>
          <a:prstGeom prst="rect">
            <a:avLst/>
          </a:prstGeom>
          <a:noFill/>
          <a:ln/>
        </p:spPr>
        <p:txBody>
          <a:bodyPr wrap="square" rtlCol="0" anchor="ctr"/>
          <a:lstStyle/>
          <a:p>
            <a:pPr algn="ctr" indent="0" marL="0">
              <a:buNone/>
            </a:pPr>
            <a:r>
              <a:rPr lang="en-US" sz="700" dirty="0">
                <a:solidFill>
                  <a:srgbClr val="64748B"/>
                </a:solidFill>
                <a:latin typeface="Arial" pitchFamily="34" charset="0"/>
                <a:ea typeface="Arial" pitchFamily="34" charset="-122"/>
                <a:cs typeface="Arial" pitchFamily="34" charset="-120"/>
              </a:rPr>
              <a:t>Packaging</a:t>
            </a:r>
            <a:endParaRPr lang="en-US" sz="700" dirty="0"/>
          </a:p>
        </p:txBody>
      </p:sp>
      <p:sp>
        <p:nvSpPr>
          <p:cNvPr id="62" name="Text 60"/>
          <p:cNvSpPr/>
          <p:nvPr/>
        </p:nvSpPr>
        <p:spPr>
          <a:xfrm>
            <a:off x="9966960" y="20574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CT: 0.3 min</a:t>
            </a:r>
            <a:endParaRPr lang="en-US" sz="900" dirty="0"/>
          </a:p>
        </p:txBody>
      </p:sp>
      <p:sp>
        <p:nvSpPr>
          <p:cNvPr id="63" name="Text 61"/>
          <p:cNvSpPr/>
          <p:nvPr/>
        </p:nvSpPr>
        <p:spPr>
          <a:xfrm>
            <a:off x="9966960" y="2286000"/>
            <a:ext cx="1600200" cy="22860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Uptime: 98%</a:t>
            </a:r>
            <a:endParaRPr lang="en-US" sz="900" dirty="0"/>
          </a:p>
        </p:txBody>
      </p:sp>
      <p:sp>
        <p:nvSpPr>
          <p:cNvPr id="64" name="Text 62"/>
          <p:cNvSpPr/>
          <p:nvPr/>
        </p:nvSpPr>
        <p:spPr>
          <a:xfrm>
            <a:off x="9966960" y="2514600"/>
            <a:ext cx="1600200" cy="22860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Inventory: 200</a:t>
            </a:r>
            <a:endParaRPr lang="en-US" sz="900" dirty="0"/>
          </a:p>
        </p:txBody>
      </p:sp>
      <p:sp>
        <p:nvSpPr>
          <p:cNvPr id="65" name="Shape 63"/>
          <p:cNvSpPr/>
          <p:nvPr/>
        </p:nvSpPr>
        <p:spPr>
          <a:xfrm>
            <a:off x="10058400" y="2834640"/>
            <a:ext cx="1417320" cy="73152"/>
          </a:xfrm>
          <a:prstGeom prst="rect">
            <a:avLst>
              <a:gd name="adj" fmla="val 37500"/>
            </a:avLst>
          </a:prstGeom>
          <a:solidFill>
            <a:srgbClr val="E2E8F0"/>
          </a:solidFill>
          <a:ln/>
        </p:spPr>
        <p:txBody>
          <a:bodyPr/>
          <a:p/>
        </p:txBody>
      </p:sp>
      <p:sp>
        <p:nvSpPr>
          <p:cNvPr id="66" name="Shape 64"/>
          <p:cNvSpPr/>
          <p:nvPr/>
        </p:nvSpPr>
        <p:spPr>
          <a:xfrm>
            <a:off x="10058400" y="2834640"/>
            <a:ext cx="1388974" cy="73152"/>
          </a:xfrm>
          <a:prstGeom prst="rect">
            <a:avLst>
              <a:gd name="adj" fmla="val 37500"/>
            </a:avLst>
          </a:prstGeom>
          <a:solidFill>
            <a:srgbClr val="0D9488"/>
          </a:solidFill>
          <a:ln/>
        </p:spPr>
        <p:txBody>
          <a:bodyPr/>
          <a:p/>
        </p:txBody>
      </p:sp>
      <p:sp>
        <p:nvSpPr>
          <p:cNvPr id="67" name="Text 65"/>
          <p:cNvSpPr/>
          <p:nvPr/>
        </p:nvSpPr>
        <p:spPr>
          <a:xfrm>
            <a:off x="10058400" y="2944368"/>
            <a:ext cx="1417320" cy="18288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98%</a:t>
            </a:r>
            <a:endParaRPr lang="en-US" sz="800" dirty="0"/>
          </a:p>
        </p:txBody>
      </p:sp>
      <p:sp>
        <p:nvSpPr>
          <p:cNvPr id="68" name="Shape 66"/>
          <p:cNvSpPr/>
          <p:nvPr/>
        </p:nvSpPr>
        <p:spPr>
          <a:xfrm>
            <a:off x="457200" y="3474720"/>
            <a:ext cx="11274552" cy="1463040"/>
          </a:xfrm>
          <a:prstGeom prst="roundRect">
            <a:avLst>
              <a:gd name="adj" fmla="val 6250"/>
            </a:avLst>
          </a:prstGeom>
          <a:solidFill>
            <a:srgbClr val="1E2761"/>
          </a:solidFill>
          <a:ln/>
        </p:spPr>
        <p:txBody>
          <a:bodyPr/>
          <a:p/>
        </p:txBody>
      </p:sp>
      <p:sp>
        <p:nvSpPr>
          <p:cNvPr id="69" name="Text 67"/>
          <p:cNvSpPr/>
          <p:nvPr/>
        </p:nvSpPr>
        <p:spPr>
          <a:xfrm>
            <a:off x="731520" y="3566160"/>
            <a:ext cx="10698480" cy="320040"/>
          </a:xfrm>
          <a:prstGeom prst="rect">
            <a:avLst/>
          </a:prstGeom>
          <a:noFill/>
          <a:ln/>
        </p:spPr>
        <p:txBody>
          <a:bodyPr wrap="square" rtlCol="0" anchor="ctr"/>
          <a:lstStyle/>
          <a:p>
            <a:pPr indent="0" marL="0">
              <a:buNone/>
            </a:pPr>
            <a:r>
              <a:rPr lang="en-US" sz="1400" b="1" dirty="0">
                <a:solidFill>
                  <a:srgbClr val="1E2761"/>
                </a:solidFill>
                <a:latin typeface="Arial Black" pitchFamily="34" charset="0"/>
                <a:ea typeface="Arial Black" pitchFamily="34" charset="-122"/>
                <a:cs typeface="Arial Black" pitchFamily="34" charset="-120"/>
              </a:rPr>
              <a:t>关键改善机会</a:t>
            </a:r>
            <a:endParaRPr lang="en-US" sz="1400" dirty="0"/>
          </a:p>
        </p:txBody>
      </p:sp>
      <p:sp>
        <p:nvSpPr>
          <p:cNvPr id="70" name="Shape 68"/>
          <p:cNvSpPr/>
          <p:nvPr/>
        </p:nvSpPr>
        <p:spPr>
          <a:xfrm>
            <a:off x="731520" y="3931920"/>
            <a:ext cx="2560320" cy="914400"/>
          </a:xfrm>
          <a:prstGeom prst="roundRect">
            <a:avLst>
              <a:gd name="adj" fmla="val 8000"/>
            </a:avLst>
          </a:prstGeom>
          <a:solidFill>
            <a:srgbClr val="FFFFFF"/>
          </a:solidFill>
          <a:ln/>
        </p:spPr>
        <p:txBody>
          <a:bodyPr/>
          <a:p/>
        </p:txBody>
      </p:sp>
      <p:sp>
        <p:nvSpPr>
          <p:cNvPr id="71" name="Shape 69"/>
          <p:cNvSpPr/>
          <p:nvPr/>
        </p:nvSpPr>
        <p:spPr>
          <a:xfrm>
            <a:off x="731520" y="3931920"/>
            <a:ext cx="2560320" cy="201168"/>
          </a:xfrm>
          <a:prstGeom prst="rect">
            <a:avLst/>
          </a:prstGeom>
          <a:solidFill>
            <a:srgbClr val="DC2626"/>
          </a:solidFill>
          <a:ln w="12700">
            <a:solidFill>
              <a:srgbClr val="DC2626"/>
            </a:solidFill>
            <a:prstDash val="solid"/>
          </a:ln>
        </p:spPr>
        <p:txBody>
          <a:bodyPr/>
          <a:p/>
        </p:txBody>
      </p:sp>
      <p:sp>
        <p:nvSpPr>
          <p:cNvPr id="72" name="Text 70"/>
          <p:cNvSpPr/>
          <p:nvPr/>
        </p:nvSpPr>
        <p:spPr>
          <a:xfrm>
            <a:off x="822960" y="3950208"/>
            <a:ext cx="2377440" cy="182880"/>
          </a:xfrm>
          <a:prstGeom prst="rect">
            <a:avLst/>
          </a:prstGeom>
          <a:noFill/>
          <a:ln/>
        </p:spPr>
        <p:txBody>
          <a:bodyPr wrap="square" lIns="0" tIns="0" rIns="0" bIns="0" rtlCol="0" anchor="ctr"/>
          <a:lstStyle/>
          <a:p>
            <a:pPr indent="0" marL="0">
              <a:buNone/>
            </a:pPr>
            <a:r>
              <a:rPr lang="en-US" sz="900" b="1" dirty="0">
                <a:solidFill>
                  <a:srgbClr val="FFFFFF"/>
                </a:solidFill>
                <a:latin typeface="Arial Black" pitchFamily="34" charset="0"/>
                <a:ea typeface="Arial Black" pitchFamily="34" charset="-122"/>
                <a:cs typeface="Arial Black" pitchFamily="34" charset="-120"/>
              </a:rPr>
              <a:t>01 热处理瓶颈</a:t>
            </a:r>
            <a:endParaRPr lang="en-US" sz="900" dirty="0"/>
          </a:p>
        </p:txBody>
      </p:sp>
      <p:sp>
        <p:nvSpPr>
          <p:cNvPr id="73" name="Text 71"/>
          <p:cNvSpPr/>
          <p:nvPr/>
        </p:nvSpPr>
        <p:spPr>
          <a:xfrm>
            <a:off x="822960" y="4187952"/>
            <a:ext cx="2377440" cy="594360"/>
          </a:xfrm>
          <a:prstGeom prst="rect">
            <a:avLst/>
          </a:prstGeom>
          <a:noFill/>
          <a:ln/>
        </p:spPr>
        <p:txBody>
          <a:bodyPr wrap="square" rtlCol="0" anchor="t"/>
          <a:lstStyle/>
          <a:p>
            <a:pPr indent="0" marL="0">
              <a:buNone/>
            </a:pPr>
            <a:r>
              <a:rPr lang="en-US" sz="800" dirty="0">
                <a:solidFill>
                  <a:srgbClr val="1E293B"/>
                </a:solidFill>
                <a:latin typeface="Arial" pitchFamily="34" charset="0"/>
                <a:ea typeface="Arial" pitchFamily="34" charset="-122"/>
                <a:cs typeface="Arial" pitchFamily="34" charset="-120"/>
              </a:rPr>
              <a:t>CT=45min是最大瓶颈，建议增加设备或优化装炉量</a:t>
            </a:r>
            <a:endParaRPr lang="en-US" sz="800" dirty="0"/>
          </a:p>
        </p:txBody>
      </p:sp>
      <p:sp>
        <p:nvSpPr>
          <p:cNvPr id="74" name="Shape 72"/>
          <p:cNvSpPr/>
          <p:nvPr/>
        </p:nvSpPr>
        <p:spPr>
          <a:xfrm>
            <a:off x="3474720" y="3931920"/>
            <a:ext cx="2560320" cy="914400"/>
          </a:xfrm>
          <a:prstGeom prst="roundRect">
            <a:avLst>
              <a:gd name="adj" fmla="val 8000"/>
            </a:avLst>
          </a:prstGeom>
          <a:solidFill>
            <a:srgbClr val="FFFFFF"/>
          </a:solidFill>
          <a:ln/>
        </p:spPr>
        <p:txBody>
          <a:bodyPr/>
          <a:p/>
        </p:txBody>
      </p:sp>
      <p:sp>
        <p:nvSpPr>
          <p:cNvPr id="75" name="Shape 73"/>
          <p:cNvSpPr/>
          <p:nvPr/>
        </p:nvSpPr>
        <p:spPr>
          <a:xfrm>
            <a:off x="3474720" y="3931920"/>
            <a:ext cx="2560320" cy="201168"/>
          </a:xfrm>
          <a:prstGeom prst="rect">
            <a:avLst/>
          </a:prstGeom>
          <a:solidFill>
            <a:srgbClr val="D97706"/>
          </a:solidFill>
          <a:ln w="12700">
            <a:solidFill>
              <a:srgbClr val="D97706"/>
            </a:solidFill>
            <a:prstDash val="solid"/>
          </a:ln>
        </p:spPr>
        <p:txBody>
          <a:bodyPr/>
          <a:p/>
        </p:txBody>
      </p:sp>
      <p:sp>
        <p:nvSpPr>
          <p:cNvPr id="76" name="Text 74"/>
          <p:cNvSpPr/>
          <p:nvPr/>
        </p:nvSpPr>
        <p:spPr>
          <a:xfrm>
            <a:off x="3566160" y="3950208"/>
            <a:ext cx="2377440" cy="182880"/>
          </a:xfrm>
          <a:prstGeom prst="rect">
            <a:avLst/>
          </a:prstGeom>
          <a:noFill/>
          <a:ln/>
        </p:spPr>
        <p:txBody>
          <a:bodyPr wrap="square" lIns="0" tIns="0" rIns="0" bIns="0" rtlCol="0" anchor="ctr"/>
          <a:lstStyle/>
          <a:p>
            <a:pPr indent="0" marL="0">
              <a:buNone/>
            </a:pPr>
            <a:r>
              <a:rPr lang="en-US" sz="900" b="1" dirty="0">
                <a:solidFill>
                  <a:srgbClr val="FFFFFF"/>
                </a:solidFill>
                <a:latin typeface="Arial Black" pitchFamily="34" charset="0"/>
                <a:ea typeface="Arial Black" pitchFamily="34" charset="-122"/>
                <a:cs typeface="Arial Black" pitchFamily="34" charset="-120"/>
              </a:rPr>
              <a:t>02 换型时间长</a:t>
            </a:r>
            <a:endParaRPr lang="en-US" sz="900" dirty="0"/>
          </a:p>
        </p:txBody>
      </p:sp>
      <p:sp>
        <p:nvSpPr>
          <p:cNvPr id="77" name="Text 75"/>
          <p:cNvSpPr/>
          <p:nvPr/>
        </p:nvSpPr>
        <p:spPr>
          <a:xfrm>
            <a:off x="3566160" y="4187952"/>
            <a:ext cx="2377440" cy="594360"/>
          </a:xfrm>
          <a:prstGeom prst="rect">
            <a:avLst/>
          </a:prstGeom>
          <a:noFill/>
          <a:ln/>
        </p:spPr>
        <p:txBody>
          <a:bodyPr wrap="square" rtlCol="0" anchor="t"/>
          <a:lstStyle/>
          <a:p>
            <a:pPr indent="0" marL="0">
              <a:buNone/>
            </a:pPr>
            <a:r>
              <a:rPr lang="en-US" sz="800" dirty="0">
                <a:solidFill>
                  <a:srgbClr val="1E293B"/>
                </a:solidFill>
                <a:latin typeface="Arial" pitchFamily="34" charset="0"/>
                <a:ea typeface="Arial" pitchFamily="34" charset="-122"/>
                <a:cs typeface="Arial" pitchFamily="34" charset="-120"/>
              </a:rPr>
              <a:t>机加工换型&gt;60min，实施SMED可降至&lt;10min</a:t>
            </a:r>
            <a:endParaRPr lang="en-US" sz="800" dirty="0"/>
          </a:p>
        </p:txBody>
      </p:sp>
      <p:sp>
        <p:nvSpPr>
          <p:cNvPr id="78" name="Shape 76"/>
          <p:cNvSpPr/>
          <p:nvPr/>
        </p:nvSpPr>
        <p:spPr>
          <a:xfrm>
            <a:off x="6217920" y="3931920"/>
            <a:ext cx="2560320" cy="914400"/>
          </a:xfrm>
          <a:prstGeom prst="roundRect">
            <a:avLst>
              <a:gd name="adj" fmla="val 8000"/>
            </a:avLst>
          </a:prstGeom>
          <a:solidFill>
            <a:srgbClr val="FFFFFF"/>
          </a:solidFill>
          <a:ln/>
        </p:spPr>
        <p:txBody>
          <a:bodyPr/>
          <a:p/>
        </p:txBody>
      </p:sp>
      <p:sp>
        <p:nvSpPr>
          <p:cNvPr id="79" name="Shape 77"/>
          <p:cNvSpPr/>
          <p:nvPr/>
        </p:nvSpPr>
        <p:spPr>
          <a:xfrm>
            <a:off x="6217920" y="3931920"/>
            <a:ext cx="2560320" cy="201168"/>
          </a:xfrm>
          <a:prstGeom prst="rect">
            <a:avLst/>
          </a:prstGeom>
          <a:solidFill>
            <a:srgbClr val="0D9488"/>
          </a:solidFill>
          <a:ln w="12700">
            <a:solidFill>
              <a:srgbClr val="0D9488"/>
            </a:solidFill>
            <a:prstDash val="solid"/>
          </a:ln>
        </p:spPr>
        <p:txBody>
          <a:bodyPr/>
          <a:p/>
        </p:txBody>
      </p:sp>
      <p:sp>
        <p:nvSpPr>
          <p:cNvPr id="80" name="Text 78"/>
          <p:cNvSpPr/>
          <p:nvPr/>
        </p:nvSpPr>
        <p:spPr>
          <a:xfrm>
            <a:off x="6309360" y="3950208"/>
            <a:ext cx="2377440" cy="182880"/>
          </a:xfrm>
          <a:prstGeom prst="rect">
            <a:avLst/>
          </a:prstGeom>
          <a:noFill/>
          <a:ln/>
        </p:spPr>
        <p:txBody>
          <a:bodyPr wrap="square" lIns="0" tIns="0" rIns="0" bIns="0" rtlCol="0" anchor="ctr"/>
          <a:lstStyle/>
          <a:p>
            <a:pPr indent="0" marL="0">
              <a:buNone/>
            </a:pPr>
            <a:r>
              <a:rPr lang="en-US" sz="900" b="1" dirty="0">
                <a:solidFill>
                  <a:srgbClr val="FFFFFF"/>
                </a:solidFill>
                <a:latin typeface="Arial Black" pitchFamily="34" charset="0"/>
                <a:ea typeface="Arial Black" pitchFamily="34" charset="-122"/>
                <a:cs typeface="Arial Black" pitchFamily="34" charset="-120"/>
              </a:rPr>
              <a:t>03 在制品积压</a:t>
            </a:r>
            <a:endParaRPr lang="en-US" sz="900" dirty="0"/>
          </a:p>
        </p:txBody>
      </p:sp>
      <p:sp>
        <p:nvSpPr>
          <p:cNvPr id="81" name="Text 79"/>
          <p:cNvSpPr/>
          <p:nvPr/>
        </p:nvSpPr>
        <p:spPr>
          <a:xfrm>
            <a:off x="6309360" y="4187952"/>
            <a:ext cx="2377440" cy="594360"/>
          </a:xfrm>
          <a:prstGeom prst="rect">
            <a:avLst/>
          </a:prstGeom>
          <a:noFill/>
          <a:ln/>
        </p:spPr>
        <p:txBody>
          <a:bodyPr wrap="square" rtlCol="0" anchor="t"/>
          <a:lstStyle/>
          <a:p>
            <a:pPr indent="0" marL="0">
              <a:buNone/>
            </a:pPr>
            <a:r>
              <a:rPr lang="en-US" sz="800" dirty="0">
                <a:solidFill>
                  <a:srgbClr val="1E293B"/>
                </a:solidFill>
                <a:latin typeface="Arial" pitchFamily="34" charset="0"/>
                <a:ea typeface="Arial" pitchFamily="34" charset="-122"/>
                <a:cs typeface="Arial" pitchFamily="34" charset="-120"/>
              </a:rPr>
              <a:t>总WIP达3900件，拉动式可减少60%</a:t>
            </a:r>
            <a:endParaRPr lang="en-US" sz="800" dirty="0"/>
          </a:p>
        </p:txBody>
      </p:sp>
      <p:sp>
        <p:nvSpPr>
          <p:cNvPr id="82" name="Shape 80"/>
          <p:cNvSpPr/>
          <p:nvPr/>
        </p:nvSpPr>
        <p:spPr>
          <a:xfrm>
            <a:off x="8961120" y="3931920"/>
            <a:ext cx="2560320" cy="914400"/>
          </a:xfrm>
          <a:prstGeom prst="roundRect">
            <a:avLst>
              <a:gd name="adj" fmla="val 8000"/>
            </a:avLst>
          </a:prstGeom>
          <a:solidFill>
            <a:srgbClr val="FFFFFF"/>
          </a:solidFill>
          <a:ln/>
        </p:spPr>
        <p:txBody>
          <a:bodyPr/>
          <a:p/>
        </p:txBody>
      </p:sp>
      <p:sp>
        <p:nvSpPr>
          <p:cNvPr id="83" name="Shape 81"/>
          <p:cNvSpPr/>
          <p:nvPr/>
        </p:nvSpPr>
        <p:spPr>
          <a:xfrm>
            <a:off x="8961120" y="3931920"/>
            <a:ext cx="2560320" cy="201168"/>
          </a:xfrm>
          <a:prstGeom prst="rect">
            <a:avLst/>
          </a:prstGeom>
          <a:solidFill>
            <a:srgbClr val="059669"/>
          </a:solidFill>
          <a:ln w="12700">
            <a:solidFill>
              <a:srgbClr val="059669"/>
            </a:solidFill>
            <a:prstDash val="solid"/>
          </a:ln>
        </p:spPr>
        <p:txBody>
          <a:bodyPr/>
          <a:p/>
        </p:txBody>
      </p:sp>
      <p:sp>
        <p:nvSpPr>
          <p:cNvPr id="84" name="Text 82"/>
          <p:cNvSpPr/>
          <p:nvPr/>
        </p:nvSpPr>
        <p:spPr>
          <a:xfrm>
            <a:off x="9052560" y="3950208"/>
            <a:ext cx="2377440" cy="182880"/>
          </a:xfrm>
          <a:prstGeom prst="rect">
            <a:avLst/>
          </a:prstGeom>
          <a:noFill/>
          <a:ln/>
        </p:spPr>
        <p:txBody>
          <a:bodyPr wrap="square" lIns="0" tIns="0" rIns="0" bIns="0" rtlCol="0" anchor="ctr"/>
          <a:lstStyle/>
          <a:p>
            <a:pPr indent="0" marL="0">
              <a:buNone/>
            </a:pPr>
            <a:r>
              <a:rPr lang="en-US" sz="900" b="1" dirty="0">
                <a:solidFill>
                  <a:srgbClr val="FFFFFF"/>
                </a:solidFill>
                <a:latin typeface="Arial Black" pitchFamily="34" charset="0"/>
                <a:ea typeface="Arial Black" pitchFamily="34" charset="-122"/>
                <a:cs typeface="Arial Black" pitchFamily="34" charset="-120"/>
              </a:rPr>
              <a:t>04 信息流断裂</a:t>
            </a:r>
            <a:endParaRPr lang="en-US" sz="900" dirty="0"/>
          </a:p>
        </p:txBody>
      </p:sp>
      <p:sp>
        <p:nvSpPr>
          <p:cNvPr id="85" name="Text 83"/>
          <p:cNvSpPr/>
          <p:nvPr/>
        </p:nvSpPr>
        <p:spPr>
          <a:xfrm>
            <a:off x="9052560" y="4187952"/>
            <a:ext cx="2377440" cy="594360"/>
          </a:xfrm>
          <a:prstGeom prst="rect">
            <a:avLst/>
          </a:prstGeom>
          <a:noFill/>
          <a:ln/>
        </p:spPr>
        <p:txBody>
          <a:bodyPr wrap="square" rtlCol="0" anchor="t"/>
          <a:lstStyle/>
          <a:p>
            <a:pPr indent="0" marL="0">
              <a:buNone/>
            </a:pPr>
            <a:r>
              <a:rPr lang="en-US" sz="800" dirty="0">
                <a:solidFill>
                  <a:srgbClr val="1E293B"/>
                </a:solidFill>
                <a:latin typeface="Arial" pitchFamily="34" charset="0"/>
                <a:ea typeface="Arial" pitchFamily="34" charset="-122"/>
                <a:cs typeface="Arial" pitchFamily="34" charset="-120"/>
              </a:rPr>
              <a:t>计划到现场信息传递滞后，建议电子看板</a:t>
            </a:r>
            <a:endParaRPr lang="en-US" sz="800" dirty="0"/>
          </a:p>
        </p:txBody>
      </p:sp>
      <p:sp>
        <p:nvSpPr>
          <p:cNvPr id="86" name="Shape 84"/>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87" name="Text 85"/>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制造业VSM核心：减少热处理瓶颈和换型时间 | 建立拉动式生产体系</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73152"/>
            <a:ext cx="12188952" cy="6784848"/>
          </a:xfrm>
          <a:prstGeom prst="rect">
            <a:avLst/>
          </a:prstGeom>
          <a:solidFill>
            <a:srgbClr val="F8FAFC"/>
          </a:solidFill>
          <a:ln w="12700">
            <a:solidFill>
              <a:srgbClr val="F8FAFC"/>
            </a:solidFill>
            <a:prstDash val="solid"/>
          </a:ln>
        </p:spPr>
        <p:txBody>
          <a:bodyPr/>
          <a:p/>
        </p:txBody>
      </p:sp>
      <p:sp>
        <p:nvSpPr>
          <p:cNvPr id="3" name="Shape 1"/>
          <p:cNvSpPr/>
          <p:nvPr/>
        </p:nvSpPr>
        <p:spPr>
          <a:xfrm>
            <a:off x="0" y="0"/>
            <a:ext cx="12188952" cy="73152"/>
          </a:xfrm>
          <a:prstGeom prst="rect">
            <a:avLst/>
          </a:prstGeom>
          <a:solidFill>
            <a:srgbClr val="0D9488"/>
          </a:solidFill>
          <a:ln w="12700">
            <a:solidFill>
              <a:srgbClr val="0D9488"/>
            </a:solidFill>
            <a:prstDash val="solid"/>
          </a:ln>
        </p:spPr>
        <p:txBody>
          <a:bodyPr/>
          <a:p/>
        </p:txBody>
      </p:sp>
      <p:sp>
        <p:nvSpPr>
          <p:cNvPr id="4" name="Shape 2"/>
          <p:cNvSpPr/>
          <p:nvPr/>
        </p:nvSpPr>
        <p:spPr>
          <a:xfrm>
            <a:off x="0" y="73152"/>
            <a:ext cx="12188952" cy="841248"/>
          </a:xfrm>
          <a:prstGeom prst="rect">
            <a:avLst/>
          </a:prstGeom>
          <a:solidFill>
            <a:srgbClr val="1E2761"/>
          </a:solidFill>
          <a:ln w="12700">
            <a:solidFill>
              <a:srgbClr val="1E2761"/>
            </a:solidFill>
            <a:prstDash val="solid"/>
          </a:ln>
        </p:spPr>
        <p:txBody>
          <a:bodyPr/>
          <a:p/>
        </p:txBody>
      </p:sp>
      <p:sp>
        <p:nvSpPr>
          <p:cNvPr id="5" name="Text 3"/>
          <p:cNvSpPr/>
          <p:nvPr/>
        </p:nvSpPr>
        <p:spPr>
          <a:xfrm>
            <a:off x="457200" y="109728"/>
            <a:ext cx="11274552" cy="475488"/>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VSM 关键指标与KPI</a:t>
            </a:r>
            <a:endParaRPr lang="en-US" sz="2800" dirty="0"/>
          </a:p>
        </p:txBody>
      </p:sp>
      <p:sp>
        <p:nvSpPr>
          <p:cNvPr id="6" name="Text 4"/>
          <p:cNvSpPr/>
          <p:nvPr/>
        </p:nvSpPr>
        <p:spPr>
          <a:xfrm>
            <a:off x="457200" y="493776"/>
            <a:ext cx="11274552" cy="320040"/>
          </a:xfrm>
          <a:prstGeom prst="rect">
            <a:avLst/>
          </a:prstGeom>
          <a:noFill/>
          <a:ln/>
        </p:spPr>
        <p:txBody>
          <a:bodyPr wrap="square" rtlCol="0" anchor="ctr"/>
          <a:lstStyle/>
          <a:p>
            <a:pPr indent="0" marL="0">
              <a:buNone/>
            </a:pPr>
            <a:r>
              <a:rPr lang="en-US" sz="1400" dirty="0">
                <a:solidFill>
                  <a:srgbClr val="CADCFC"/>
                </a:solidFill>
                <a:latin typeface="Arial" pitchFamily="34" charset="0"/>
                <a:ea typeface="Arial" pitchFamily="34" charset="-122"/>
                <a:cs typeface="Arial" pitchFamily="34" charset="-120"/>
              </a:rPr>
              <a:t>Key Performance Indicators</a:t>
            </a:r>
            <a:endParaRPr lang="en-US" sz="1400" dirty="0"/>
          </a:p>
        </p:txBody>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1E2761"/>
                </a:solidFill>
                <a:latin typeface="Arial Black" pitchFamily="34" charset="0"/>
                <a:ea typeface="Arial Black" pitchFamily="34" charset="-122"/>
                <a:cs typeface="Arial Black" pitchFamily="34" charset="-120"/>
              </a:rPr>
              <a:t>VSM核心KPI追踪表</a:t>
            </a:r>
            <a:endParaRPr lang="en-US" sz="1600" dirty="0"/>
          </a:p>
        </p:txBody>
      </p:sp>
      <p:sp>
        <p:nvSpPr>
          <p:cNvPr id="8" name="Shape 6"/>
          <p:cNvSpPr/>
          <p:nvPr/>
        </p:nvSpPr>
        <p:spPr>
          <a:xfrm>
            <a:off x="365760" y="1554480"/>
            <a:ext cx="1965960" cy="347472"/>
          </a:xfrm>
          <a:prstGeom prst="rect">
            <a:avLst/>
          </a:prstGeom>
          <a:solidFill>
            <a:srgbClr val="1E2761"/>
          </a:solidFill>
          <a:ln/>
        </p:spPr>
        <p:txBody>
          <a:bodyPr/>
          <a:p/>
        </p:txBody>
      </p:sp>
      <p:sp>
        <p:nvSpPr>
          <p:cNvPr id="9" name="Text 7"/>
          <p:cNvSpPr/>
          <p:nvPr/>
        </p:nvSpPr>
        <p:spPr>
          <a:xfrm>
            <a:off x="438912" y="1591056"/>
            <a:ext cx="1865376" cy="274320"/>
          </a:xfrm>
          <a:prstGeom prst="rect">
            <a:avLst/>
          </a:prstGeom>
          <a:noFill/>
          <a:ln/>
        </p:spPr>
        <p:txBody>
          <a:bodyPr wrap="square" lIns="0" tIns="0" rIns="0" bIns="0" rtlCol="0" anchor="ctr"/>
          <a:lstStyle/>
          <a:p>
            <a:pPr algn="l" indent="0" marL="0">
              <a:buNone/>
            </a:pPr>
            <a:r>
              <a:rPr lang="en-US" sz="900" dirty="0">
                <a:solidFill>
                  <a:srgbClr val="FFFFFF"/>
                </a:solidFill>
                <a:latin typeface="Arial Black" pitchFamily="34" charset="0"/>
                <a:ea typeface="Arial Black" pitchFamily="34" charset="-122"/>
                <a:cs typeface="Arial Black" pitchFamily="34" charset="-120"/>
              </a:rPr>
              <a:t>KPI指标</a:t>
            </a:r>
            <a:endParaRPr lang="en-US" sz="900" dirty="0"/>
          </a:p>
        </p:txBody>
      </p:sp>
      <p:sp>
        <p:nvSpPr>
          <p:cNvPr id="10" name="Shape 8"/>
          <p:cNvSpPr/>
          <p:nvPr/>
        </p:nvSpPr>
        <p:spPr>
          <a:xfrm>
            <a:off x="2377440" y="1554480"/>
            <a:ext cx="1783080" cy="347472"/>
          </a:xfrm>
          <a:prstGeom prst="rect">
            <a:avLst/>
          </a:prstGeom>
          <a:solidFill>
            <a:srgbClr val="1E2761"/>
          </a:solidFill>
          <a:ln/>
        </p:spPr>
        <p:txBody>
          <a:bodyPr/>
          <a:p/>
        </p:txBody>
      </p:sp>
      <p:sp>
        <p:nvSpPr>
          <p:cNvPr id="11" name="Text 9"/>
          <p:cNvSpPr/>
          <p:nvPr/>
        </p:nvSpPr>
        <p:spPr>
          <a:xfrm>
            <a:off x="2450592" y="1591056"/>
            <a:ext cx="168249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Black" pitchFamily="34" charset="0"/>
                <a:ea typeface="Arial Black" pitchFamily="34" charset="-122"/>
                <a:cs typeface="Arial Black" pitchFamily="34" charset="-120"/>
              </a:rPr>
              <a:t>当前状态</a:t>
            </a:r>
            <a:endParaRPr lang="en-US" sz="900" dirty="0"/>
          </a:p>
        </p:txBody>
      </p:sp>
      <p:sp>
        <p:nvSpPr>
          <p:cNvPr id="12" name="Shape 10"/>
          <p:cNvSpPr/>
          <p:nvPr/>
        </p:nvSpPr>
        <p:spPr>
          <a:xfrm>
            <a:off x="4206240" y="1554480"/>
            <a:ext cx="1783080" cy="347472"/>
          </a:xfrm>
          <a:prstGeom prst="rect">
            <a:avLst/>
          </a:prstGeom>
          <a:solidFill>
            <a:srgbClr val="1E2761"/>
          </a:solidFill>
          <a:ln/>
        </p:spPr>
        <p:txBody>
          <a:bodyPr/>
          <a:p/>
        </p:txBody>
      </p:sp>
      <p:sp>
        <p:nvSpPr>
          <p:cNvPr id="13" name="Text 11"/>
          <p:cNvSpPr/>
          <p:nvPr/>
        </p:nvSpPr>
        <p:spPr>
          <a:xfrm>
            <a:off x="4279392" y="1591056"/>
            <a:ext cx="168249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Black" pitchFamily="34" charset="0"/>
                <a:ea typeface="Arial Black" pitchFamily="34" charset="-122"/>
                <a:cs typeface="Arial Black" pitchFamily="34" charset="-120"/>
              </a:rPr>
              <a:t>改善目标</a:t>
            </a:r>
            <a:endParaRPr lang="en-US" sz="900" dirty="0"/>
          </a:p>
        </p:txBody>
      </p:sp>
      <p:sp>
        <p:nvSpPr>
          <p:cNvPr id="14" name="Shape 12"/>
          <p:cNvSpPr/>
          <p:nvPr/>
        </p:nvSpPr>
        <p:spPr>
          <a:xfrm>
            <a:off x="6035040" y="1554480"/>
            <a:ext cx="1783080" cy="347472"/>
          </a:xfrm>
          <a:prstGeom prst="rect">
            <a:avLst/>
          </a:prstGeom>
          <a:solidFill>
            <a:srgbClr val="1E2761"/>
          </a:solidFill>
          <a:ln/>
        </p:spPr>
        <p:txBody>
          <a:bodyPr/>
          <a:p/>
        </p:txBody>
      </p:sp>
      <p:sp>
        <p:nvSpPr>
          <p:cNvPr id="15" name="Text 13"/>
          <p:cNvSpPr/>
          <p:nvPr/>
        </p:nvSpPr>
        <p:spPr>
          <a:xfrm>
            <a:off x="6108192" y="1591056"/>
            <a:ext cx="168249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Black" pitchFamily="34" charset="0"/>
                <a:ea typeface="Arial Black" pitchFamily="34" charset="-122"/>
                <a:cs typeface="Arial Black" pitchFamily="34" charset="-120"/>
              </a:rPr>
              <a:t>6个月后</a:t>
            </a:r>
            <a:endParaRPr lang="en-US" sz="900" dirty="0"/>
          </a:p>
        </p:txBody>
      </p:sp>
      <p:sp>
        <p:nvSpPr>
          <p:cNvPr id="16" name="Shape 14"/>
          <p:cNvSpPr/>
          <p:nvPr/>
        </p:nvSpPr>
        <p:spPr>
          <a:xfrm>
            <a:off x="7863840" y="1554480"/>
            <a:ext cx="1783080" cy="347472"/>
          </a:xfrm>
          <a:prstGeom prst="rect">
            <a:avLst/>
          </a:prstGeom>
          <a:solidFill>
            <a:srgbClr val="1E2761"/>
          </a:solidFill>
          <a:ln/>
        </p:spPr>
        <p:txBody>
          <a:bodyPr/>
          <a:p/>
        </p:txBody>
      </p:sp>
      <p:sp>
        <p:nvSpPr>
          <p:cNvPr id="17" name="Text 15"/>
          <p:cNvSpPr/>
          <p:nvPr/>
        </p:nvSpPr>
        <p:spPr>
          <a:xfrm>
            <a:off x="7936992" y="1591056"/>
            <a:ext cx="168249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Black" pitchFamily="34" charset="0"/>
                <a:ea typeface="Arial Black" pitchFamily="34" charset="-122"/>
                <a:cs typeface="Arial Black" pitchFamily="34" charset="-120"/>
              </a:rPr>
              <a:t>12个月后</a:t>
            </a:r>
            <a:endParaRPr lang="en-US" sz="900" dirty="0"/>
          </a:p>
        </p:txBody>
      </p:sp>
      <p:sp>
        <p:nvSpPr>
          <p:cNvPr id="18" name="Shape 16"/>
          <p:cNvSpPr/>
          <p:nvPr/>
        </p:nvSpPr>
        <p:spPr>
          <a:xfrm>
            <a:off x="9692640" y="1554480"/>
            <a:ext cx="1600200" cy="347472"/>
          </a:xfrm>
          <a:prstGeom prst="rect">
            <a:avLst/>
          </a:prstGeom>
          <a:solidFill>
            <a:srgbClr val="1E2761"/>
          </a:solidFill>
          <a:ln/>
        </p:spPr>
        <p:txBody>
          <a:bodyPr/>
          <a:p/>
        </p:txBody>
      </p:sp>
      <p:sp>
        <p:nvSpPr>
          <p:cNvPr id="19" name="Text 17"/>
          <p:cNvSpPr/>
          <p:nvPr/>
        </p:nvSpPr>
        <p:spPr>
          <a:xfrm>
            <a:off x="9765792" y="1591056"/>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Black" pitchFamily="34" charset="0"/>
                <a:ea typeface="Arial Black" pitchFamily="34" charset="-122"/>
                <a:cs typeface="Arial Black" pitchFamily="34" charset="-120"/>
              </a:rPr>
              <a:t>状态</a:t>
            </a:r>
            <a:endParaRPr lang="en-US" sz="900" dirty="0"/>
          </a:p>
        </p:txBody>
      </p:sp>
      <p:sp>
        <p:nvSpPr>
          <p:cNvPr id="20" name="Shape 18"/>
          <p:cNvSpPr/>
          <p:nvPr/>
        </p:nvSpPr>
        <p:spPr>
          <a:xfrm>
            <a:off x="365760" y="1938528"/>
            <a:ext cx="1965960" cy="347472"/>
          </a:xfrm>
          <a:prstGeom prst="rect">
            <a:avLst/>
          </a:prstGeom>
          <a:solidFill>
            <a:srgbClr val="FFFFFF"/>
          </a:solidFill>
          <a:ln/>
        </p:spPr>
        <p:txBody>
          <a:bodyPr/>
          <a:p/>
        </p:txBody>
      </p:sp>
      <p:sp>
        <p:nvSpPr>
          <p:cNvPr id="21" name="Text 19"/>
          <p:cNvSpPr/>
          <p:nvPr/>
        </p:nvSpPr>
        <p:spPr>
          <a:xfrm>
            <a:off x="438912" y="1975104"/>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交付周期 Lead Time</a:t>
            </a:r>
            <a:endParaRPr lang="en-US" sz="900" dirty="0"/>
          </a:p>
        </p:txBody>
      </p:sp>
      <p:sp>
        <p:nvSpPr>
          <p:cNvPr id="22" name="Shape 20"/>
          <p:cNvSpPr/>
          <p:nvPr/>
        </p:nvSpPr>
        <p:spPr>
          <a:xfrm>
            <a:off x="2377440" y="1938528"/>
            <a:ext cx="1783080" cy="347472"/>
          </a:xfrm>
          <a:prstGeom prst="rect">
            <a:avLst/>
          </a:prstGeom>
          <a:solidFill>
            <a:srgbClr val="FFFFFF"/>
          </a:solidFill>
          <a:ln/>
        </p:spPr>
        <p:txBody>
          <a:bodyPr/>
          <a:p/>
        </p:txBody>
      </p:sp>
      <p:sp>
        <p:nvSpPr>
          <p:cNvPr id="23" name="Text 21"/>
          <p:cNvSpPr/>
          <p:nvPr/>
        </p:nvSpPr>
        <p:spPr>
          <a:xfrm>
            <a:off x="2450592" y="197510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75h</a:t>
            </a:r>
            <a:endParaRPr lang="en-US" sz="900" dirty="0"/>
          </a:p>
        </p:txBody>
      </p:sp>
      <p:sp>
        <p:nvSpPr>
          <p:cNvPr id="24" name="Shape 22"/>
          <p:cNvSpPr/>
          <p:nvPr/>
        </p:nvSpPr>
        <p:spPr>
          <a:xfrm>
            <a:off x="4206240" y="1938528"/>
            <a:ext cx="1783080" cy="347472"/>
          </a:xfrm>
          <a:prstGeom prst="rect">
            <a:avLst/>
          </a:prstGeom>
          <a:solidFill>
            <a:srgbClr val="FFFFFF"/>
          </a:solidFill>
          <a:ln/>
        </p:spPr>
        <p:txBody>
          <a:bodyPr/>
          <a:p/>
        </p:txBody>
      </p:sp>
      <p:sp>
        <p:nvSpPr>
          <p:cNvPr id="25" name="Text 23"/>
          <p:cNvSpPr/>
          <p:nvPr/>
        </p:nvSpPr>
        <p:spPr>
          <a:xfrm>
            <a:off x="4279392" y="197510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38h</a:t>
            </a:r>
            <a:endParaRPr lang="en-US" sz="900" dirty="0"/>
          </a:p>
        </p:txBody>
      </p:sp>
      <p:sp>
        <p:nvSpPr>
          <p:cNvPr id="26" name="Shape 24"/>
          <p:cNvSpPr/>
          <p:nvPr/>
        </p:nvSpPr>
        <p:spPr>
          <a:xfrm>
            <a:off x="6035040" y="1938528"/>
            <a:ext cx="1783080" cy="347472"/>
          </a:xfrm>
          <a:prstGeom prst="rect">
            <a:avLst/>
          </a:prstGeom>
          <a:solidFill>
            <a:srgbClr val="FFFFFF"/>
          </a:solidFill>
          <a:ln/>
        </p:spPr>
        <p:txBody>
          <a:bodyPr/>
          <a:p/>
        </p:txBody>
      </p:sp>
      <p:sp>
        <p:nvSpPr>
          <p:cNvPr id="27" name="Text 25"/>
          <p:cNvSpPr/>
          <p:nvPr/>
        </p:nvSpPr>
        <p:spPr>
          <a:xfrm>
            <a:off x="6108192" y="197510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55h</a:t>
            </a:r>
            <a:endParaRPr lang="en-US" sz="900" dirty="0"/>
          </a:p>
        </p:txBody>
      </p:sp>
      <p:sp>
        <p:nvSpPr>
          <p:cNvPr id="28" name="Shape 26"/>
          <p:cNvSpPr/>
          <p:nvPr/>
        </p:nvSpPr>
        <p:spPr>
          <a:xfrm>
            <a:off x="7863840" y="1938528"/>
            <a:ext cx="1783080" cy="347472"/>
          </a:xfrm>
          <a:prstGeom prst="rect">
            <a:avLst/>
          </a:prstGeom>
          <a:solidFill>
            <a:srgbClr val="FFFFFF"/>
          </a:solidFill>
          <a:ln/>
        </p:spPr>
        <p:txBody>
          <a:bodyPr/>
          <a:p/>
        </p:txBody>
      </p:sp>
      <p:sp>
        <p:nvSpPr>
          <p:cNvPr id="29" name="Text 27"/>
          <p:cNvSpPr/>
          <p:nvPr/>
        </p:nvSpPr>
        <p:spPr>
          <a:xfrm>
            <a:off x="7936992" y="197510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35h</a:t>
            </a:r>
            <a:endParaRPr lang="en-US" sz="900" dirty="0"/>
          </a:p>
        </p:txBody>
      </p:sp>
      <p:sp>
        <p:nvSpPr>
          <p:cNvPr id="30" name="Shape 28"/>
          <p:cNvSpPr/>
          <p:nvPr/>
        </p:nvSpPr>
        <p:spPr>
          <a:xfrm>
            <a:off x="9692640" y="1938528"/>
            <a:ext cx="1600200" cy="347472"/>
          </a:xfrm>
          <a:prstGeom prst="rect">
            <a:avLst/>
          </a:prstGeom>
          <a:solidFill>
            <a:srgbClr val="D97706"/>
          </a:solidFill>
          <a:ln/>
        </p:spPr>
        <p:txBody>
          <a:bodyPr/>
          <a:p/>
        </p:txBody>
      </p:sp>
      <p:sp>
        <p:nvSpPr>
          <p:cNvPr id="31" name="Text 29"/>
          <p:cNvSpPr/>
          <p:nvPr/>
        </p:nvSpPr>
        <p:spPr>
          <a:xfrm>
            <a:off x="9765792" y="1975104"/>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改善中</a:t>
            </a:r>
            <a:endParaRPr lang="en-US" sz="900" dirty="0"/>
          </a:p>
        </p:txBody>
      </p:sp>
      <p:sp>
        <p:nvSpPr>
          <p:cNvPr id="32" name="Shape 30"/>
          <p:cNvSpPr/>
          <p:nvPr/>
        </p:nvSpPr>
        <p:spPr>
          <a:xfrm>
            <a:off x="365760" y="2322576"/>
            <a:ext cx="1965960" cy="347472"/>
          </a:xfrm>
          <a:prstGeom prst="rect">
            <a:avLst/>
          </a:prstGeom>
          <a:solidFill>
            <a:srgbClr val="F8FAFC"/>
          </a:solidFill>
          <a:ln/>
        </p:spPr>
        <p:txBody>
          <a:bodyPr/>
          <a:p/>
        </p:txBody>
      </p:sp>
      <p:sp>
        <p:nvSpPr>
          <p:cNvPr id="33" name="Text 31"/>
          <p:cNvSpPr/>
          <p:nvPr/>
        </p:nvSpPr>
        <p:spPr>
          <a:xfrm>
            <a:off x="438912" y="2359152"/>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在制品库存 WIP</a:t>
            </a:r>
            <a:endParaRPr lang="en-US" sz="900" dirty="0"/>
          </a:p>
        </p:txBody>
      </p:sp>
      <p:sp>
        <p:nvSpPr>
          <p:cNvPr id="34" name="Shape 32"/>
          <p:cNvSpPr/>
          <p:nvPr/>
        </p:nvSpPr>
        <p:spPr>
          <a:xfrm>
            <a:off x="2377440" y="2322576"/>
            <a:ext cx="1783080" cy="347472"/>
          </a:xfrm>
          <a:prstGeom prst="rect">
            <a:avLst/>
          </a:prstGeom>
          <a:solidFill>
            <a:srgbClr val="F8FAFC"/>
          </a:solidFill>
          <a:ln/>
        </p:spPr>
        <p:txBody>
          <a:bodyPr/>
          <a:p/>
        </p:txBody>
      </p:sp>
      <p:sp>
        <p:nvSpPr>
          <p:cNvPr id="35" name="Text 33"/>
          <p:cNvSpPr/>
          <p:nvPr/>
        </p:nvSpPr>
        <p:spPr>
          <a:xfrm>
            <a:off x="2450592" y="235915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3900件</a:t>
            </a:r>
            <a:endParaRPr lang="en-US" sz="900" dirty="0"/>
          </a:p>
        </p:txBody>
      </p:sp>
      <p:sp>
        <p:nvSpPr>
          <p:cNvPr id="36" name="Shape 34"/>
          <p:cNvSpPr/>
          <p:nvPr/>
        </p:nvSpPr>
        <p:spPr>
          <a:xfrm>
            <a:off x="4206240" y="2322576"/>
            <a:ext cx="1783080" cy="347472"/>
          </a:xfrm>
          <a:prstGeom prst="rect">
            <a:avLst/>
          </a:prstGeom>
          <a:solidFill>
            <a:srgbClr val="F8FAFC"/>
          </a:solidFill>
          <a:ln/>
        </p:spPr>
        <p:txBody>
          <a:bodyPr/>
          <a:p/>
        </p:txBody>
      </p:sp>
      <p:sp>
        <p:nvSpPr>
          <p:cNvPr id="37" name="Text 35"/>
          <p:cNvSpPr/>
          <p:nvPr/>
        </p:nvSpPr>
        <p:spPr>
          <a:xfrm>
            <a:off x="4279392" y="235915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1560件</a:t>
            </a:r>
            <a:endParaRPr lang="en-US" sz="900" dirty="0"/>
          </a:p>
        </p:txBody>
      </p:sp>
      <p:sp>
        <p:nvSpPr>
          <p:cNvPr id="38" name="Shape 36"/>
          <p:cNvSpPr/>
          <p:nvPr/>
        </p:nvSpPr>
        <p:spPr>
          <a:xfrm>
            <a:off x="6035040" y="2322576"/>
            <a:ext cx="1783080" cy="347472"/>
          </a:xfrm>
          <a:prstGeom prst="rect">
            <a:avLst/>
          </a:prstGeom>
          <a:solidFill>
            <a:srgbClr val="F8FAFC"/>
          </a:solidFill>
          <a:ln/>
        </p:spPr>
        <p:txBody>
          <a:bodyPr/>
          <a:p/>
        </p:txBody>
      </p:sp>
      <p:sp>
        <p:nvSpPr>
          <p:cNvPr id="39" name="Text 37"/>
          <p:cNvSpPr/>
          <p:nvPr/>
        </p:nvSpPr>
        <p:spPr>
          <a:xfrm>
            <a:off x="6108192" y="235915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2500件</a:t>
            </a:r>
            <a:endParaRPr lang="en-US" sz="900" dirty="0"/>
          </a:p>
        </p:txBody>
      </p:sp>
      <p:sp>
        <p:nvSpPr>
          <p:cNvPr id="40" name="Shape 38"/>
          <p:cNvSpPr/>
          <p:nvPr/>
        </p:nvSpPr>
        <p:spPr>
          <a:xfrm>
            <a:off x="7863840" y="2322576"/>
            <a:ext cx="1783080" cy="347472"/>
          </a:xfrm>
          <a:prstGeom prst="rect">
            <a:avLst/>
          </a:prstGeom>
          <a:solidFill>
            <a:srgbClr val="F8FAFC"/>
          </a:solidFill>
          <a:ln/>
        </p:spPr>
        <p:txBody>
          <a:bodyPr/>
          <a:p/>
        </p:txBody>
      </p:sp>
      <p:sp>
        <p:nvSpPr>
          <p:cNvPr id="41" name="Text 39"/>
          <p:cNvSpPr/>
          <p:nvPr/>
        </p:nvSpPr>
        <p:spPr>
          <a:xfrm>
            <a:off x="7936992" y="235915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1400件</a:t>
            </a:r>
            <a:endParaRPr lang="en-US" sz="900" dirty="0"/>
          </a:p>
        </p:txBody>
      </p:sp>
      <p:sp>
        <p:nvSpPr>
          <p:cNvPr id="42" name="Shape 40"/>
          <p:cNvSpPr/>
          <p:nvPr/>
        </p:nvSpPr>
        <p:spPr>
          <a:xfrm>
            <a:off x="9692640" y="2322576"/>
            <a:ext cx="1600200" cy="347472"/>
          </a:xfrm>
          <a:prstGeom prst="rect">
            <a:avLst/>
          </a:prstGeom>
          <a:solidFill>
            <a:srgbClr val="D97706"/>
          </a:solidFill>
          <a:ln/>
        </p:spPr>
        <p:txBody>
          <a:bodyPr/>
          <a:p/>
        </p:txBody>
      </p:sp>
      <p:sp>
        <p:nvSpPr>
          <p:cNvPr id="43" name="Text 41"/>
          <p:cNvSpPr/>
          <p:nvPr/>
        </p:nvSpPr>
        <p:spPr>
          <a:xfrm>
            <a:off x="9765792" y="2359152"/>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改善中</a:t>
            </a:r>
            <a:endParaRPr lang="en-US" sz="900" dirty="0"/>
          </a:p>
        </p:txBody>
      </p:sp>
      <p:sp>
        <p:nvSpPr>
          <p:cNvPr id="44" name="Shape 42"/>
          <p:cNvSpPr/>
          <p:nvPr/>
        </p:nvSpPr>
        <p:spPr>
          <a:xfrm>
            <a:off x="365760" y="2706624"/>
            <a:ext cx="1965960" cy="347472"/>
          </a:xfrm>
          <a:prstGeom prst="rect">
            <a:avLst/>
          </a:prstGeom>
          <a:solidFill>
            <a:srgbClr val="FFFFFF"/>
          </a:solidFill>
          <a:ln/>
        </p:spPr>
        <p:txBody>
          <a:bodyPr/>
          <a:p/>
        </p:txBody>
      </p:sp>
      <p:sp>
        <p:nvSpPr>
          <p:cNvPr id="45" name="Text 43"/>
          <p:cNvSpPr/>
          <p:nvPr/>
        </p:nvSpPr>
        <p:spPr>
          <a:xfrm>
            <a:off x="438912" y="2743200"/>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设备综合效率 OEE</a:t>
            </a:r>
            <a:endParaRPr lang="en-US" sz="900" dirty="0"/>
          </a:p>
        </p:txBody>
      </p:sp>
      <p:sp>
        <p:nvSpPr>
          <p:cNvPr id="46" name="Shape 44"/>
          <p:cNvSpPr/>
          <p:nvPr/>
        </p:nvSpPr>
        <p:spPr>
          <a:xfrm>
            <a:off x="2377440" y="2706624"/>
            <a:ext cx="1783080" cy="347472"/>
          </a:xfrm>
          <a:prstGeom prst="rect">
            <a:avLst/>
          </a:prstGeom>
          <a:solidFill>
            <a:srgbClr val="FFFFFF"/>
          </a:solidFill>
          <a:ln/>
        </p:spPr>
        <p:txBody>
          <a:bodyPr/>
          <a:p/>
        </p:txBody>
      </p:sp>
      <p:sp>
        <p:nvSpPr>
          <p:cNvPr id="47" name="Text 45"/>
          <p:cNvSpPr/>
          <p:nvPr/>
        </p:nvSpPr>
        <p:spPr>
          <a:xfrm>
            <a:off x="2450592" y="274320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72%</a:t>
            </a:r>
            <a:endParaRPr lang="en-US" sz="900" dirty="0"/>
          </a:p>
        </p:txBody>
      </p:sp>
      <p:sp>
        <p:nvSpPr>
          <p:cNvPr id="48" name="Shape 46"/>
          <p:cNvSpPr/>
          <p:nvPr/>
        </p:nvSpPr>
        <p:spPr>
          <a:xfrm>
            <a:off x="4206240" y="2706624"/>
            <a:ext cx="1783080" cy="347472"/>
          </a:xfrm>
          <a:prstGeom prst="rect">
            <a:avLst/>
          </a:prstGeom>
          <a:solidFill>
            <a:srgbClr val="FFFFFF"/>
          </a:solidFill>
          <a:ln/>
        </p:spPr>
        <p:txBody>
          <a:bodyPr/>
          <a:p/>
        </p:txBody>
      </p:sp>
      <p:sp>
        <p:nvSpPr>
          <p:cNvPr id="49" name="Text 47"/>
          <p:cNvSpPr/>
          <p:nvPr/>
        </p:nvSpPr>
        <p:spPr>
          <a:xfrm>
            <a:off x="4279392" y="274320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85%</a:t>
            </a:r>
            <a:endParaRPr lang="en-US" sz="900" dirty="0"/>
          </a:p>
        </p:txBody>
      </p:sp>
      <p:sp>
        <p:nvSpPr>
          <p:cNvPr id="50" name="Shape 48"/>
          <p:cNvSpPr/>
          <p:nvPr/>
        </p:nvSpPr>
        <p:spPr>
          <a:xfrm>
            <a:off x="6035040" y="2706624"/>
            <a:ext cx="1783080" cy="347472"/>
          </a:xfrm>
          <a:prstGeom prst="rect">
            <a:avLst/>
          </a:prstGeom>
          <a:solidFill>
            <a:srgbClr val="FFFFFF"/>
          </a:solidFill>
          <a:ln/>
        </p:spPr>
        <p:txBody>
          <a:bodyPr/>
          <a:p/>
        </p:txBody>
      </p:sp>
      <p:sp>
        <p:nvSpPr>
          <p:cNvPr id="51" name="Text 49"/>
          <p:cNvSpPr/>
          <p:nvPr/>
        </p:nvSpPr>
        <p:spPr>
          <a:xfrm>
            <a:off x="6108192" y="274320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78%</a:t>
            </a:r>
            <a:endParaRPr lang="en-US" sz="900" dirty="0"/>
          </a:p>
        </p:txBody>
      </p:sp>
      <p:sp>
        <p:nvSpPr>
          <p:cNvPr id="52" name="Shape 50"/>
          <p:cNvSpPr/>
          <p:nvPr/>
        </p:nvSpPr>
        <p:spPr>
          <a:xfrm>
            <a:off x="7863840" y="2706624"/>
            <a:ext cx="1783080" cy="347472"/>
          </a:xfrm>
          <a:prstGeom prst="rect">
            <a:avLst/>
          </a:prstGeom>
          <a:solidFill>
            <a:srgbClr val="FFFFFF"/>
          </a:solidFill>
          <a:ln/>
        </p:spPr>
        <p:txBody>
          <a:bodyPr/>
          <a:p/>
        </p:txBody>
      </p:sp>
      <p:sp>
        <p:nvSpPr>
          <p:cNvPr id="53" name="Text 51"/>
          <p:cNvSpPr/>
          <p:nvPr/>
        </p:nvSpPr>
        <p:spPr>
          <a:xfrm>
            <a:off x="7936992" y="274320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87%</a:t>
            </a:r>
            <a:endParaRPr lang="en-US" sz="900" dirty="0"/>
          </a:p>
        </p:txBody>
      </p:sp>
      <p:sp>
        <p:nvSpPr>
          <p:cNvPr id="54" name="Shape 52"/>
          <p:cNvSpPr/>
          <p:nvPr/>
        </p:nvSpPr>
        <p:spPr>
          <a:xfrm>
            <a:off x="9692640" y="2706624"/>
            <a:ext cx="1600200" cy="347472"/>
          </a:xfrm>
          <a:prstGeom prst="rect">
            <a:avLst/>
          </a:prstGeom>
          <a:solidFill>
            <a:srgbClr val="D97706"/>
          </a:solidFill>
          <a:ln/>
        </p:spPr>
        <p:txBody>
          <a:bodyPr/>
          <a:p/>
        </p:txBody>
      </p:sp>
      <p:sp>
        <p:nvSpPr>
          <p:cNvPr id="55" name="Text 53"/>
          <p:cNvSpPr/>
          <p:nvPr/>
        </p:nvSpPr>
        <p:spPr>
          <a:xfrm>
            <a:off x="9765792" y="2743200"/>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进行中</a:t>
            </a:r>
            <a:endParaRPr lang="en-US" sz="900" dirty="0"/>
          </a:p>
        </p:txBody>
      </p:sp>
      <p:sp>
        <p:nvSpPr>
          <p:cNvPr id="56" name="Shape 54"/>
          <p:cNvSpPr/>
          <p:nvPr/>
        </p:nvSpPr>
        <p:spPr>
          <a:xfrm>
            <a:off x="365760" y="3090672"/>
            <a:ext cx="1965960" cy="347472"/>
          </a:xfrm>
          <a:prstGeom prst="rect">
            <a:avLst/>
          </a:prstGeom>
          <a:solidFill>
            <a:srgbClr val="F8FAFC"/>
          </a:solidFill>
          <a:ln/>
        </p:spPr>
        <p:txBody>
          <a:bodyPr/>
          <a:p/>
        </p:txBody>
      </p:sp>
      <p:sp>
        <p:nvSpPr>
          <p:cNvPr id="57" name="Text 55"/>
          <p:cNvSpPr/>
          <p:nvPr/>
        </p:nvSpPr>
        <p:spPr>
          <a:xfrm>
            <a:off x="438912" y="3127248"/>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增值比 VA Ratio</a:t>
            </a:r>
            <a:endParaRPr lang="en-US" sz="900" dirty="0"/>
          </a:p>
        </p:txBody>
      </p:sp>
      <p:sp>
        <p:nvSpPr>
          <p:cNvPr id="58" name="Shape 56"/>
          <p:cNvSpPr/>
          <p:nvPr/>
        </p:nvSpPr>
        <p:spPr>
          <a:xfrm>
            <a:off x="2377440" y="3090672"/>
            <a:ext cx="1783080" cy="347472"/>
          </a:xfrm>
          <a:prstGeom prst="rect">
            <a:avLst/>
          </a:prstGeom>
          <a:solidFill>
            <a:srgbClr val="F8FAFC"/>
          </a:solidFill>
          <a:ln/>
        </p:spPr>
        <p:txBody>
          <a:bodyPr/>
          <a:p/>
        </p:txBody>
      </p:sp>
      <p:sp>
        <p:nvSpPr>
          <p:cNvPr id="59" name="Text 57"/>
          <p:cNvSpPr/>
          <p:nvPr/>
        </p:nvSpPr>
        <p:spPr>
          <a:xfrm>
            <a:off x="2450592" y="3127248"/>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1.1%</a:t>
            </a:r>
            <a:endParaRPr lang="en-US" sz="900" dirty="0"/>
          </a:p>
        </p:txBody>
      </p:sp>
      <p:sp>
        <p:nvSpPr>
          <p:cNvPr id="60" name="Shape 58"/>
          <p:cNvSpPr/>
          <p:nvPr/>
        </p:nvSpPr>
        <p:spPr>
          <a:xfrm>
            <a:off x="4206240" y="3090672"/>
            <a:ext cx="1783080" cy="347472"/>
          </a:xfrm>
          <a:prstGeom prst="rect">
            <a:avLst/>
          </a:prstGeom>
          <a:solidFill>
            <a:srgbClr val="F8FAFC"/>
          </a:solidFill>
          <a:ln/>
        </p:spPr>
        <p:txBody>
          <a:bodyPr/>
          <a:p/>
        </p:txBody>
      </p:sp>
      <p:sp>
        <p:nvSpPr>
          <p:cNvPr id="61" name="Text 59"/>
          <p:cNvSpPr/>
          <p:nvPr/>
        </p:nvSpPr>
        <p:spPr>
          <a:xfrm>
            <a:off x="4279392" y="3127248"/>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5%</a:t>
            </a:r>
            <a:endParaRPr lang="en-US" sz="900" dirty="0"/>
          </a:p>
        </p:txBody>
      </p:sp>
      <p:sp>
        <p:nvSpPr>
          <p:cNvPr id="62" name="Shape 60"/>
          <p:cNvSpPr/>
          <p:nvPr/>
        </p:nvSpPr>
        <p:spPr>
          <a:xfrm>
            <a:off x="6035040" y="3090672"/>
            <a:ext cx="1783080" cy="347472"/>
          </a:xfrm>
          <a:prstGeom prst="rect">
            <a:avLst/>
          </a:prstGeom>
          <a:solidFill>
            <a:srgbClr val="F8FAFC"/>
          </a:solidFill>
          <a:ln/>
        </p:spPr>
        <p:txBody>
          <a:bodyPr/>
          <a:p/>
        </p:txBody>
      </p:sp>
      <p:sp>
        <p:nvSpPr>
          <p:cNvPr id="63" name="Text 61"/>
          <p:cNvSpPr/>
          <p:nvPr/>
        </p:nvSpPr>
        <p:spPr>
          <a:xfrm>
            <a:off x="6108192" y="3127248"/>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3.2%</a:t>
            </a:r>
            <a:endParaRPr lang="en-US" sz="900" dirty="0"/>
          </a:p>
        </p:txBody>
      </p:sp>
      <p:sp>
        <p:nvSpPr>
          <p:cNvPr id="64" name="Shape 62"/>
          <p:cNvSpPr/>
          <p:nvPr/>
        </p:nvSpPr>
        <p:spPr>
          <a:xfrm>
            <a:off x="7863840" y="3090672"/>
            <a:ext cx="1783080" cy="347472"/>
          </a:xfrm>
          <a:prstGeom prst="rect">
            <a:avLst/>
          </a:prstGeom>
          <a:solidFill>
            <a:srgbClr val="F8FAFC"/>
          </a:solidFill>
          <a:ln/>
        </p:spPr>
        <p:txBody>
          <a:bodyPr/>
          <a:p/>
        </p:txBody>
      </p:sp>
      <p:sp>
        <p:nvSpPr>
          <p:cNvPr id="65" name="Text 63"/>
          <p:cNvSpPr/>
          <p:nvPr/>
        </p:nvSpPr>
        <p:spPr>
          <a:xfrm>
            <a:off x="7936992" y="3127248"/>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6%</a:t>
            </a:r>
            <a:endParaRPr lang="en-US" sz="900" dirty="0"/>
          </a:p>
        </p:txBody>
      </p:sp>
      <p:sp>
        <p:nvSpPr>
          <p:cNvPr id="66" name="Shape 64"/>
          <p:cNvSpPr/>
          <p:nvPr/>
        </p:nvSpPr>
        <p:spPr>
          <a:xfrm>
            <a:off x="9692640" y="3090672"/>
            <a:ext cx="1600200" cy="347472"/>
          </a:xfrm>
          <a:prstGeom prst="rect">
            <a:avLst/>
          </a:prstGeom>
          <a:solidFill>
            <a:srgbClr val="D97706"/>
          </a:solidFill>
          <a:ln/>
        </p:spPr>
        <p:txBody>
          <a:bodyPr/>
          <a:p/>
        </p:txBody>
      </p:sp>
      <p:sp>
        <p:nvSpPr>
          <p:cNvPr id="67" name="Text 65"/>
          <p:cNvSpPr/>
          <p:nvPr/>
        </p:nvSpPr>
        <p:spPr>
          <a:xfrm>
            <a:off x="9765792" y="3127248"/>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改善中</a:t>
            </a:r>
            <a:endParaRPr lang="en-US" sz="900" dirty="0"/>
          </a:p>
        </p:txBody>
      </p:sp>
      <p:sp>
        <p:nvSpPr>
          <p:cNvPr id="68" name="Shape 66"/>
          <p:cNvSpPr/>
          <p:nvPr/>
        </p:nvSpPr>
        <p:spPr>
          <a:xfrm>
            <a:off x="365760" y="3474720"/>
            <a:ext cx="1965960" cy="347472"/>
          </a:xfrm>
          <a:prstGeom prst="rect">
            <a:avLst/>
          </a:prstGeom>
          <a:solidFill>
            <a:srgbClr val="FFFFFF"/>
          </a:solidFill>
          <a:ln/>
        </p:spPr>
        <p:txBody>
          <a:bodyPr/>
          <a:p/>
        </p:txBody>
      </p:sp>
      <p:sp>
        <p:nvSpPr>
          <p:cNvPr id="69" name="Text 67"/>
          <p:cNvSpPr/>
          <p:nvPr/>
        </p:nvSpPr>
        <p:spPr>
          <a:xfrm>
            <a:off x="438912" y="3511296"/>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换型时间 Changeover</a:t>
            </a:r>
            <a:endParaRPr lang="en-US" sz="900" dirty="0"/>
          </a:p>
        </p:txBody>
      </p:sp>
      <p:sp>
        <p:nvSpPr>
          <p:cNvPr id="70" name="Shape 68"/>
          <p:cNvSpPr/>
          <p:nvPr/>
        </p:nvSpPr>
        <p:spPr>
          <a:xfrm>
            <a:off x="2377440" y="3474720"/>
            <a:ext cx="1783080" cy="347472"/>
          </a:xfrm>
          <a:prstGeom prst="rect">
            <a:avLst/>
          </a:prstGeom>
          <a:solidFill>
            <a:srgbClr val="FFFFFF"/>
          </a:solidFill>
          <a:ln/>
        </p:spPr>
        <p:txBody>
          <a:bodyPr/>
          <a:p/>
        </p:txBody>
      </p:sp>
      <p:sp>
        <p:nvSpPr>
          <p:cNvPr id="71" name="Text 69"/>
          <p:cNvSpPr/>
          <p:nvPr/>
        </p:nvSpPr>
        <p:spPr>
          <a:xfrm>
            <a:off x="2450592" y="3511296"/>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60min</a:t>
            </a:r>
            <a:endParaRPr lang="en-US" sz="900" dirty="0"/>
          </a:p>
        </p:txBody>
      </p:sp>
      <p:sp>
        <p:nvSpPr>
          <p:cNvPr id="72" name="Shape 70"/>
          <p:cNvSpPr/>
          <p:nvPr/>
        </p:nvSpPr>
        <p:spPr>
          <a:xfrm>
            <a:off x="4206240" y="3474720"/>
            <a:ext cx="1783080" cy="347472"/>
          </a:xfrm>
          <a:prstGeom prst="rect">
            <a:avLst/>
          </a:prstGeom>
          <a:solidFill>
            <a:srgbClr val="FFFFFF"/>
          </a:solidFill>
          <a:ln/>
        </p:spPr>
        <p:txBody>
          <a:bodyPr/>
          <a:p/>
        </p:txBody>
      </p:sp>
      <p:sp>
        <p:nvSpPr>
          <p:cNvPr id="73" name="Text 71"/>
          <p:cNvSpPr/>
          <p:nvPr/>
        </p:nvSpPr>
        <p:spPr>
          <a:xfrm>
            <a:off x="4279392" y="3511296"/>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&lt;10min</a:t>
            </a:r>
            <a:endParaRPr lang="en-US" sz="900" dirty="0"/>
          </a:p>
        </p:txBody>
      </p:sp>
      <p:sp>
        <p:nvSpPr>
          <p:cNvPr id="74" name="Shape 72"/>
          <p:cNvSpPr/>
          <p:nvPr/>
        </p:nvSpPr>
        <p:spPr>
          <a:xfrm>
            <a:off x="6035040" y="3474720"/>
            <a:ext cx="1783080" cy="347472"/>
          </a:xfrm>
          <a:prstGeom prst="rect">
            <a:avLst/>
          </a:prstGeom>
          <a:solidFill>
            <a:srgbClr val="FFFFFF"/>
          </a:solidFill>
          <a:ln/>
        </p:spPr>
        <p:txBody>
          <a:bodyPr/>
          <a:p/>
        </p:txBody>
      </p:sp>
      <p:sp>
        <p:nvSpPr>
          <p:cNvPr id="75" name="Text 73"/>
          <p:cNvSpPr/>
          <p:nvPr/>
        </p:nvSpPr>
        <p:spPr>
          <a:xfrm>
            <a:off x="6108192" y="3511296"/>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25min</a:t>
            </a:r>
            <a:endParaRPr lang="en-US" sz="900" dirty="0"/>
          </a:p>
        </p:txBody>
      </p:sp>
      <p:sp>
        <p:nvSpPr>
          <p:cNvPr id="76" name="Shape 74"/>
          <p:cNvSpPr/>
          <p:nvPr/>
        </p:nvSpPr>
        <p:spPr>
          <a:xfrm>
            <a:off x="7863840" y="3474720"/>
            <a:ext cx="1783080" cy="347472"/>
          </a:xfrm>
          <a:prstGeom prst="rect">
            <a:avLst/>
          </a:prstGeom>
          <a:solidFill>
            <a:srgbClr val="FFFFFF"/>
          </a:solidFill>
          <a:ln/>
        </p:spPr>
        <p:txBody>
          <a:bodyPr/>
          <a:p/>
        </p:txBody>
      </p:sp>
      <p:sp>
        <p:nvSpPr>
          <p:cNvPr id="77" name="Text 75"/>
          <p:cNvSpPr/>
          <p:nvPr/>
        </p:nvSpPr>
        <p:spPr>
          <a:xfrm>
            <a:off x="7936992" y="3511296"/>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&lt;8min</a:t>
            </a:r>
            <a:endParaRPr lang="en-US" sz="900" dirty="0"/>
          </a:p>
        </p:txBody>
      </p:sp>
      <p:sp>
        <p:nvSpPr>
          <p:cNvPr id="78" name="Shape 76"/>
          <p:cNvSpPr/>
          <p:nvPr/>
        </p:nvSpPr>
        <p:spPr>
          <a:xfrm>
            <a:off x="9692640" y="3474720"/>
            <a:ext cx="1600200" cy="347472"/>
          </a:xfrm>
          <a:prstGeom prst="rect">
            <a:avLst/>
          </a:prstGeom>
          <a:solidFill>
            <a:srgbClr val="D97706"/>
          </a:solidFill>
          <a:ln/>
        </p:spPr>
        <p:txBody>
          <a:bodyPr/>
          <a:p/>
        </p:txBody>
      </p:sp>
      <p:sp>
        <p:nvSpPr>
          <p:cNvPr id="79" name="Text 77"/>
          <p:cNvSpPr/>
          <p:nvPr/>
        </p:nvSpPr>
        <p:spPr>
          <a:xfrm>
            <a:off x="9765792" y="3511296"/>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快速改善</a:t>
            </a:r>
            <a:endParaRPr lang="en-US" sz="900" dirty="0"/>
          </a:p>
        </p:txBody>
      </p:sp>
      <p:sp>
        <p:nvSpPr>
          <p:cNvPr id="80" name="Shape 78"/>
          <p:cNvSpPr/>
          <p:nvPr/>
        </p:nvSpPr>
        <p:spPr>
          <a:xfrm>
            <a:off x="365760" y="3858768"/>
            <a:ext cx="1965960" cy="347472"/>
          </a:xfrm>
          <a:prstGeom prst="rect">
            <a:avLst/>
          </a:prstGeom>
          <a:solidFill>
            <a:srgbClr val="F8FAFC"/>
          </a:solidFill>
          <a:ln/>
        </p:spPr>
        <p:txBody>
          <a:bodyPr/>
          <a:p/>
        </p:txBody>
      </p:sp>
      <p:sp>
        <p:nvSpPr>
          <p:cNvPr id="81" name="Text 79"/>
          <p:cNvSpPr/>
          <p:nvPr/>
        </p:nvSpPr>
        <p:spPr>
          <a:xfrm>
            <a:off x="438912" y="3895344"/>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不良率 Defect Rate</a:t>
            </a:r>
            <a:endParaRPr lang="en-US" sz="900" dirty="0"/>
          </a:p>
        </p:txBody>
      </p:sp>
      <p:sp>
        <p:nvSpPr>
          <p:cNvPr id="82" name="Shape 80"/>
          <p:cNvSpPr/>
          <p:nvPr/>
        </p:nvSpPr>
        <p:spPr>
          <a:xfrm>
            <a:off x="2377440" y="3858768"/>
            <a:ext cx="1783080" cy="347472"/>
          </a:xfrm>
          <a:prstGeom prst="rect">
            <a:avLst/>
          </a:prstGeom>
          <a:solidFill>
            <a:srgbClr val="F8FAFC"/>
          </a:solidFill>
          <a:ln/>
        </p:spPr>
        <p:txBody>
          <a:bodyPr/>
          <a:p/>
        </p:txBody>
      </p:sp>
      <p:sp>
        <p:nvSpPr>
          <p:cNvPr id="83" name="Text 81"/>
          <p:cNvSpPr/>
          <p:nvPr/>
        </p:nvSpPr>
        <p:spPr>
          <a:xfrm>
            <a:off x="2450592" y="389534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2.5%</a:t>
            </a:r>
            <a:endParaRPr lang="en-US" sz="900" dirty="0"/>
          </a:p>
        </p:txBody>
      </p:sp>
      <p:sp>
        <p:nvSpPr>
          <p:cNvPr id="84" name="Shape 82"/>
          <p:cNvSpPr/>
          <p:nvPr/>
        </p:nvSpPr>
        <p:spPr>
          <a:xfrm>
            <a:off x="4206240" y="3858768"/>
            <a:ext cx="1783080" cy="347472"/>
          </a:xfrm>
          <a:prstGeom prst="rect">
            <a:avLst/>
          </a:prstGeom>
          <a:solidFill>
            <a:srgbClr val="F8FAFC"/>
          </a:solidFill>
          <a:ln/>
        </p:spPr>
        <p:txBody>
          <a:bodyPr/>
          <a:p/>
        </p:txBody>
      </p:sp>
      <p:sp>
        <p:nvSpPr>
          <p:cNvPr id="85" name="Text 83"/>
          <p:cNvSpPr/>
          <p:nvPr/>
        </p:nvSpPr>
        <p:spPr>
          <a:xfrm>
            <a:off x="4279392" y="389534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0.5%</a:t>
            </a:r>
            <a:endParaRPr lang="en-US" sz="900" dirty="0"/>
          </a:p>
        </p:txBody>
      </p:sp>
      <p:sp>
        <p:nvSpPr>
          <p:cNvPr id="86" name="Shape 84"/>
          <p:cNvSpPr/>
          <p:nvPr/>
        </p:nvSpPr>
        <p:spPr>
          <a:xfrm>
            <a:off x="6035040" y="3858768"/>
            <a:ext cx="1783080" cy="347472"/>
          </a:xfrm>
          <a:prstGeom prst="rect">
            <a:avLst/>
          </a:prstGeom>
          <a:solidFill>
            <a:srgbClr val="F8FAFC"/>
          </a:solidFill>
          <a:ln/>
        </p:spPr>
        <p:txBody>
          <a:bodyPr/>
          <a:p/>
        </p:txBody>
      </p:sp>
      <p:sp>
        <p:nvSpPr>
          <p:cNvPr id="87" name="Text 85"/>
          <p:cNvSpPr/>
          <p:nvPr/>
        </p:nvSpPr>
        <p:spPr>
          <a:xfrm>
            <a:off x="6108192" y="389534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1.2%</a:t>
            </a:r>
            <a:endParaRPr lang="en-US" sz="900" dirty="0"/>
          </a:p>
        </p:txBody>
      </p:sp>
      <p:sp>
        <p:nvSpPr>
          <p:cNvPr id="88" name="Shape 86"/>
          <p:cNvSpPr/>
          <p:nvPr/>
        </p:nvSpPr>
        <p:spPr>
          <a:xfrm>
            <a:off x="7863840" y="3858768"/>
            <a:ext cx="1783080" cy="347472"/>
          </a:xfrm>
          <a:prstGeom prst="rect">
            <a:avLst/>
          </a:prstGeom>
          <a:solidFill>
            <a:srgbClr val="F8FAFC"/>
          </a:solidFill>
          <a:ln/>
        </p:spPr>
        <p:txBody>
          <a:bodyPr/>
          <a:p/>
        </p:txBody>
      </p:sp>
      <p:sp>
        <p:nvSpPr>
          <p:cNvPr id="89" name="Text 87"/>
          <p:cNvSpPr/>
          <p:nvPr/>
        </p:nvSpPr>
        <p:spPr>
          <a:xfrm>
            <a:off x="7936992" y="3895344"/>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0.4%</a:t>
            </a:r>
            <a:endParaRPr lang="en-US" sz="900" dirty="0"/>
          </a:p>
        </p:txBody>
      </p:sp>
      <p:sp>
        <p:nvSpPr>
          <p:cNvPr id="90" name="Shape 88"/>
          <p:cNvSpPr/>
          <p:nvPr/>
        </p:nvSpPr>
        <p:spPr>
          <a:xfrm>
            <a:off x="9692640" y="3858768"/>
            <a:ext cx="1600200" cy="347472"/>
          </a:xfrm>
          <a:prstGeom prst="rect">
            <a:avLst/>
          </a:prstGeom>
          <a:solidFill>
            <a:srgbClr val="D97706"/>
          </a:solidFill>
          <a:ln/>
        </p:spPr>
        <p:txBody>
          <a:bodyPr/>
          <a:p/>
        </p:txBody>
      </p:sp>
      <p:sp>
        <p:nvSpPr>
          <p:cNvPr id="91" name="Text 89"/>
          <p:cNvSpPr/>
          <p:nvPr/>
        </p:nvSpPr>
        <p:spPr>
          <a:xfrm>
            <a:off x="9765792" y="3895344"/>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改善中</a:t>
            </a:r>
            <a:endParaRPr lang="en-US" sz="900" dirty="0"/>
          </a:p>
        </p:txBody>
      </p:sp>
      <p:sp>
        <p:nvSpPr>
          <p:cNvPr id="92" name="Shape 90"/>
          <p:cNvSpPr/>
          <p:nvPr/>
        </p:nvSpPr>
        <p:spPr>
          <a:xfrm>
            <a:off x="365760" y="4242816"/>
            <a:ext cx="1965960" cy="347472"/>
          </a:xfrm>
          <a:prstGeom prst="rect">
            <a:avLst/>
          </a:prstGeom>
          <a:solidFill>
            <a:srgbClr val="FFFFFF"/>
          </a:solidFill>
          <a:ln/>
        </p:spPr>
        <p:txBody>
          <a:bodyPr/>
          <a:p/>
        </p:txBody>
      </p:sp>
      <p:sp>
        <p:nvSpPr>
          <p:cNvPr id="93" name="Text 91"/>
          <p:cNvSpPr/>
          <p:nvPr/>
        </p:nvSpPr>
        <p:spPr>
          <a:xfrm>
            <a:off x="438912" y="4279392"/>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交付准时率 OTD</a:t>
            </a:r>
            <a:endParaRPr lang="en-US" sz="900" dirty="0"/>
          </a:p>
        </p:txBody>
      </p:sp>
      <p:sp>
        <p:nvSpPr>
          <p:cNvPr id="94" name="Shape 92"/>
          <p:cNvSpPr/>
          <p:nvPr/>
        </p:nvSpPr>
        <p:spPr>
          <a:xfrm>
            <a:off x="2377440" y="4242816"/>
            <a:ext cx="1783080" cy="347472"/>
          </a:xfrm>
          <a:prstGeom prst="rect">
            <a:avLst/>
          </a:prstGeom>
          <a:solidFill>
            <a:srgbClr val="FFFFFF"/>
          </a:solidFill>
          <a:ln/>
        </p:spPr>
        <p:txBody>
          <a:bodyPr/>
          <a:p/>
        </p:txBody>
      </p:sp>
      <p:sp>
        <p:nvSpPr>
          <p:cNvPr id="95" name="Text 93"/>
          <p:cNvSpPr/>
          <p:nvPr/>
        </p:nvSpPr>
        <p:spPr>
          <a:xfrm>
            <a:off x="2450592" y="427939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88%</a:t>
            </a:r>
            <a:endParaRPr lang="en-US" sz="900" dirty="0"/>
          </a:p>
        </p:txBody>
      </p:sp>
      <p:sp>
        <p:nvSpPr>
          <p:cNvPr id="96" name="Shape 94"/>
          <p:cNvSpPr/>
          <p:nvPr/>
        </p:nvSpPr>
        <p:spPr>
          <a:xfrm>
            <a:off x="4206240" y="4242816"/>
            <a:ext cx="1783080" cy="347472"/>
          </a:xfrm>
          <a:prstGeom prst="rect">
            <a:avLst/>
          </a:prstGeom>
          <a:solidFill>
            <a:srgbClr val="FFFFFF"/>
          </a:solidFill>
          <a:ln/>
        </p:spPr>
        <p:txBody>
          <a:bodyPr/>
          <a:p/>
        </p:txBody>
      </p:sp>
      <p:sp>
        <p:nvSpPr>
          <p:cNvPr id="97" name="Text 95"/>
          <p:cNvSpPr/>
          <p:nvPr/>
        </p:nvSpPr>
        <p:spPr>
          <a:xfrm>
            <a:off x="4279392" y="427939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98%</a:t>
            </a:r>
            <a:endParaRPr lang="en-US" sz="900" dirty="0"/>
          </a:p>
        </p:txBody>
      </p:sp>
      <p:sp>
        <p:nvSpPr>
          <p:cNvPr id="98" name="Shape 96"/>
          <p:cNvSpPr/>
          <p:nvPr/>
        </p:nvSpPr>
        <p:spPr>
          <a:xfrm>
            <a:off x="6035040" y="4242816"/>
            <a:ext cx="1783080" cy="347472"/>
          </a:xfrm>
          <a:prstGeom prst="rect">
            <a:avLst/>
          </a:prstGeom>
          <a:solidFill>
            <a:srgbClr val="FFFFFF"/>
          </a:solidFill>
          <a:ln/>
        </p:spPr>
        <p:txBody>
          <a:bodyPr/>
          <a:p/>
        </p:txBody>
      </p:sp>
      <p:sp>
        <p:nvSpPr>
          <p:cNvPr id="99" name="Text 97"/>
          <p:cNvSpPr/>
          <p:nvPr/>
        </p:nvSpPr>
        <p:spPr>
          <a:xfrm>
            <a:off x="6108192" y="427939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93%</a:t>
            </a:r>
            <a:endParaRPr lang="en-US" sz="900" dirty="0"/>
          </a:p>
        </p:txBody>
      </p:sp>
      <p:sp>
        <p:nvSpPr>
          <p:cNvPr id="100" name="Shape 98"/>
          <p:cNvSpPr/>
          <p:nvPr/>
        </p:nvSpPr>
        <p:spPr>
          <a:xfrm>
            <a:off x="7863840" y="4242816"/>
            <a:ext cx="1783080" cy="347472"/>
          </a:xfrm>
          <a:prstGeom prst="rect">
            <a:avLst/>
          </a:prstGeom>
          <a:solidFill>
            <a:srgbClr val="FFFFFF"/>
          </a:solidFill>
          <a:ln/>
        </p:spPr>
        <p:txBody>
          <a:bodyPr/>
          <a:p/>
        </p:txBody>
      </p:sp>
      <p:sp>
        <p:nvSpPr>
          <p:cNvPr id="101" name="Text 99"/>
          <p:cNvSpPr/>
          <p:nvPr/>
        </p:nvSpPr>
        <p:spPr>
          <a:xfrm>
            <a:off x="7936992" y="4279392"/>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99%</a:t>
            </a:r>
            <a:endParaRPr lang="en-US" sz="900" dirty="0"/>
          </a:p>
        </p:txBody>
      </p:sp>
      <p:sp>
        <p:nvSpPr>
          <p:cNvPr id="102" name="Shape 100"/>
          <p:cNvSpPr/>
          <p:nvPr/>
        </p:nvSpPr>
        <p:spPr>
          <a:xfrm>
            <a:off x="9692640" y="4242816"/>
            <a:ext cx="1600200" cy="347472"/>
          </a:xfrm>
          <a:prstGeom prst="rect">
            <a:avLst/>
          </a:prstGeom>
          <a:solidFill>
            <a:srgbClr val="059669"/>
          </a:solidFill>
          <a:ln/>
        </p:spPr>
        <p:txBody>
          <a:bodyPr/>
          <a:p/>
        </p:txBody>
      </p:sp>
      <p:sp>
        <p:nvSpPr>
          <p:cNvPr id="103" name="Text 101"/>
          <p:cNvSpPr/>
          <p:nvPr/>
        </p:nvSpPr>
        <p:spPr>
          <a:xfrm>
            <a:off x="9765792" y="4279392"/>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接近目标</a:t>
            </a:r>
            <a:endParaRPr lang="en-US" sz="900" dirty="0"/>
          </a:p>
        </p:txBody>
      </p:sp>
      <p:sp>
        <p:nvSpPr>
          <p:cNvPr id="104" name="Shape 102"/>
          <p:cNvSpPr/>
          <p:nvPr/>
        </p:nvSpPr>
        <p:spPr>
          <a:xfrm>
            <a:off x="365760" y="4626864"/>
            <a:ext cx="1965960" cy="347472"/>
          </a:xfrm>
          <a:prstGeom prst="rect">
            <a:avLst/>
          </a:prstGeom>
          <a:solidFill>
            <a:srgbClr val="F8FAFC"/>
          </a:solidFill>
          <a:ln/>
        </p:spPr>
        <p:txBody>
          <a:bodyPr/>
          <a:p/>
        </p:txBody>
      </p:sp>
      <p:sp>
        <p:nvSpPr>
          <p:cNvPr id="105" name="Text 103"/>
          <p:cNvSpPr/>
          <p:nvPr/>
        </p:nvSpPr>
        <p:spPr>
          <a:xfrm>
            <a:off x="438912" y="4663440"/>
            <a:ext cx="1865376" cy="274320"/>
          </a:xfrm>
          <a:prstGeom prst="rect">
            <a:avLst/>
          </a:prstGeom>
          <a:noFill/>
          <a:ln/>
        </p:spPr>
        <p:txBody>
          <a:bodyPr wrap="square" lIns="0" tIns="0" rIns="0" bIns="0" rtlCol="0" anchor="ctr"/>
          <a:lstStyle/>
          <a:p>
            <a:pPr algn="l" indent="0" marL="0">
              <a:buNone/>
            </a:pPr>
            <a:r>
              <a:rPr lang="en-US" sz="900" dirty="0">
                <a:solidFill>
                  <a:srgbClr val="1E293B"/>
                </a:solidFill>
                <a:latin typeface="Arial" pitchFamily="34" charset="0"/>
                <a:ea typeface="Arial" pitchFamily="34" charset="-122"/>
                <a:cs typeface="Arial" pitchFamily="34" charset="-120"/>
              </a:rPr>
              <a:t>库存周转天数</a:t>
            </a:r>
            <a:endParaRPr lang="en-US" sz="900" dirty="0"/>
          </a:p>
        </p:txBody>
      </p:sp>
      <p:sp>
        <p:nvSpPr>
          <p:cNvPr id="106" name="Shape 104"/>
          <p:cNvSpPr/>
          <p:nvPr/>
        </p:nvSpPr>
        <p:spPr>
          <a:xfrm>
            <a:off x="2377440" y="4626864"/>
            <a:ext cx="1783080" cy="347472"/>
          </a:xfrm>
          <a:prstGeom prst="rect">
            <a:avLst/>
          </a:prstGeom>
          <a:solidFill>
            <a:srgbClr val="F8FAFC"/>
          </a:solidFill>
          <a:ln/>
        </p:spPr>
        <p:txBody>
          <a:bodyPr/>
          <a:p/>
        </p:txBody>
      </p:sp>
      <p:sp>
        <p:nvSpPr>
          <p:cNvPr id="107" name="Text 105"/>
          <p:cNvSpPr/>
          <p:nvPr/>
        </p:nvSpPr>
        <p:spPr>
          <a:xfrm>
            <a:off x="2450592" y="466344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14天</a:t>
            </a:r>
            <a:endParaRPr lang="en-US" sz="900" dirty="0"/>
          </a:p>
        </p:txBody>
      </p:sp>
      <p:sp>
        <p:nvSpPr>
          <p:cNvPr id="108" name="Shape 106"/>
          <p:cNvSpPr/>
          <p:nvPr/>
        </p:nvSpPr>
        <p:spPr>
          <a:xfrm>
            <a:off x="4206240" y="4626864"/>
            <a:ext cx="1783080" cy="347472"/>
          </a:xfrm>
          <a:prstGeom prst="rect">
            <a:avLst/>
          </a:prstGeom>
          <a:solidFill>
            <a:srgbClr val="F8FAFC"/>
          </a:solidFill>
          <a:ln/>
        </p:spPr>
        <p:txBody>
          <a:bodyPr/>
          <a:p/>
        </p:txBody>
      </p:sp>
      <p:sp>
        <p:nvSpPr>
          <p:cNvPr id="109" name="Text 107"/>
          <p:cNvSpPr/>
          <p:nvPr/>
        </p:nvSpPr>
        <p:spPr>
          <a:xfrm>
            <a:off x="4279392" y="466344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5天</a:t>
            </a:r>
            <a:endParaRPr lang="en-US" sz="900" dirty="0"/>
          </a:p>
        </p:txBody>
      </p:sp>
      <p:sp>
        <p:nvSpPr>
          <p:cNvPr id="110" name="Shape 108"/>
          <p:cNvSpPr/>
          <p:nvPr/>
        </p:nvSpPr>
        <p:spPr>
          <a:xfrm>
            <a:off x="6035040" y="4626864"/>
            <a:ext cx="1783080" cy="347472"/>
          </a:xfrm>
          <a:prstGeom prst="rect">
            <a:avLst/>
          </a:prstGeom>
          <a:solidFill>
            <a:srgbClr val="F8FAFC"/>
          </a:solidFill>
          <a:ln/>
        </p:spPr>
        <p:txBody>
          <a:bodyPr/>
          <a:p/>
        </p:txBody>
      </p:sp>
      <p:sp>
        <p:nvSpPr>
          <p:cNvPr id="111" name="Text 109"/>
          <p:cNvSpPr/>
          <p:nvPr/>
        </p:nvSpPr>
        <p:spPr>
          <a:xfrm>
            <a:off x="6108192" y="466344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9天</a:t>
            </a:r>
            <a:endParaRPr lang="en-US" sz="900" dirty="0"/>
          </a:p>
        </p:txBody>
      </p:sp>
      <p:sp>
        <p:nvSpPr>
          <p:cNvPr id="112" name="Shape 110"/>
          <p:cNvSpPr/>
          <p:nvPr/>
        </p:nvSpPr>
        <p:spPr>
          <a:xfrm>
            <a:off x="7863840" y="4626864"/>
            <a:ext cx="1783080" cy="347472"/>
          </a:xfrm>
          <a:prstGeom prst="rect">
            <a:avLst/>
          </a:prstGeom>
          <a:solidFill>
            <a:srgbClr val="F8FAFC"/>
          </a:solidFill>
          <a:ln/>
        </p:spPr>
        <p:txBody>
          <a:bodyPr/>
          <a:p/>
        </p:txBody>
      </p:sp>
      <p:sp>
        <p:nvSpPr>
          <p:cNvPr id="113" name="Text 111"/>
          <p:cNvSpPr/>
          <p:nvPr/>
        </p:nvSpPr>
        <p:spPr>
          <a:xfrm>
            <a:off x="7936992" y="4663440"/>
            <a:ext cx="1682496" cy="274320"/>
          </a:xfrm>
          <a:prstGeom prst="rect">
            <a:avLst/>
          </a:prstGeom>
          <a:noFill/>
          <a:ln/>
        </p:spPr>
        <p:txBody>
          <a:bodyPr wrap="square" lIns="0" tIns="0" rIns="0" bIns="0" rtlCol="0" anchor="ctr"/>
          <a:lstStyle/>
          <a:p>
            <a:pPr algn="ctr" indent="0" marL="0">
              <a:buNone/>
            </a:pPr>
            <a:r>
              <a:rPr lang="en-US" sz="900" dirty="0">
                <a:solidFill>
                  <a:srgbClr val="1E293B"/>
                </a:solidFill>
                <a:latin typeface="Arial" pitchFamily="34" charset="0"/>
                <a:ea typeface="Arial" pitchFamily="34" charset="-122"/>
                <a:cs typeface="Arial" pitchFamily="34" charset="-120"/>
              </a:rPr>
              <a:t>4天</a:t>
            </a:r>
            <a:endParaRPr lang="en-US" sz="900" dirty="0"/>
          </a:p>
        </p:txBody>
      </p:sp>
      <p:sp>
        <p:nvSpPr>
          <p:cNvPr id="114" name="Shape 112"/>
          <p:cNvSpPr/>
          <p:nvPr/>
        </p:nvSpPr>
        <p:spPr>
          <a:xfrm>
            <a:off x="9692640" y="4626864"/>
            <a:ext cx="1600200" cy="347472"/>
          </a:xfrm>
          <a:prstGeom prst="rect">
            <a:avLst/>
          </a:prstGeom>
          <a:solidFill>
            <a:srgbClr val="D97706"/>
          </a:solidFill>
          <a:ln/>
        </p:spPr>
        <p:txBody>
          <a:bodyPr/>
          <a:p/>
        </p:txBody>
      </p:sp>
      <p:sp>
        <p:nvSpPr>
          <p:cNvPr id="115" name="Text 113"/>
          <p:cNvSpPr/>
          <p:nvPr/>
        </p:nvSpPr>
        <p:spPr>
          <a:xfrm>
            <a:off x="9765792" y="4663440"/>
            <a:ext cx="1499616" cy="274320"/>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改善中</a:t>
            </a:r>
            <a:endParaRPr lang="en-US" sz="900" dirty="0"/>
          </a:p>
        </p:txBody>
      </p:sp>
      <p:sp>
        <p:nvSpPr>
          <p:cNvPr id="116" name="Shape 114"/>
          <p:cNvSpPr/>
          <p:nvPr/>
        </p:nvSpPr>
        <p:spPr>
          <a:xfrm>
            <a:off x="365760" y="5120640"/>
            <a:ext cx="365760" cy="182880"/>
          </a:xfrm>
          <a:prstGeom prst="rect">
            <a:avLst/>
          </a:prstGeom>
          <a:solidFill>
            <a:srgbClr val="059669"/>
          </a:solidFill>
          <a:ln/>
        </p:spPr>
        <p:txBody>
          <a:bodyPr/>
          <a:p/>
        </p:txBody>
      </p:sp>
      <p:sp>
        <p:nvSpPr>
          <p:cNvPr id="117" name="Text 115"/>
          <p:cNvSpPr/>
          <p:nvPr/>
        </p:nvSpPr>
        <p:spPr>
          <a:xfrm>
            <a:off x="822960" y="5120640"/>
            <a:ext cx="228600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已达到/接近目标</a:t>
            </a:r>
            <a:endParaRPr lang="en-US" sz="900" dirty="0"/>
          </a:p>
        </p:txBody>
      </p:sp>
      <p:sp>
        <p:nvSpPr>
          <p:cNvPr id="118" name="Shape 116"/>
          <p:cNvSpPr/>
          <p:nvPr/>
        </p:nvSpPr>
        <p:spPr>
          <a:xfrm>
            <a:off x="3291840" y="5120640"/>
            <a:ext cx="365760" cy="182880"/>
          </a:xfrm>
          <a:prstGeom prst="rect">
            <a:avLst/>
          </a:prstGeom>
          <a:solidFill>
            <a:srgbClr val="D97706"/>
          </a:solidFill>
          <a:ln/>
        </p:spPr>
        <p:txBody>
          <a:bodyPr/>
          <a:p/>
        </p:txBody>
      </p:sp>
      <p:sp>
        <p:nvSpPr>
          <p:cNvPr id="119" name="Text 117"/>
          <p:cNvSpPr/>
          <p:nvPr/>
        </p:nvSpPr>
        <p:spPr>
          <a:xfrm>
            <a:off x="3749040" y="5120640"/>
            <a:ext cx="1371600" cy="182880"/>
          </a:xfrm>
          <a:prstGeom prst="rect">
            <a:avLst/>
          </a:prstGeom>
          <a:noFill/>
          <a:ln/>
        </p:spPr>
        <p:txBody>
          <a:bodyPr wrap="square" rtlCol="0" anchor="ctr"/>
          <a:lstStyle/>
          <a:p>
            <a:pPr indent="0" marL="0">
              <a:buNone/>
            </a:pPr>
            <a:r>
              <a:rPr lang="en-US" sz="900" dirty="0">
                <a:solidFill>
                  <a:srgbClr val="1E293B"/>
                </a:solidFill>
                <a:latin typeface="Arial" pitchFamily="34" charset="0"/>
                <a:ea typeface="Arial" pitchFamily="34" charset="-122"/>
                <a:cs typeface="Arial" pitchFamily="34" charset="-120"/>
              </a:rPr>
              <a:t>改善中</a:t>
            </a:r>
            <a:endParaRPr lang="en-US" sz="900" dirty="0"/>
          </a:p>
        </p:txBody>
      </p:sp>
      <p:sp>
        <p:nvSpPr>
          <p:cNvPr id="120" name="Shape 118"/>
          <p:cNvSpPr/>
          <p:nvPr/>
        </p:nvSpPr>
        <p:spPr>
          <a:xfrm>
            <a:off x="457200" y="5486400"/>
            <a:ext cx="11274552" cy="365760"/>
          </a:xfrm>
          <a:prstGeom prst="roundRect">
            <a:avLst>
              <a:gd name="adj" fmla="val 15000"/>
            </a:avLst>
          </a:prstGeom>
          <a:solidFill>
            <a:srgbClr val="1E2761"/>
          </a:solidFill>
          <a:ln/>
        </p:spPr>
        <p:txBody>
          <a:bodyPr/>
          <a:p/>
        </p:txBody>
      </p:sp>
      <p:sp>
        <p:nvSpPr>
          <p:cNvPr id="121" name="Text 119"/>
          <p:cNvSpPr/>
          <p:nvPr/>
        </p:nvSpPr>
        <p:spPr>
          <a:xfrm>
            <a:off x="640080" y="5504688"/>
            <a:ext cx="10881360" cy="329184"/>
          </a:xfrm>
          <a:prstGeom prst="rect">
            <a:avLst/>
          </a:prstGeom>
          <a:noFill/>
          <a:ln/>
        </p:spPr>
        <p:txBody>
          <a:bodyPr wrap="square" rtlCol="0" anchor="ctr"/>
          <a:lstStyle/>
          <a:p>
            <a:pPr algn="ctr" indent="0" marL="0">
              <a:buNone/>
            </a:pPr>
            <a:r>
              <a:rPr lang="en-US" sz="1100" dirty="0">
                <a:solidFill>
                  <a:srgbClr val="1E2761"/>
                </a:solidFill>
                <a:latin typeface="Arial Black" pitchFamily="34" charset="0"/>
                <a:ea typeface="Arial Black" pitchFamily="34" charset="-122"/>
                <a:cs typeface="Arial Black" pitchFamily="34" charset="-120"/>
              </a:rPr>
              <a:t>改善路径：先缩短换型时间(QUICK WIN) → 建立拉动系统 → 优化瓶颈工序 → 持续改善</a:t>
            </a:r>
            <a:endParaRPr lang="en-US" sz="1100" dirty="0"/>
          </a:p>
        </p:txBody>
      </p:sp>
      <p:sp>
        <p:nvSpPr>
          <p:cNvPr id="122" name="Shape 120"/>
          <p:cNvSpPr/>
          <p:nvPr/>
        </p:nvSpPr>
        <p:spPr>
          <a:xfrm>
            <a:off x="0" y="6565392"/>
            <a:ext cx="12188952" cy="292608"/>
          </a:xfrm>
          <a:prstGeom prst="rect">
            <a:avLst/>
          </a:prstGeom>
          <a:solidFill>
            <a:srgbClr val="1E2761"/>
          </a:solidFill>
          <a:ln w="12700">
            <a:solidFill>
              <a:srgbClr val="1E2761"/>
            </a:solidFill>
            <a:prstDash val="solid"/>
          </a:ln>
        </p:spPr>
        <p:txBody>
          <a:bodyPr/>
          <a:p/>
        </p:txBody>
      </p:sp>
      <p:sp>
        <p:nvSpPr>
          <p:cNvPr id="123" name="Text 121"/>
          <p:cNvSpPr/>
          <p:nvPr/>
        </p:nvSpPr>
        <p:spPr>
          <a:xfrm>
            <a:off x="0" y="6565392"/>
            <a:ext cx="12188952" cy="292608"/>
          </a:xfrm>
          <a:prstGeom prst="rect">
            <a:avLst/>
          </a:prstGeom>
          <a:noFill/>
          <a:ln/>
        </p:spPr>
        <p:txBody>
          <a:bodyPr wrap="square" rtlCol="0" anchor="ctr"/>
          <a:lstStyle/>
          <a:p>
            <a:pPr algn="ctr" indent="0" marL="0">
              <a:buNone/>
            </a:pPr>
            <a:r>
              <a:rPr lang="en-US" sz="1100" dirty="0">
                <a:solidFill>
                  <a:srgbClr val="CADCFC"/>
                </a:solidFill>
                <a:latin typeface="Arial" pitchFamily="34" charset="0"/>
                <a:ea typeface="Arial" pitchFamily="34" charset="-122"/>
                <a:cs typeface="Arial" pitchFamily="34" charset="-120"/>
              </a:rPr>
              <a:t>KPI追踪是VSM持续改善的保障 | 建议每月回顾一次关键指标</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价值流图VSM详解</dc:title>
  <dc:subject>PptxGenJS Presentation</dc:subject>
  <dc:creator>精益工具知识库</dc:creator>
  <cp:lastModifiedBy>精益工具知识库</cp:lastModifiedBy>
  <cp:revision>1</cp:revision>
  <dcterms:created xsi:type="dcterms:W3CDTF">2026-05-17T11:54:19Z</dcterms:created>
  <dcterms:modified xsi:type="dcterms:W3CDTF">2026-05-17T11:54:19Z</dcterms:modified>
</cp:coreProperties>
</file>