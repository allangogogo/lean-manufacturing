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w="12700">
            <a:solidFill>
              <a:srgbClr val="1E2761"/>
            </a:solidFill>
            <a:prstDash val="solid"/>
          </a:ln>
        </p:spPr>
      </p:sp>
      <p:sp>
        <p:nvSpPr>
          <p:cNvPr id="3" name="Shape 1"/>
          <p:cNvSpPr/>
          <p:nvPr/>
        </p:nvSpPr>
        <p:spPr>
          <a:xfrm>
            <a:off x="0" y="0"/>
            <a:ext cx="12188952" cy="109728"/>
          </a:xfrm>
          <a:prstGeom prst="rect">
            <a:avLst/>
          </a:prstGeom>
          <a:solidFill>
            <a:srgbClr val="0D9488"/>
          </a:solidFill>
          <a:ln w="12700">
            <a:solidFill>
              <a:srgbClr val="0D9488"/>
            </a:solidFill>
            <a:prstDash val="solid"/>
          </a:ln>
        </p:spPr>
      </p:sp>
      <p:sp>
        <p:nvSpPr>
          <p:cNvPr id="4" name="Shape 2"/>
          <p:cNvSpPr/>
          <p:nvPr/>
        </p:nvSpPr>
        <p:spPr>
          <a:xfrm>
            <a:off x="9601200" y="0"/>
            <a:ext cx="2587752" cy="6858000"/>
          </a:xfrm>
          <a:prstGeom prst="rect">
            <a:avLst/>
          </a:prstGeom>
          <a:solidFill>
            <a:srgbClr val="0F172A"/>
          </a:solidFill>
          <a:ln w="12700">
            <a:solidFill>
              <a:srgbClr val="0F172A"/>
            </a:solidFill>
            <a:prstDash val="solid"/>
          </a:ln>
        </p:spPr>
      </p:sp>
      <p:sp>
        <p:nvSpPr>
          <p:cNvPr id="5" name="Shape 3"/>
          <p:cNvSpPr/>
          <p:nvPr/>
        </p:nvSpPr>
        <p:spPr>
          <a:xfrm>
            <a:off x="10058400" y="914400"/>
            <a:ext cx="1828800" cy="1828800"/>
          </a:xfrm>
          <a:prstGeom prst="ellipse">
            <a:avLst/>
          </a:prstGeom>
          <a:solidFill>
            <a:srgbClr val="0D9488"/>
          </a:solidFill>
          <a:ln w="12700">
            <a:solidFill>
              <a:srgbClr val="0D9488"/>
            </a:solidFill>
            <a:prstDash val="solid"/>
          </a:ln>
        </p:spPr>
      </p:sp>
      <p:sp>
        <p:nvSpPr>
          <p:cNvPr id="6" name="Shape 4"/>
          <p:cNvSpPr/>
          <p:nvPr/>
        </p:nvSpPr>
        <p:spPr>
          <a:xfrm>
            <a:off x="10515600" y="2743200"/>
            <a:ext cx="1371600" cy="1371600"/>
          </a:xfrm>
          <a:prstGeom prst="ellipse">
            <a:avLst/>
          </a:prstGeom>
          <a:solidFill>
            <a:srgbClr val="FFFFFF"/>
          </a:solidFill>
          <a:ln w="12700">
            <a:solidFill>
              <a:srgbClr val="FFFFFF"/>
            </a:solidFill>
            <a:prstDash val="solid"/>
          </a:ln>
        </p:spPr>
      </p:sp>
      <p:sp>
        <p:nvSpPr>
          <p:cNvPr id="7" name="Text 5"/>
          <p:cNvSpPr/>
          <p:nvPr/>
        </p:nvSpPr>
        <p:spPr>
          <a:xfrm>
            <a:off x="731520" y="731520"/>
            <a:ext cx="2743200" cy="1097280"/>
          </a:xfrm>
          <a:prstGeom prst="rect">
            <a:avLst/>
          </a:prstGeom>
          <a:noFill/>
          <a:ln/>
        </p:spPr>
        <p:txBody>
          <a:bodyPr wrap="square" rtlCol="0" anchor="ctr"/>
          <a:lstStyle/>
          <a:p>
            <a:pPr indent="0" marL="0">
              <a:buNone/>
            </a:pPr>
            <a:r>
              <a:rPr lang="en-US" sz="8000" b="1" dirty="0">
                <a:solidFill>
                  <a:srgbClr val="5EEAD4"/>
                </a:solidFill>
                <a:latin typeface="Arial Black" pitchFamily="34" charset="0"/>
                <a:ea typeface="Arial Black" pitchFamily="34" charset="-122"/>
                <a:cs typeface="Arial Black" pitchFamily="34" charset="-120"/>
              </a:rPr>
              <a:t>03</a:t>
            </a:r>
            <a:endParaRPr lang="en-US" sz="8000" dirty="0"/>
          </a:p>
        </p:txBody>
      </p:sp>
      <p:sp>
        <p:nvSpPr>
          <p:cNvPr id="8" name="Text 6"/>
          <p:cNvSpPr/>
          <p:nvPr/>
        </p:nvSpPr>
        <p:spPr>
          <a:xfrm>
            <a:off x="731520" y="2011680"/>
            <a:ext cx="8229600" cy="822960"/>
          </a:xfrm>
          <a:prstGeom prst="rect">
            <a:avLst/>
          </a:prstGeom>
          <a:noFill/>
          <a:ln/>
        </p:spPr>
        <p:txBody>
          <a:bodyPr wrap="square" rtlCol="0" anchor="ctr"/>
          <a:lstStyle/>
          <a:p>
            <a:pPr indent="0" marL="0">
              <a:buNone/>
            </a:pPr>
            <a:r>
              <a:rPr lang="en-US" sz="4000" b="1" dirty="0">
                <a:solidFill>
                  <a:srgbClr val="FFFFFF"/>
                </a:solidFill>
                <a:latin typeface="Arial Black" pitchFamily="34" charset="0"/>
                <a:ea typeface="Arial Black" pitchFamily="34" charset="-122"/>
                <a:cs typeface="Arial Black" pitchFamily="34" charset="-120"/>
              </a:rPr>
              <a:t>价值流图 VSM</a:t>
            </a:r>
            <a:endParaRPr lang="en-US" sz="4000" dirty="0"/>
          </a:p>
        </p:txBody>
      </p:sp>
      <p:sp>
        <p:nvSpPr>
          <p:cNvPr id="9" name="Text 7"/>
          <p:cNvSpPr/>
          <p:nvPr/>
        </p:nvSpPr>
        <p:spPr>
          <a:xfrm>
            <a:off x="731520" y="2926080"/>
            <a:ext cx="8229600" cy="457200"/>
          </a:xfrm>
          <a:prstGeom prst="rect">
            <a:avLst/>
          </a:prstGeom>
          <a:noFill/>
          <a:ln/>
        </p:spPr>
        <p:txBody>
          <a:bodyPr wrap="square" rtlCol="0" anchor="ctr"/>
          <a:lstStyle/>
          <a:p>
            <a:pPr indent="0" marL="0">
              <a:buNone/>
            </a:pPr>
            <a:r>
              <a:rPr lang="en-US" sz="1800" dirty="0">
                <a:solidFill>
                  <a:srgbClr val="CADCFC"/>
                </a:solidFill>
                <a:latin typeface="Arial" pitchFamily="34" charset="0"/>
                <a:ea typeface="Arial" pitchFamily="34" charset="-122"/>
                <a:cs typeface="Arial" pitchFamily="34" charset="-120"/>
              </a:rPr>
              <a:t>Value Stream Mapping</a:t>
            </a:r>
            <a:endParaRPr lang="en-US" sz="1800" dirty="0"/>
          </a:p>
        </p:txBody>
      </p:sp>
      <p:sp>
        <p:nvSpPr>
          <p:cNvPr id="10" name="Shape 8"/>
          <p:cNvSpPr/>
          <p:nvPr/>
        </p:nvSpPr>
        <p:spPr>
          <a:xfrm>
            <a:off x="731520" y="3566160"/>
            <a:ext cx="2743200" cy="45720"/>
          </a:xfrm>
          <a:prstGeom prst="rect">
            <a:avLst/>
          </a:prstGeom>
          <a:solidFill>
            <a:srgbClr val="0D9488"/>
          </a:solidFill>
          <a:ln w="12700">
            <a:solidFill>
              <a:srgbClr val="0D9488"/>
            </a:solidFill>
            <a:prstDash val="solid"/>
          </a:ln>
        </p:spPr>
      </p:sp>
      <p:sp>
        <p:nvSpPr>
          <p:cNvPr id="11" name="Text 9"/>
          <p:cNvSpPr/>
          <p:nvPr/>
        </p:nvSpPr>
        <p:spPr>
          <a:xfrm>
            <a:off x="731520" y="3840480"/>
            <a:ext cx="8229600" cy="365760"/>
          </a:xfrm>
          <a:prstGeom prst="rect">
            <a:avLst/>
          </a:prstGeom>
          <a:noFill/>
          <a:ln/>
        </p:spPr>
        <p:txBody>
          <a:bodyPr wrap="square" rtlCol="0" anchor="ctr"/>
          <a:lstStyle/>
          <a:p>
            <a:pPr indent="0" marL="0">
              <a:buNone/>
            </a:pPr>
            <a:r>
              <a:rPr lang="en-US" sz="1300" dirty="0">
                <a:solidFill>
                  <a:srgbClr val="CADCFC"/>
                </a:solidFill>
                <a:latin typeface="Arial" pitchFamily="34" charset="0"/>
                <a:ea typeface="Arial" pitchFamily="34" charset="-122"/>
                <a:cs typeface="Arial" pitchFamily="34" charset="-120"/>
              </a:rPr>
              <a:t>从原材料到成品的全流程价值流可视化分析 | 识别浪费、设计未来状态</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73152"/>
            <a:ext cx="12188952" cy="6784848"/>
          </a:xfrm>
          <a:prstGeom prst="rect">
            <a:avLst/>
          </a:prstGeom>
          <a:solidFill>
            <a:srgbClr val="F8FAFC"/>
          </a:solidFill>
          <a:ln w="12700">
            <a:solidFill>
              <a:srgbClr val="F8FAFC"/>
            </a:solidFill>
            <a:prstDash val="solid"/>
          </a:ln>
        </p:spPr>
      </p:sp>
      <p:sp>
        <p:nvSpPr>
          <p:cNvPr id="3" name="Shape 1"/>
          <p:cNvSpPr/>
          <p:nvPr/>
        </p:nvSpPr>
        <p:spPr>
          <a:xfrm>
            <a:off x="0" y="0"/>
            <a:ext cx="12188952" cy="73152"/>
          </a:xfrm>
          <a:prstGeom prst="rect">
            <a:avLst/>
          </a:prstGeom>
          <a:solidFill>
            <a:srgbClr val="0D9488"/>
          </a:solidFill>
          <a:ln w="12700">
            <a:solidFill>
              <a:srgbClr val="0D9488"/>
            </a:solidFill>
            <a:prstDash val="solid"/>
          </a:ln>
        </p:spPr>
      </p:sp>
      <p:sp>
        <p:nvSpPr>
          <p:cNvPr id="4" name="Shape 2"/>
          <p:cNvSpPr/>
          <p:nvPr/>
        </p:nvSpPr>
        <p:spPr>
          <a:xfrm>
            <a:off x="0" y="73152"/>
            <a:ext cx="12188952" cy="841248"/>
          </a:xfrm>
          <a:prstGeom prst="rect">
            <a:avLst/>
          </a:prstGeom>
          <a:solidFill>
            <a:srgbClr val="1E2761"/>
          </a:solidFill>
          <a:ln w="12700">
            <a:solidFill>
              <a:srgbClr val="1E2761"/>
            </a:solidFill>
            <a:prstDash val="solid"/>
          </a:ln>
        </p:spPr>
      </p:sp>
      <p:sp>
        <p:nvSpPr>
          <p:cNvPr id="5" name="Text 3"/>
          <p:cNvSpPr/>
          <p:nvPr/>
        </p:nvSpPr>
        <p:spPr>
          <a:xfrm>
            <a:off x="457200" y="109728"/>
            <a:ext cx="11274552" cy="475488"/>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VSM 定义与目的</a:t>
            </a:r>
            <a:endParaRPr lang="en-US" sz="2800" dirty="0"/>
          </a:p>
        </p:txBody>
      </p:sp>
      <p:sp>
        <p:nvSpPr>
          <p:cNvPr id="6" name="Text 4"/>
          <p:cNvSpPr/>
          <p:nvPr/>
        </p:nvSpPr>
        <p:spPr>
          <a:xfrm>
            <a:off x="457200" y="493776"/>
            <a:ext cx="11274552" cy="320040"/>
          </a:xfrm>
          <a:prstGeom prst="rect">
            <a:avLst/>
          </a:prstGeom>
          <a:noFill/>
          <a:ln/>
        </p:spPr>
        <p:txBody>
          <a:bodyPr wrap="square" rtlCol="0" anchor="ctr"/>
          <a:lstStyle/>
          <a:p>
            <a:pPr indent="0" marL="0">
              <a:buNone/>
            </a:pPr>
            <a:r>
              <a:rPr lang="en-US" sz="1400" dirty="0">
                <a:solidFill>
                  <a:srgbClr val="CADCFC"/>
                </a:solidFill>
                <a:latin typeface="Arial" pitchFamily="34" charset="0"/>
                <a:ea typeface="Arial" pitchFamily="34" charset="-122"/>
                <a:cs typeface="Arial" pitchFamily="34" charset="-120"/>
              </a:rPr>
              <a:t>What is Value Stream Mapping?</a:t>
            </a:r>
            <a:endParaRPr lang="en-US" sz="1400" dirty="0"/>
          </a:p>
        </p:txBody>
      </p:sp>
      <p:sp>
        <p:nvSpPr>
          <p:cNvPr id="7" name="Shape 5"/>
          <p:cNvSpPr/>
          <p:nvPr/>
        </p:nvSpPr>
        <p:spPr>
          <a:xfrm>
            <a:off x="457200" y="1097280"/>
            <a:ext cx="5029200" cy="1097280"/>
          </a:xfrm>
          <a:prstGeom prst="roundRect">
            <a:avLst>
              <a:gd name="adj" fmla="val 8333"/>
            </a:avLst>
          </a:prstGeom>
          <a:solidFill>
            <a:srgbClr val="1E2761"/>
          </a:solidFill>
          <a:ln/>
        </p:spPr>
      </p:sp>
      <p:sp>
        <p:nvSpPr>
          <p:cNvPr id="8" name="Text 6"/>
          <p:cNvSpPr/>
          <p:nvPr/>
        </p:nvSpPr>
        <p:spPr>
          <a:xfrm>
            <a:off x="640080" y="1188720"/>
            <a:ext cx="4663440" cy="914400"/>
          </a:xfrm>
          <a:prstGeom prst="rect">
            <a:avLst/>
          </a:prstGeom>
          <a:noFill/>
          <a:ln/>
        </p:spPr>
        <p:txBody>
          <a:bodyPr wrap="square" rtlCol="0" anchor="t"/>
          <a:lstStyle/>
          <a:p>
            <a:pPr indent="0" marL="0">
              <a:buNone/>
            </a:pPr>
            <a:r>
              <a:rPr lang="en-US" sz="1100" dirty="0">
                <a:solidFill>
                  <a:srgbClr val="1E293B"/>
                </a:solidFill>
                <a:latin typeface="Arial" pitchFamily="34" charset="0"/>
                <a:ea typeface="Arial" pitchFamily="34" charset="-122"/>
                <a:cs typeface="Arial" pitchFamily="34" charset="-120"/>
              </a:rPr>
              <a:t>价值流图（VSM）是一种精益制造工具，用于可视化描绘从原材料到成品交付给客户的整个生产流程中的物料流和信息流，目的是识别系统中的浪费（Muda）并找到改善机会。</a:t>
            </a:r>
            <a:endParaRPr lang="en-US" sz="1100" dirty="0"/>
          </a:p>
        </p:txBody>
      </p:sp>
      <p:sp>
        <p:nvSpPr>
          <p:cNvPr id="9" name="Text 7"/>
          <p:cNvSpPr/>
          <p:nvPr/>
        </p:nvSpPr>
        <p:spPr>
          <a:xfrm>
            <a:off x="5943600" y="1097280"/>
            <a:ext cx="5760720" cy="365760"/>
          </a:xfrm>
          <a:prstGeom prst="rect">
            <a:avLst/>
          </a:prstGeom>
          <a:noFill/>
          <a:ln/>
        </p:spPr>
        <p:txBody>
          <a:bodyPr wrap="square" rtlCol="0" anchor="ctr"/>
          <a:lstStyle/>
          <a:p>
            <a:pPr indent="0" marL="0">
              <a:buNone/>
            </a:pPr>
            <a:r>
              <a:rPr lang="en-US" sz="1600" b="1" dirty="0">
                <a:solidFill>
                  <a:srgbClr val="1E2761"/>
                </a:solidFill>
                <a:latin typeface="Arial Black" pitchFamily="34" charset="0"/>
                <a:ea typeface="Arial Black" pitchFamily="34" charset="-122"/>
                <a:cs typeface="Arial Black" pitchFamily="34" charset="-120"/>
              </a:rPr>
              <a:t>VSM 核心目的</a:t>
            </a:r>
            <a:endParaRPr lang="en-US" sz="1600" dirty="0"/>
          </a:p>
        </p:txBody>
      </p:sp>
      <p:sp>
        <p:nvSpPr>
          <p:cNvPr id="10" name="Shape 8"/>
          <p:cNvSpPr/>
          <p:nvPr/>
        </p:nvSpPr>
        <p:spPr>
          <a:xfrm>
            <a:off x="5943600" y="1554480"/>
            <a:ext cx="1828800" cy="868680"/>
          </a:xfrm>
          <a:prstGeom prst="roundRect">
            <a:avLst>
              <a:gd name="adj" fmla="val 8421"/>
            </a:avLst>
          </a:prstGeom>
          <a:solidFill>
            <a:srgbClr val="FFFFFF"/>
          </a:solidFill>
          <a:ln/>
          <a:effectLst>
            <a:outerShdw sx="100000" sy="100000" kx="0" ky="0" algn="bl" rotWithShape="0" blurRad="50800" dist="12700" dir="8100000">
              <a:srgbClr val="000000">
                <a:alpha val="8000"/>
              </a:srgbClr>
            </a:outerShdw>
          </a:effectLst>
        </p:spPr>
      </p:sp>
      <p:sp>
        <p:nvSpPr>
          <p:cNvPr id="11" name="Shape 9"/>
          <p:cNvSpPr/>
          <p:nvPr/>
        </p:nvSpPr>
        <p:spPr>
          <a:xfrm>
            <a:off x="5943600" y="1554480"/>
            <a:ext cx="1828800" cy="219456"/>
          </a:xfrm>
          <a:prstGeom prst="rect">
            <a:avLst/>
          </a:prstGeom>
          <a:solidFill>
            <a:srgbClr val="DC2626"/>
          </a:solidFill>
          <a:ln w="12700">
            <a:solidFill>
              <a:srgbClr val="DC2626"/>
            </a:solidFill>
            <a:prstDash val="solid"/>
          </a:ln>
        </p:spPr>
      </p:sp>
      <p:sp>
        <p:nvSpPr>
          <p:cNvPr id="12" name="Text 10"/>
          <p:cNvSpPr/>
          <p:nvPr/>
        </p:nvSpPr>
        <p:spPr>
          <a:xfrm>
            <a:off x="5989320" y="1810512"/>
            <a:ext cx="365760" cy="320040"/>
          </a:xfrm>
          <a:prstGeom prst="rect">
            <a:avLst/>
          </a:prstGeom>
          <a:noFill/>
          <a:ln/>
        </p:spPr>
        <p:txBody>
          <a:bodyPr wrap="square" rtlCol="0" anchor="ctr"/>
          <a:lstStyle/>
          <a:p>
            <a:pPr algn="ctr" indent="0" marL="0">
              <a:buNone/>
            </a:pPr>
            <a:r>
              <a:rPr lang="en-US" sz="1400" dirty="0">
                <a:solidFill>
                  <a:srgbClr val="000000"/>
                </a:solidFill>
                <a:latin typeface="Arial Black" pitchFamily="34" charset="0"/>
                <a:ea typeface="Arial Black" pitchFamily="34" charset="-122"/>
                <a:cs typeface="Arial Black" pitchFamily="34" charset="-120"/>
              </a:rPr>
              <a:t>①</a:t>
            </a:r>
            <a:endParaRPr lang="en-US" sz="1400" dirty="0"/>
          </a:p>
        </p:txBody>
      </p:sp>
      <p:sp>
        <p:nvSpPr>
          <p:cNvPr id="13" name="Text 11"/>
          <p:cNvSpPr/>
          <p:nvPr/>
        </p:nvSpPr>
        <p:spPr>
          <a:xfrm>
            <a:off x="6400800" y="1828800"/>
            <a:ext cx="1280160" cy="274320"/>
          </a:xfrm>
          <a:prstGeom prst="rect">
            <a:avLst/>
          </a:prstGeom>
          <a:noFill/>
          <a:ln/>
        </p:spPr>
        <p:txBody>
          <a:bodyPr wrap="square" rtlCol="0" anchor="ctr"/>
          <a:lstStyle/>
          <a:p>
            <a:pPr indent="0" marL="0">
              <a:buNone/>
            </a:pPr>
            <a:r>
              <a:rPr lang="en-US" sz="1000" b="1" dirty="0">
                <a:solidFill>
                  <a:srgbClr val="1E293B"/>
                </a:solidFill>
                <a:latin typeface="Arial Black" pitchFamily="34" charset="0"/>
                <a:ea typeface="Arial Black" pitchFamily="34" charset="-122"/>
                <a:cs typeface="Arial Black" pitchFamily="34" charset="-120"/>
              </a:rPr>
              <a:t>全面识别浪费</a:t>
            </a:r>
            <a:endParaRPr lang="en-US" sz="1000" dirty="0"/>
          </a:p>
        </p:txBody>
      </p:sp>
      <p:sp>
        <p:nvSpPr>
          <p:cNvPr id="14" name="Text 12"/>
          <p:cNvSpPr/>
          <p:nvPr/>
        </p:nvSpPr>
        <p:spPr>
          <a:xfrm>
            <a:off x="5989320" y="2121408"/>
            <a:ext cx="173736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精益核心原则</a:t>
            </a:r>
            <a:endParaRPr lang="en-US" sz="800" dirty="0"/>
          </a:p>
        </p:txBody>
      </p:sp>
      <p:sp>
        <p:nvSpPr>
          <p:cNvPr id="15" name="Shape 13"/>
          <p:cNvSpPr/>
          <p:nvPr/>
        </p:nvSpPr>
        <p:spPr>
          <a:xfrm>
            <a:off x="7955280" y="1554480"/>
            <a:ext cx="1828800" cy="868680"/>
          </a:xfrm>
          <a:prstGeom prst="roundRect">
            <a:avLst>
              <a:gd name="adj" fmla="val 8421"/>
            </a:avLst>
          </a:prstGeom>
          <a:solidFill>
            <a:srgbClr val="FFFFFF"/>
          </a:solidFill>
          <a:ln/>
          <a:effectLst>
            <a:outerShdw sx="100000" sy="100000" kx="0" ky="0" algn="bl" rotWithShape="0" blurRad="50800" dist="12700" dir="8100000">
              <a:srgbClr val="000000">
                <a:alpha val="8000"/>
              </a:srgbClr>
            </a:outerShdw>
          </a:effectLst>
        </p:spPr>
      </p:sp>
      <p:sp>
        <p:nvSpPr>
          <p:cNvPr id="16" name="Shape 14"/>
          <p:cNvSpPr/>
          <p:nvPr/>
        </p:nvSpPr>
        <p:spPr>
          <a:xfrm>
            <a:off x="7955280" y="1554480"/>
            <a:ext cx="1828800" cy="219456"/>
          </a:xfrm>
          <a:prstGeom prst="rect">
            <a:avLst/>
          </a:prstGeom>
          <a:solidFill>
            <a:srgbClr val="0D9488"/>
          </a:solidFill>
          <a:ln w="12700">
            <a:solidFill>
              <a:srgbClr val="0D9488"/>
            </a:solidFill>
            <a:prstDash val="solid"/>
          </a:ln>
        </p:spPr>
      </p:sp>
      <p:sp>
        <p:nvSpPr>
          <p:cNvPr id="17" name="Text 15"/>
          <p:cNvSpPr/>
          <p:nvPr/>
        </p:nvSpPr>
        <p:spPr>
          <a:xfrm>
            <a:off x="8001000" y="1810512"/>
            <a:ext cx="365760" cy="320040"/>
          </a:xfrm>
          <a:prstGeom prst="rect">
            <a:avLst/>
          </a:prstGeom>
          <a:noFill/>
          <a:ln/>
        </p:spPr>
        <p:txBody>
          <a:bodyPr wrap="square" rtlCol="0" anchor="ctr"/>
          <a:lstStyle/>
          <a:p>
            <a:pPr algn="ctr" indent="0" marL="0">
              <a:buNone/>
            </a:pPr>
            <a:r>
              <a:rPr lang="en-US" sz="1400" dirty="0">
                <a:solidFill>
                  <a:srgbClr val="000000"/>
                </a:solidFill>
                <a:latin typeface="Arial Black" pitchFamily="34" charset="0"/>
                <a:ea typeface="Arial Black" pitchFamily="34" charset="-122"/>
                <a:cs typeface="Arial Black" pitchFamily="34" charset="-120"/>
              </a:rPr>
              <a:t>②</a:t>
            </a:r>
            <a:endParaRPr lang="en-US" sz="1400" dirty="0"/>
          </a:p>
        </p:txBody>
      </p:sp>
      <p:sp>
        <p:nvSpPr>
          <p:cNvPr id="18" name="Text 16"/>
          <p:cNvSpPr/>
          <p:nvPr/>
        </p:nvSpPr>
        <p:spPr>
          <a:xfrm>
            <a:off x="8412480" y="1828800"/>
            <a:ext cx="1280160" cy="274320"/>
          </a:xfrm>
          <a:prstGeom prst="rect">
            <a:avLst/>
          </a:prstGeom>
          <a:noFill/>
          <a:ln/>
        </p:spPr>
        <p:txBody>
          <a:bodyPr wrap="square" rtlCol="0" anchor="ctr"/>
          <a:lstStyle/>
          <a:p>
            <a:pPr indent="0" marL="0">
              <a:buNone/>
            </a:pPr>
            <a:r>
              <a:rPr lang="en-US" sz="1000" b="1" dirty="0">
                <a:solidFill>
                  <a:srgbClr val="1E293B"/>
                </a:solidFill>
                <a:latin typeface="Arial Black" pitchFamily="34" charset="0"/>
                <a:ea typeface="Arial Black" pitchFamily="34" charset="-122"/>
                <a:cs typeface="Arial Black" pitchFamily="34" charset="-120"/>
              </a:rPr>
              <a:t>量化流程数据</a:t>
            </a:r>
            <a:endParaRPr lang="en-US" sz="1000" dirty="0"/>
          </a:p>
        </p:txBody>
      </p:sp>
      <p:sp>
        <p:nvSpPr>
          <p:cNvPr id="19" name="Text 17"/>
          <p:cNvSpPr/>
          <p:nvPr/>
        </p:nvSpPr>
        <p:spPr>
          <a:xfrm>
            <a:off x="8001000" y="2121408"/>
            <a:ext cx="173736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精益核心原则</a:t>
            </a:r>
            <a:endParaRPr lang="en-US" sz="800" dirty="0"/>
          </a:p>
        </p:txBody>
      </p:sp>
      <p:sp>
        <p:nvSpPr>
          <p:cNvPr id="20" name="Shape 18"/>
          <p:cNvSpPr/>
          <p:nvPr/>
        </p:nvSpPr>
        <p:spPr>
          <a:xfrm>
            <a:off x="9966960" y="1554480"/>
            <a:ext cx="1828800" cy="868680"/>
          </a:xfrm>
          <a:prstGeom prst="roundRect">
            <a:avLst>
              <a:gd name="adj" fmla="val 8421"/>
            </a:avLst>
          </a:prstGeom>
          <a:solidFill>
            <a:srgbClr val="FFFFFF"/>
          </a:solidFill>
          <a:ln/>
          <a:effectLst>
            <a:outerShdw sx="100000" sy="100000" kx="0" ky="0" algn="bl" rotWithShape="0" blurRad="50800" dist="12700" dir="8100000">
              <a:srgbClr val="000000">
                <a:alpha val="8000"/>
              </a:srgbClr>
            </a:outerShdw>
          </a:effectLst>
        </p:spPr>
      </p:sp>
      <p:sp>
        <p:nvSpPr>
          <p:cNvPr id="21" name="Shape 19"/>
          <p:cNvSpPr/>
          <p:nvPr/>
        </p:nvSpPr>
        <p:spPr>
          <a:xfrm>
            <a:off x="9966960" y="1554480"/>
            <a:ext cx="1828800" cy="219456"/>
          </a:xfrm>
          <a:prstGeom prst="rect">
            <a:avLst/>
          </a:prstGeom>
          <a:solidFill>
            <a:srgbClr val="1E2761"/>
          </a:solidFill>
          <a:ln w="12700">
            <a:solidFill>
              <a:srgbClr val="1E2761"/>
            </a:solidFill>
            <a:prstDash val="solid"/>
          </a:ln>
        </p:spPr>
      </p:sp>
      <p:sp>
        <p:nvSpPr>
          <p:cNvPr id="22" name="Text 20"/>
          <p:cNvSpPr/>
          <p:nvPr/>
        </p:nvSpPr>
        <p:spPr>
          <a:xfrm>
            <a:off x="10012680" y="1810512"/>
            <a:ext cx="365760" cy="320040"/>
          </a:xfrm>
          <a:prstGeom prst="rect">
            <a:avLst/>
          </a:prstGeom>
          <a:noFill/>
          <a:ln/>
        </p:spPr>
        <p:txBody>
          <a:bodyPr wrap="square" rtlCol="0" anchor="ctr"/>
          <a:lstStyle/>
          <a:p>
            <a:pPr algn="ctr" indent="0" marL="0">
              <a:buNone/>
            </a:pPr>
            <a:r>
              <a:rPr lang="en-US" sz="1400" dirty="0">
                <a:solidFill>
                  <a:srgbClr val="000000"/>
                </a:solidFill>
                <a:latin typeface="Arial Black" pitchFamily="34" charset="0"/>
                <a:ea typeface="Arial Black" pitchFamily="34" charset="-122"/>
                <a:cs typeface="Arial Black" pitchFamily="34" charset="-120"/>
              </a:rPr>
              <a:t>③</a:t>
            </a:r>
            <a:endParaRPr lang="en-US" sz="1400" dirty="0"/>
          </a:p>
        </p:txBody>
      </p:sp>
      <p:sp>
        <p:nvSpPr>
          <p:cNvPr id="23" name="Text 21"/>
          <p:cNvSpPr/>
          <p:nvPr/>
        </p:nvSpPr>
        <p:spPr>
          <a:xfrm>
            <a:off x="10424160" y="1828800"/>
            <a:ext cx="1280160" cy="274320"/>
          </a:xfrm>
          <a:prstGeom prst="rect">
            <a:avLst/>
          </a:prstGeom>
          <a:noFill/>
          <a:ln/>
        </p:spPr>
        <p:txBody>
          <a:bodyPr wrap="square" rtlCol="0" anchor="ctr"/>
          <a:lstStyle/>
          <a:p>
            <a:pPr indent="0" marL="0">
              <a:buNone/>
            </a:pPr>
            <a:r>
              <a:rPr lang="en-US" sz="1000" b="1" dirty="0">
                <a:solidFill>
                  <a:srgbClr val="1E293B"/>
                </a:solidFill>
                <a:latin typeface="Arial Black" pitchFamily="34" charset="0"/>
                <a:ea typeface="Arial Black" pitchFamily="34" charset="-122"/>
                <a:cs typeface="Arial Black" pitchFamily="34" charset="-120"/>
              </a:rPr>
              <a:t>可视化全流程</a:t>
            </a:r>
            <a:endParaRPr lang="en-US" sz="1000" dirty="0"/>
          </a:p>
        </p:txBody>
      </p:sp>
      <p:sp>
        <p:nvSpPr>
          <p:cNvPr id="24" name="Text 22"/>
          <p:cNvSpPr/>
          <p:nvPr/>
        </p:nvSpPr>
        <p:spPr>
          <a:xfrm>
            <a:off x="10012680" y="2121408"/>
            <a:ext cx="173736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精益核心原则</a:t>
            </a:r>
            <a:endParaRPr lang="en-US" sz="800" dirty="0"/>
          </a:p>
        </p:txBody>
      </p:sp>
      <p:sp>
        <p:nvSpPr>
          <p:cNvPr id="25" name="Shape 23"/>
          <p:cNvSpPr/>
          <p:nvPr/>
        </p:nvSpPr>
        <p:spPr>
          <a:xfrm>
            <a:off x="5943600" y="2560320"/>
            <a:ext cx="1828800" cy="868680"/>
          </a:xfrm>
          <a:prstGeom prst="roundRect">
            <a:avLst>
              <a:gd name="adj" fmla="val 8421"/>
            </a:avLst>
          </a:prstGeom>
          <a:solidFill>
            <a:srgbClr val="FFFFFF"/>
          </a:solidFill>
          <a:ln/>
          <a:effectLst>
            <a:outerShdw sx="100000" sy="100000" kx="0" ky="0" algn="bl" rotWithShape="0" blurRad="50800" dist="12700" dir="8100000">
              <a:srgbClr val="000000">
                <a:alpha val="8000"/>
              </a:srgbClr>
            </a:outerShdw>
          </a:effectLst>
        </p:spPr>
      </p:sp>
      <p:sp>
        <p:nvSpPr>
          <p:cNvPr id="26" name="Shape 24"/>
          <p:cNvSpPr/>
          <p:nvPr/>
        </p:nvSpPr>
        <p:spPr>
          <a:xfrm>
            <a:off x="5943600" y="2560320"/>
            <a:ext cx="1828800" cy="219456"/>
          </a:xfrm>
          <a:prstGeom prst="rect">
            <a:avLst/>
          </a:prstGeom>
          <a:solidFill>
            <a:srgbClr val="059669"/>
          </a:solidFill>
          <a:ln w="12700">
            <a:solidFill>
              <a:srgbClr val="059669"/>
            </a:solidFill>
            <a:prstDash val="solid"/>
          </a:ln>
        </p:spPr>
      </p:sp>
      <p:sp>
        <p:nvSpPr>
          <p:cNvPr id="27" name="Text 25"/>
          <p:cNvSpPr/>
          <p:nvPr/>
        </p:nvSpPr>
        <p:spPr>
          <a:xfrm>
            <a:off x="5989320" y="2816352"/>
            <a:ext cx="365760" cy="320040"/>
          </a:xfrm>
          <a:prstGeom prst="rect">
            <a:avLst/>
          </a:prstGeom>
          <a:noFill/>
          <a:ln/>
        </p:spPr>
        <p:txBody>
          <a:bodyPr wrap="square" rtlCol="0" anchor="ctr"/>
          <a:lstStyle/>
          <a:p>
            <a:pPr algn="ctr" indent="0" marL="0">
              <a:buNone/>
            </a:pPr>
            <a:r>
              <a:rPr lang="en-US" sz="1400" dirty="0">
                <a:solidFill>
                  <a:srgbClr val="000000"/>
                </a:solidFill>
                <a:latin typeface="Arial Black" pitchFamily="34" charset="0"/>
                <a:ea typeface="Arial Black" pitchFamily="34" charset="-122"/>
                <a:cs typeface="Arial Black" pitchFamily="34" charset="-120"/>
              </a:rPr>
              <a:t>④</a:t>
            </a:r>
            <a:endParaRPr lang="en-US" sz="1400" dirty="0"/>
          </a:p>
        </p:txBody>
      </p:sp>
      <p:sp>
        <p:nvSpPr>
          <p:cNvPr id="28" name="Text 26"/>
          <p:cNvSpPr/>
          <p:nvPr/>
        </p:nvSpPr>
        <p:spPr>
          <a:xfrm>
            <a:off x="6400800" y="2834640"/>
            <a:ext cx="1280160" cy="274320"/>
          </a:xfrm>
          <a:prstGeom prst="rect">
            <a:avLst/>
          </a:prstGeom>
          <a:noFill/>
          <a:ln/>
        </p:spPr>
        <p:txBody>
          <a:bodyPr wrap="square" rtlCol="0" anchor="ctr"/>
          <a:lstStyle/>
          <a:p>
            <a:pPr indent="0" marL="0">
              <a:buNone/>
            </a:pPr>
            <a:r>
              <a:rPr lang="en-US" sz="1000" b="1" dirty="0">
                <a:solidFill>
                  <a:srgbClr val="1E293B"/>
                </a:solidFill>
                <a:latin typeface="Arial Black" pitchFamily="34" charset="0"/>
                <a:ea typeface="Arial Black" pitchFamily="34" charset="-122"/>
                <a:cs typeface="Arial Black" pitchFamily="34" charset="-120"/>
              </a:rPr>
              <a:t>设计未来状态</a:t>
            </a:r>
            <a:endParaRPr lang="en-US" sz="1000" dirty="0"/>
          </a:p>
        </p:txBody>
      </p:sp>
      <p:sp>
        <p:nvSpPr>
          <p:cNvPr id="29" name="Text 27"/>
          <p:cNvSpPr/>
          <p:nvPr/>
        </p:nvSpPr>
        <p:spPr>
          <a:xfrm>
            <a:off x="5989320" y="3127248"/>
            <a:ext cx="173736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精益核心原则</a:t>
            </a:r>
            <a:endParaRPr lang="en-US" sz="800" dirty="0"/>
          </a:p>
        </p:txBody>
      </p:sp>
      <p:sp>
        <p:nvSpPr>
          <p:cNvPr id="30" name="Shape 28"/>
          <p:cNvSpPr/>
          <p:nvPr/>
        </p:nvSpPr>
        <p:spPr>
          <a:xfrm>
            <a:off x="7955280" y="2560320"/>
            <a:ext cx="1828800" cy="868680"/>
          </a:xfrm>
          <a:prstGeom prst="roundRect">
            <a:avLst>
              <a:gd name="adj" fmla="val 8421"/>
            </a:avLst>
          </a:prstGeom>
          <a:solidFill>
            <a:srgbClr val="FFFFFF"/>
          </a:solidFill>
          <a:ln/>
          <a:effectLst>
            <a:outerShdw sx="100000" sy="100000" kx="0" ky="0" algn="bl" rotWithShape="0" blurRad="50800" dist="12700" dir="8100000">
              <a:srgbClr val="000000">
                <a:alpha val="8000"/>
              </a:srgbClr>
            </a:outerShdw>
          </a:effectLst>
        </p:spPr>
      </p:sp>
      <p:sp>
        <p:nvSpPr>
          <p:cNvPr id="31" name="Shape 29"/>
          <p:cNvSpPr/>
          <p:nvPr/>
        </p:nvSpPr>
        <p:spPr>
          <a:xfrm>
            <a:off x="7955280" y="2560320"/>
            <a:ext cx="1828800" cy="219456"/>
          </a:xfrm>
          <a:prstGeom prst="rect">
            <a:avLst/>
          </a:prstGeom>
          <a:solidFill>
            <a:srgbClr val="D97706"/>
          </a:solidFill>
          <a:ln w="12700">
            <a:solidFill>
              <a:srgbClr val="D97706"/>
            </a:solidFill>
            <a:prstDash val="solid"/>
          </a:ln>
        </p:spPr>
      </p:sp>
      <p:sp>
        <p:nvSpPr>
          <p:cNvPr id="32" name="Text 30"/>
          <p:cNvSpPr/>
          <p:nvPr/>
        </p:nvSpPr>
        <p:spPr>
          <a:xfrm>
            <a:off x="8001000" y="2816352"/>
            <a:ext cx="365760" cy="320040"/>
          </a:xfrm>
          <a:prstGeom prst="rect">
            <a:avLst/>
          </a:prstGeom>
          <a:noFill/>
          <a:ln/>
        </p:spPr>
        <p:txBody>
          <a:bodyPr wrap="square" rtlCol="0" anchor="ctr"/>
          <a:lstStyle/>
          <a:p>
            <a:pPr algn="ctr" indent="0" marL="0">
              <a:buNone/>
            </a:pPr>
            <a:r>
              <a:rPr lang="en-US" sz="1400" dirty="0">
                <a:solidFill>
                  <a:srgbClr val="000000"/>
                </a:solidFill>
                <a:latin typeface="Arial Black" pitchFamily="34" charset="0"/>
                <a:ea typeface="Arial Black" pitchFamily="34" charset="-122"/>
                <a:cs typeface="Arial Black" pitchFamily="34" charset="-120"/>
              </a:rPr>
              <a:t>⑤</a:t>
            </a:r>
            <a:endParaRPr lang="en-US" sz="1400" dirty="0"/>
          </a:p>
        </p:txBody>
      </p:sp>
      <p:sp>
        <p:nvSpPr>
          <p:cNvPr id="33" name="Text 31"/>
          <p:cNvSpPr/>
          <p:nvPr/>
        </p:nvSpPr>
        <p:spPr>
          <a:xfrm>
            <a:off x="8412480" y="2834640"/>
            <a:ext cx="1280160" cy="274320"/>
          </a:xfrm>
          <a:prstGeom prst="rect">
            <a:avLst/>
          </a:prstGeom>
          <a:noFill/>
          <a:ln/>
        </p:spPr>
        <p:txBody>
          <a:bodyPr wrap="square" rtlCol="0" anchor="ctr"/>
          <a:lstStyle/>
          <a:p>
            <a:pPr indent="0" marL="0">
              <a:buNone/>
            </a:pPr>
            <a:r>
              <a:rPr lang="en-US" sz="1000" b="1" dirty="0">
                <a:solidFill>
                  <a:srgbClr val="1E293B"/>
                </a:solidFill>
                <a:latin typeface="Arial Black" pitchFamily="34" charset="0"/>
                <a:ea typeface="Arial Black" pitchFamily="34" charset="-122"/>
                <a:cs typeface="Arial Black" pitchFamily="34" charset="-120"/>
              </a:rPr>
              <a:t>跨部门协同</a:t>
            </a:r>
            <a:endParaRPr lang="en-US" sz="1000" dirty="0"/>
          </a:p>
        </p:txBody>
      </p:sp>
      <p:sp>
        <p:nvSpPr>
          <p:cNvPr id="34" name="Text 32"/>
          <p:cNvSpPr/>
          <p:nvPr/>
        </p:nvSpPr>
        <p:spPr>
          <a:xfrm>
            <a:off x="8001000" y="3127248"/>
            <a:ext cx="173736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精益核心原则</a:t>
            </a:r>
            <a:endParaRPr lang="en-US" sz="800" dirty="0"/>
          </a:p>
        </p:txBody>
      </p:sp>
      <p:sp>
        <p:nvSpPr>
          <p:cNvPr id="35" name="Shape 33"/>
          <p:cNvSpPr/>
          <p:nvPr/>
        </p:nvSpPr>
        <p:spPr>
          <a:xfrm>
            <a:off x="9966960" y="2560320"/>
            <a:ext cx="1828800" cy="868680"/>
          </a:xfrm>
          <a:prstGeom prst="roundRect">
            <a:avLst>
              <a:gd name="adj" fmla="val 8421"/>
            </a:avLst>
          </a:prstGeom>
          <a:solidFill>
            <a:srgbClr val="FFFFFF"/>
          </a:solidFill>
          <a:ln/>
          <a:effectLst>
            <a:outerShdw sx="100000" sy="100000" kx="0" ky="0" algn="bl" rotWithShape="0" blurRad="50800" dist="12700" dir="8100000">
              <a:srgbClr val="000000">
                <a:alpha val="8000"/>
              </a:srgbClr>
            </a:outerShdw>
          </a:effectLst>
        </p:spPr>
      </p:sp>
      <p:sp>
        <p:nvSpPr>
          <p:cNvPr id="36" name="Shape 34"/>
          <p:cNvSpPr/>
          <p:nvPr/>
        </p:nvSpPr>
        <p:spPr>
          <a:xfrm>
            <a:off x="9966960" y="2560320"/>
            <a:ext cx="1828800" cy="219456"/>
          </a:xfrm>
          <a:prstGeom prst="rect">
            <a:avLst/>
          </a:prstGeom>
          <a:solidFill>
            <a:srgbClr val="0D9488"/>
          </a:solidFill>
          <a:ln w="12700">
            <a:solidFill>
              <a:srgbClr val="0D9488"/>
            </a:solidFill>
            <a:prstDash val="solid"/>
          </a:ln>
        </p:spPr>
      </p:sp>
      <p:sp>
        <p:nvSpPr>
          <p:cNvPr id="37" name="Text 35"/>
          <p:cNvSpPr/>
          <p:nvPr/>
        </p:nvSpPr>
        <p:spPr>
          <a:xfrm>
            <a:off x="10012680" y="2816352"/>
            <a:ext cx="365760" cy="320040"/>
          </a:xfrm>
          <a:prstGeom prst="rect">
            <a:avLst/>
          </a:prstGeom>
          <a:noFill/>
          <a:ln/>
        </p:spPr>
        <p:txBody>
          <a:bodyPr wrap="square" rtlCol="0" anchor="ctr"/>
          <a:lstStyle/>
          <a:p>
            <a:pPr algn="ctr" indent="0" marL="0">
              <a:buNone/>
            </a:pPr>
            <a:r>
              <a:rPr lang="en-US" sz="1400" dirty="0">
                <a:solidFill>
                  <a:srgbClr val="000000"/>
                </a:solidFill>
                <a:latin typeface="Arial Black" pitchFamily="34" charset="0"/>
                <a:ea typeface="Arial Black" pitchFamily="34" charset="-122"/>
                <a:cs typeface="Arial Black" pitchFamily="34" charset="-120"/>
              </a:rPr>
              <a:t>⑥</a:t>
            </a:r>
            <a:endParaRPr lang="en-US" sz="1400" dirty="0"/>
          </a:p>
        </p:txBody>
      </p:sp>
      <p:sp>
        <p:nvSpPr>
          <p:cNvPr id="38" name="Text 36"/>
          <p:cNvSpPr/>
          <p:nvPr/>
        </p:nvSpPr>
        <p:spPr>
          <a:xfrm>
            <a:off x="10424160" y="2834640"/>
            <a:ext cx="1280160" cy="274320"/>
          </a:xfrm>
          <a:prstGeom prst="rect">
            <a:avLst/>
          </a:prstGeom>
          <a:noFill/>
          <a:ln/>
        </p:spPr>
        <p:txBody>
          <a:bodyPr wrap="square" rtlCol="0" anchor="ctr"/>
          <a:lstStyle/>
          <a:p>
            <a:pPr indent="0" marL="0">
              <a:buNone/>
            </a:pPr>
            <a:r>
              <a:rPr lang="en-US" sz="1000" b="1" dirty="0">
                <a:solidFill>
                  <a:srgbClr val="1E293B"/>
                </a:solidFill>
                <a:latin typeface="Arial Black" pitchFamily="34" charset="0"/>
                <a:ea typeface="Arial Black" pitchFamily="34" charset="-122"/>
                <a:cs typeface="Arial Black" pitchFamily="34" charset="-120"/>
              </a:rPr>
              <a:t>持续改善基线</a:t>
            </a:r>
            <a:endParaRPr lang="en-US" sz="1000" dirty="0"/>
          </a:p>
        </p:txBody>
      </p:sp>
      <p:sp>
        <p:nvSpPr>
          <p:cNvPr id="39" name="Text 37"/>
          <p:cNvSpPr/>
          <p:nvPr/>
        </p:nvSpPr>
        <p:spPr>
          <a:xfrm>
            <a:off x="10012680" y="3127248"/>
            <a:ext cx="173736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精益核心原则</a:t>
            </a:r>
            <a:endParaRPr lang="en-US" sz="800" dirty="0"/>
          </a:p>
        </p:txBody>
      </p:sp>
      <p:sp>
        <p:nvSpPr>
          <p:cNvPr id="40" name="Shape 38"/>
          <p:cNvSpPr/>
          <p:nvPr/>
        </p:nvSpPr>
        <p:spPr>
          <a:xfrm>
            <a:off x="457200" y="3840480"/>
            <a:ext cx="11274552" cy="36576"/>
          </a:xfrm>
          <a:prstGeom prst="rect">
            <a:avLst/>
          </a:prstGeom>
          <a:solidFill>
            <a:srgbClr val="1E2761"/>
          </a:solidFill>
          <a:ln w="12700">
            <a:solidFill>
              <a:srgbClr val="1E2761"/>
            </a:solidFill>
            <a:prstDash val="solid"/>
          </a:ln>
        </p:spPr>
      </p:sp>
      <p:sp>
        <p:nvSpPr>
          <p:cNvPr id="41" name="Text 39"/>
          <p:cNvSpPr/>
          <p:nvPr/>
        </p:nvSpPr>
        <p:spPr>
          <a:xfrm>
            <a:off x="731520" y="3977640"/>
            <a:ext cx="2743200" cy="365760"/>
          </a:xfrm>
          <a:prstGeom prst="rect">
            <a:avLst/>
          </a:prstGeom>
          <a:noFill/>
          <a:ln/>
        </p:spPr>
        <p:txBody>
          <a:bodyPr wrap="square" rtlCol="0" anchor="ctr"/>
          <a:lstStyle/>
          <a:p>
            <a:pPr indent="0" marL="0">
              <a:buNone/>
            </a:pPr>
            <a:r>
              <a:rPr lang="en-US" sz="1400" b="1" dirty="0">
                <a:solidFill>
                  <a:srgbClr val="1E2761"/>
                </a:solidFill>
                <a:latin typeface="Arial Black" pitchFamily="34" charset="0"/>
                <a:ea typeface="Arial Black" pitchFamily="34" charset="-122"/>
                <a:cs typeface="Arial Black" pitchFamily="34" charset="-120"/>
              </a:rPr>
              <a:t>精益五大原则</a:t>
            </a:r>
            <a:endParaRPr lang="en-US" sz="1400" dirty="0"/>
          </a:p>
        </p:txBody>
      </p:sp>
      <p:sp>
        <p:nvSpPr>
          <p:cNvPr id="42" name="Shape 40"/>
          <p:cNvSpPr/>
          <p:nvPr/>
        </p:nvSpPr>
        <p:spPr>
          <a:xfrm>
            <a:off x="457200" y="4434840"/>
            <a:ext cx="2148840" cy="502920"/>
          </a:xfrm>
          <a:prstGeom prst="roundRect">
            <a:avLst>
              <a:gd name="adj" fmla="val 10909"/>
            </a:avLst>
          </a:prstGeom>
          <a:solidFill>
            <a:srgbClr val="0D9488"/>
          </a:solidFill>
          <a:ln w="6350">
            <a:solidFill>
              <a:srgbClr val="0D9488"/>
            </a:solidFill>
            <a:prstDash val="solid"/>
          </a:ln>
        </p:spPr>
      </p:sp>
      <p:sp>
        <p:nvSpPr>
          <p:cNvPr id="43" name="Text 41"/>
          <p:cNvSpPr/>
          <p:nvPr/>
        </p:nvSpPr>
        <p:spPr>
          <a:xfrm>
            <a:off x="548640" y="4453128"/>
            <a:ext cx="1965960" cy="4572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1. 价值 Value</a:t>
            </a:r>
            <a:endParaRPr lang="en-US" sz="900" dirty="0"/>
          </a:p>
        </p:txBody>
      </p:sp>
      <p:sp>
        <p:nvSpPr>
          <p:cNvPr id="44" name="Shape 42"/>
          <p:cNvSpPr/>
          <p:nvPr/>
        </p:nvSpPr>
        <p:spPr>
          <a:xfrm>
            <a:off x="2743200" y="4434840"/>
            <a:ext cx="2148840" cy="502920"/>
          </a:xfrm>
          <a:prstGeom prst="roundRect">
            <a:avLst>
              <a:gd name="adj" fmla="val 10909"/>
            </a:avLst>
          </a:prstGeom>
          <a:solidFill>
            <a:srgbClr val="0D9488"/>
          </a:solidFill>
          <a:ln w="6350">
            <a:solidFill>
              <a:srgbClr val="0D9488"/>
            </a:solidFill>
            <a:prstDash val="solid"/>
          </a:ln>
        </p:spPr>
      </p:sp>
      <p:sp>
        <p:nvSpPr>
          <p:cNvPr id="45" name="Text 43"/>
          <p:cNvSpPr/>
          <p:nvPr/>
        </p:nvSpPr>
        <p:spPr>
          <a:xfrm>
            <a:off x="2834640" y="4453128"/>
            <a:ext cx="1965960" cy="4572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2. 价值流 Value Stream</a:t>
            </a:r>
            <a:endParaRPr lang="en-US" sz="900" dirty="0"/>
          </a:p>
        </p:txBody>
      </p:sp>
      <p:sp>
        <p:nvSpPr>
          <p:cNvPr id="46" name="Shape 44"/>
          <p:cNvSpPr/>
          <p:nvPr/>
        </p:nvSpPr>
        <p:spPr>
          <a:xfrm>
            <a:off x="5029200" y="4434840"/>
            <a:ext cx="2148840" cy="502920"/>
          </a:xfrm>
          <a:prstGeom prst="roundRect">
            <a:avLst>
              <a:gd name="adj" fmla="val 10909"/>
            </a:avLst>
          </a:prstGeom>
          <a:solidFill>
            <a:srgbClr val="0D9488"/>
          </a:solidFill>
          <a:ln w="6350">
            <a:solidFill>
              <a:srgbClr val="0D9488"/>
            </a:solidFill>
            <a:prstDash val="solid"/>
          </a:ln>
        </p:spPr>
      </p:sp>
      <p:sp>
        <p:nvSpPr>
          <p:cNvPr id="47" name="Text 45"/>
          <p:cNvSpPr/>
          <p:nvPr/>
        </p:nvSpPr>
        <p:spPr>
          <a:xfrm>
            <a:off x="5120640" y="4453128"/>
            <a:ext cx="1965960" cy="4572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3. 流动 Flow</a:t>
            </a:r>
            <a:endParaRPr lang="en-US" sz="900" dirty="0"/>
          </a:p>
        </p:txBody>
      </p:sp>
      <p:sp>
        <p:nvSpPr>
          <p:cNvPr id="48" name="Shape 46"/>
          <p:cNvSpPr/>
          <p:nvPr/>
        </p:nvSpPr>
        <p:spPr>
          <a:xfrm>
            <a:off x="7315200" y="4434840"/>
            <a:ext cx="2148840" cy="502920"/>
          </a:xfrm>
          <a:prstGeom prst="roundRect">
            <a:avLst>
              <a:gd name="adj" fmla="val 10909"/>
            </a:avLst>
          </a:prstGeom>
          <a:solidFill>
            <a:srgbClr val="0D9488"/>
          </a:solidFill>
          <a:ln w="6350">
            <a:solidFill>
              <a:srgbClr val="0D9488"/>
            </a:solidFill>
            <a:prstDash val="solid"/>
          </a:ln>
        </p:spPr>
      </p:sp>
      <p:sp>
        <p:nvSpPr>
          <p:cNvPr id="49" name="Text 47"/>
          <p:cNvSpPr/>
          <p:nvPr/>
        </p:nvSpPr>
        <p:spPr>
          <a:xfrm>
            <a:off x="7406640" y="4453128"/>
            <a:ext cx="1965960" cy="4572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4. 拉动 Pull</a:t>
            </a:r>
            <a:endParaRPr lang="en-US" sz="900" dirty="0"/>
          </a:p>
        </p:txBody>
      </p:sp>
      <p:sp>
        <p:nvSpPr>
          <p:cNvPr id="50" name="Shape 48"/>
          <p:cNvSpPr/>
          <p:nvPr/>
        </p:nvSpPr>
        <p:spPr>
          <a:xfrm>
            <a:off x="9601200" y="4434840"/>
            <a:ext cx="2148840" cy="502920"/>
          </a:xfrm>
          <a:prstGeom prst="roundRect">
            <a:avLst>
              <a:gd name="adj" fmla="val 10909"/>
            </a:avLst>
          </a:prstGeom>
          <a:solidFill>
            <a:srgbClr val="0D9488"/>
          </a:solidFill>
          <a:ln w="6350">
            <a:solidFill>
              <a:srgbClr val="0D9488"/>
            </a:solidFill>
            <a:prstDash val="solid"/>
          </a:ln>
        </p:spPr>
      </p:sp>
      <p:sp>
        <p:nvSpPr>
          <p:cNvPr id="51" name="Text 49"/>
          <p:cNvSpPr/>
          <p:nvPr/>
        </p:nvSpPr>
        <p:spPr>
          <a:xfrm>
            <a:off x="9692640" y="4453128"/>
            <a:ext cx="1965960" cy="4572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5. 尽善尽美 Perfection</a:t>
            </a:r>
            <a:endParaRPr lang="en-US" sz="900" dirty="0"/>
          </a:p>
        </p:txBody>
      </p:sp>
      <p:sp>
        <p:nvSpPr>
          <p:cNvPr id="52" name="Shape 50"/>
          <p:cNvSpPr/>
          <p:nvPr/>
        </p:nvSpPr>
        <p:spPr>
          <a:xfrm>
            <a:off x="0" y="6565392"/>
            <a:ext cx="12188952" cy="292608"/>
          </a:xfrm>
          <a:prstGeom prst="rect">
            <a:avLst/>
          </a:prstGeom>
          <a:solidFill>
            <a:srgbClr val="1E2761"/>
          </a:solidFill>
          <a:ln w="12700">
            <a:solidFill>
              <a:srgbClr val="1E2761"/>
            </a:solidFill>
            <a:prstDash val="solid"/>
          </a:ln>
        </p:spPr>
      </p:sp>
      <p:sp>
        <p:nvSpPr>
          <p:cNvPr id="53" name="Text 51"/>
          <p:cNvSpPr/>
          <p:nvPr/>
        </p:nvSpPr>
        <p:spPr>
          <a:xfrm>
            <a:off x="0" y="6565392"/>
            <a:ext cx="12188952" cy="292608"/>
          </a:xfrm>
          <a:prstGeom prst="rect">
            <a:avLst/>
          </a:prstGeom>
          <a:noFill/>
          <a:ln/>
        </p:spPr>
        <p:txBody>
          <a:bodyPr wrap="square" rtlCol="0" anchor="ctr"/>
          <a:lstStyle/>
          <a:p>
            <a:pPr algn="ctr" indent="0" marL="0">
              <a:buNone/>
            </a:pPr>
            <a:r>
              <a:rPr lang="en-US" sz="1100" dirty="0">
                <a:solidFill>
                  <a:srgbClr val="CADCFC"/>
                </a:solidFill>
                <a:latin typeface="Arial" pitchFamily="34" charset="0"/>
                <a:ea typeface="Arial" pitchFamily="34" charset="-122"/>
                <a:cs typeface="Arial" pitchFamily="34" charset="-120"/>
              </a:rPr>
              <a:t>VSM是精益转型的起点 | 先看清现状，再设计未来</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73152"/>
            <a:ext cx="12188952" cy="6784848"/>
          </a:xfrm>
          <a:prstGeom prst="rect">
            <a:avLst/>
          </a:prstGeom>
          <a:solidFill>
            <a:srgbClr val="F8FAFC"/>
          </a:solidFill>
          <a:ln w="12700">
            <a:solidFill>
              <a:srgbClr val="F8FAFC"/>
            </a:solidFill>
            <a:prstDash val="solid"/>
          </a:ln>
        </p:spPr>
      </p:sp>
      <p:sp>
        <p:nvSpPr>
          <p:cNvPr id="3" name="Shape 1"/>
          <p:cNvSpPr/>
          <p:nvPr/>
        </p:nvSpPr>
        <p:spPr>
          <a:xfrm>
            <a:off x="0" y="0"/>
            <a:ext cx="12188952" cy="73152"/>
          </a:xfrm>
          <a:prstGeom prst="rect">
            <a:avLst/>
          </a:prstGeom>
          <a:solidFill>
            <a:srgbClr val="0D9488"/>
          </a:solidFill>
          <a:ln w="12700">
            <a:solidFill>
              <a:srgbClr val="0D9488"/>
            </a:solidFill>
            <a:prstDash val="solid"/>
          </a:ln>
        </p:spPr>
      </p:sp>
      <p:sp>
        <p:nvSpPr>
          <p:cNvPr id="4" name="Shape 2"/>
          <p:cNvSpPr/>
          <p:nvPr/>
        </p:nvSpPr>
        <p:spPr>
          <a:xfrm>
            <a:off x="0" y="73152"/>
            <a:ext cx="12188952" cy="841248"/>
          </a:xfrm>
          <a:prstGeom prst="rect">
            <a:avLst/>
          </a:prstGeom>
          <a:solidFill>
            <a:srgbClr val="1E2761"/>
          </a:solidFill>
          <a:ln w="12700">
            <a:solidFill>
              <a:srgbClr val="1E2761"/>
            </a:solidFill>
            <a:prstDash val="solid"/>
          </a:ln>
        </p:spPr>
      </p:sp>
      <p:sp>
        <p:nvSpPr>
          <p:cNvPr id="5" name="Text 3"/>
          <p:cNvSpPr/>
          <p:nvPr/>
        </p:nvSpPr>
        <p:spPr>
          <a:xfrm>
            <a:off x="457200" y="109728"/>
            <a:ext cx="11274552" cy="475488"/>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VSM 实施步骤</a:t>
            </a:r>
            <a:endParaRPr lang="en-US" sz="2800" dirty="0"/>
          </a:p>
        </p:txBody>
      </p:sp>
      <p:sp>
        <p:nvSpPr>
          <p:cNvPr id="6" name="Text 4"/>
          <p:cNvSpPr/>
          <p:nvPr/>
        </p:nvSpPr>
        <p:spPr>
          <a:xfrm>
            <a:off x="457200" y="493776"/>
            <a:ext cx="11274552" cy="320040"/>
          </a:xfrm>
          <a:prstGeom prst="rect">
            <a:avLst/>
          </a:prstGeom>
          <a:noFill/>
          <a:ln/>
        </p:spPr>
        <p:txBody>
          <a:bodyPr wrap="square" rtlCol="0" anchor="ctr"/>
          <a:lstStyle/>
          <a:p>
            <a:pPr indent="0" marL="0">
              <a:buNone/>
            </a:pPr>
            <a:r>
              <a:rPr lang="en-US" sz="1400" dirty="0">
                <a:solidFill>
                  <a:srgbClr val="CADCFC"/>
                </a:solidFill>
                <a:latin typeface="Arial" pitchFamily="34" charset="0"/>
                <a:ea typeface="Arial" pitchFamily="34" charset="-122"/>
                <a:cs typeface="Arial" pitchFamily="34" charset="-120"/>
              </a:rPr>
              <a:t>7 Steps to Value Stream Mapping</a:t>
            </a:r>
            <a:endParaRPr lang="en-US" sz="1400" dirty="0"/>
          </a:p>
        </p:txBody>
      </p:sp>
      <p:sp>
        <p:nvSpPr>
          <p:cNvPr id="7" name="Shape 5"/>
          <p:cNvSpPr/>
          <p:nvPr/>
        </p:nvSpPr>
        <p:spPr>
          <a:xfrm>
            <a:off x="274320" y="1188720"/>
            <a:ext cx="1554480" cy="914400"/>
          </a:xfrm>
          <a:prstGeom prst="roundRect">
            <a:avLst>
              <a:gd name="adj" fmla="val 10000"/>
            </a:avLst>
          </a:prstGeom>
          <a:solidFill>
            <a:srgbClr val="1E2761"/>
          </a:solidFill>
          <a:ln/>
        </p:spPr>
      </p:sp>
      <p:sp>
        <p:nvSpPr>
          <p:cNvPr id="8" name="Text 6"/>
          <p:cNvSpPr/>
          <p:nvPr/>
        </p:nvSpPr>
        <p:spPr>
          <a:xfrm>
            <a:off x="274320" y="1234440"/>
            <a:ext cx="1554480" cy="365760"/>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9" name="Text 7"/>
          <p:cNvSpPr/>
          <p:nvPr/>
        </p:nvSpPr>
        <p:spPr>
          <a:xfrm>
            <a:off x="274320" y="1572768"/>
            <a:ext cx="1554480" cy="502920"/>
          </a:xfrm>
          <a:prstGeom prst="rect">
            <a:avLst/>
          </a:prstGeom>
          <a:noFill/>
          <a:ln/>
        </p:spPr>
        <p:txBody>
          <a:bodyPr wrap="square"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选择</a:t>
            </a:r>
            <a:endParaRPr lang="en-US" sz="900" dirty="0"/>
          </a:p>
          <a:p>
            <a:pPr algn="ctr" indent="0" marL="0">
              <a:buNone/>
            </a:pPr>
            <a:r>
              <a:rPr lang="en-US" sz="900" b="1" dirty="0">
                <a:solidFill>
                  <a:srgbClr val="FFFFFF"/>
                </a:solidFill>
                <a:latin typeface="Arial Black" pitchFamily="34" charset="0"/>
                <a:ea typeface="Arial Black" pitchFamily="34" charset="-122"/>
                <a:cs typeface="Arial Black" pitchFamily="34" charset="-120"/>
              </a:rPr>
              <a:t>产品族</a:t>
            </a:r>
            <a:endParaRPr lang="en-US" sz="900" dirty="0"/>
          </a:p>
        </p:txBody>
      </p:sp>
      <p:sp>
        <p:nvSpPr>
          <p:cNvPr id="10" name="Shape 8"/>
          <p:cNvSpPr/>
          <p:nvPr/>
        </p:nvSpPr>
        <p:spPr>
          <a:xfrm>
            <a:off x="1828800" y="1508760"/>
            <a:ext cx="137160" cy="36576"/>
          </a:xfrm>
          <a:prstGeom prst="rect">
            <a:avLst/>
          </a:prstGeom>
          <a:solidFill>
            <a:srgbClr val="0D9488"/>
          </a:solidFill>
          <a:ln w="12700">
            <a:solidFill>
              <a:srgbClr val="0D9488"/>
            </a:solidFill>
            <a:prstDash val="solid"/>
          </a:ln>
        </p:spPr>
      </p:sp>
      <p:sp>
        <p:nvSpPr>
          <p:cNvPr id="11" name="Shape 9"/>
          <p:cNvSpPr/>
          <p:nvPr/>
        </p:nvSpPr>
        <p:spPr>
          <a:xfrm>
            <a:off x="1920240" y="1417320"/>
            <a:ext cx="164592" cy="219456"/>
          </a:xfrm>
          <a:prstGeom prst="rightArrow">
            <a:avLst/>
          </a:prstGeom>
          <a:solidFill>
            <a:srgbClr val="0D9488"/>
          </a:solidFill>
          <a:ln w="12700">
            <a:solidFill>
              <a:srgbClr val="0D9488"/>
            </a:solidFill>
            <a:prstDash val="solid"/>
          </a:ln>
        </p:spPr>
      </p:sp>
      <p:sp>
        <p:nvSpPr>
          <p:cNvPr id="12" name="Text 10"/>
          <p:cNvSpPr/>
          <p:nvPr/>
        </p:nvSpPr>
        <p:spPr>
          <a:xfrm>
            <a:off x="228600" y="2240280"/>
            <a:ext cx="1645920" cy="4572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按价值流选择</a:t>
            </a:r>
            <a:endParaRPr lang="en-US" sz="800" dirty="0"/>
          </a:p>
          <a:p>
            <a:pPr algn="ctr" indent="0" marL="0">
              <a:buNone/>
            </a:pPr>
            <a:r>
              <a:rPr lang="en-US" sz="800" dirty="0">
                <a:solidFill>
                  <a:srgbClr val="64748B"/>
                </a:solidFill>
                <a:latin typeface="Arial" pitchFamily="34" charset="0"/>
                <a:ea typeface="Arial" pitchFamily="34" charset="-122"/>
                <a:cs typeface="Arial" pitchFamily="34" charset="-120"/>
              </a:rPr>
              <a:t>关键产品族</a:t>
            </a:r>
            <a:endParaRPr lang="en-US" sz="800" dirty="0"/>
          </a:p>
        </p:txBody>
      </p:sp>
      <p:sp>
        <p:nvSpPr>
          <p:cNvPr id="13" name="Shape 11"/>
          <p:cNvSpPr/>
          <p:nvPr/>
        </p:nvSpPr>
        <p:spPr>
          <a:xfrm>
            <a:off x="1965960" y="1188720"/>
            <a:ext cx="1554480" cy="914400"/>
          </a:xfrm>
          <a:prstGeom prst="roundRect">
            <a:avLst>
              <a:gd name="adj" fmla="val 10000"/>
            </a:avLst>
          </a:prstGeom>
          <a:solidFill>
            <a:srgbClr val="0D9488"/>
          </a:solidFill>
          <a:ln/>
        </p:spPr>
      </p:sp>
      <p:sp>
        <p:nvSpPr>
          <p:cNvPr id="14" name="Text 12"/>
          <p:cNvSpPr/>
          <p:nvPr/>
        </p:nvSpPr>
        <p:spPr>
          <a:xfrm>
            <a:off x="1965960" y="1234440"/>
            <a:ext cx="1554480" cy="365760"/>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15" name="Text 13"/>
          <p:cNvSpPr/>
          <p:nvPr/>
        </p:nvSpPr>
        <p:spPr>
          <a:xfrm>
            <a:off x="1965960" y="1572768"/>
            <a:ext cx="1554480" cy="502920"/>
          </a:xfrm>
          <a:prstGeom prst="rect">
            <a:avLst/>
          </a:prstGeom>
          <a:noFill/>
          <a:ln/>
        </p:spPr>
        <p:txBody>
          <a:bodyPr wrap="square"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绘制</a:t>
            </a:r>
            <a:endParaRPr lang="en-US" sz="900" dirty="0"/>
          </a:p>
          <a:p>
            <a:pPr algn="ctr" indent="0" marL="0">
              <a:buNone/>
            </a:pPr>
            <a:r>
              <a:rPr lang="en-US" sz="900" b="1" dirty="0">
                <a:solidFill>
                  <a:srgbClr val="FFFFFF"/>
                </a:solidFill>
                <a:latin typeface="Arial Black" pitchFamily="34" charset="0"/>
                <a:ea typeface="Arial Black" pitchFamily="34" charset="-122"/>
                <a:cs typeface="Arial Black" pitchFamily="34" charset="-120"/>
              </a:rPr>
              <a:t>当前状态</a:t>
            </a:r>
            <a:endParaRPr lang="en-US" sz="900" dirty="0"/>
          </a:p>
        </p:txBody>
      </p:sp>
      <p:sp>
        <p:nvSpPr>
          <p:cNvPr id="16" name="Shape 14"/>
          <p:cNvSpPr/>
          <p:nvPr/>
        </p:nvSpPr>
        <p:spPr>
          <a:xfrm>
            <a:off x="3520440" y="1508760"/>
            <a:ext cx="137160" cy="36576"/>
          </a:xfrm>
          <a:prstGeom prst="rect">
            <a:avLst/>
          </a:prstGeom>
          <a:solidFill>
            <a:srgbClr val="0D9488"/>
          </a:solidFill>
          <a:ln w="12700">
            <a:solidFill>
              <a:srgbClr val="0D9488"/>
            </a:solidFill>
            <a:prstDash val="solid"/>
          </a:ln>
        </p:spPr>
      </p:sp>
      <p:sp>
        <p:nvSpPr>
          <p:cNvPr id="17" name="Shape 15"/>
          <p:cNvSpPr/>
          <p:nvPr/>
        </p:nvSpPr>
        <p:spPr>
          <a:xfrm>
            <a:off x="3611880" y="1417320"/>
            <a:ext cx="164592" cy="219456"/>
          </a:xfrm>
          <a:prstGeom prst="rightArrow">
            <a:avLst/>
          </a:prstGeom>
          <a:solidFill>
            <a:srgbClr val="0D9488"/>
          </a:solidFill>
          <a:ln w="12700">
            <a:solidFill>
              <a:srgbClr val="0D9488"/>
            </a:solidFill>
            <a:prstDash val="solid"/>
          </a:ln>
        </p:spPr>
      </p:sp>
      <p:sp>
        <p:nvSpPr>
          <p:cNvPr id="18" name="Text 16"/>
          <p:cNvSpPr/>
          <p:nvPr/>
        </p:nvSpPr>
        <p:spPr>
          <a:xfrm>
            <a:off x="1920240" y="2240280"/>
            <a:ext cx="1645920" cy="4572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现场收集数据</a:t>
            </a:r>
            <a:endParaRPr lang="en-US" sz="800" dirty="0"/>
          </a:p>
          <a:p>
            <a:pPr algn="ctr" indent="0" marL="0">
              <a:buNone/>
            </a:pPr>
            <a:r>
              <a:rPr lang="en-US" sz="800" dirty="0">
                <a:solidFill>
                  <a:srgbClr val="64748B"/>
                </a:solidFill>
                <a:latin typeface="Arial" pitchFamily="34" charset="0"/>
                <a:ea typeface="Arial" pitchFamily="34" charset="-122"/>
                <a:cs typeface="Arial" pitchFamily="34" charset="-120"/>
              </a:rPr>
              <a:t>绘制现状流程图</a:t>
            </a:r>
            <a:endParaRPr lang="en-US" sz="800" dirty="0"/>
          </a:p>
        </p:txBody>
      </p:sp>
      <p:sp>
        <p:nvSpPr>
          <p:cNvPr id="19" name="Shape 17"/>
          <p:cNvSpPr/>
          <p:nvPr/>
        </p:nvSpPr>
        <p:spPr>
          <a:xfrm>
            <a:off x="3657600" y="1188720"/>
            <a:ext cx="1554480" cy="914400"/>
          </a:xfrm>
          <a:prstGeom prst="roundRect">
            <a:avLst>
              <a:gd name="adj" fmla="val 10000"/>
            </a:avLst>
          </a:prstGeom>
          <a:solidFill>
            <a:srgbClr val="DC2626"/>
          </a:solidFill>
          <a:ln/>
        </p:spPr>
      </p:sp>
      <p:sp>
        <p:nvSpPr>
          <p:cNvPr id="20" name="Text 18"/>
          <p:cNvSpPr/>
          <p:nvPr/>
        </p:nvSpPr>
        <p:spPr>
          <a:xfrm>
            <a:off x="3657600" y="1234440"/>
            <a:ext cx="1554480" cy="365760"/>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21" name="Text 19"/>
          <p:cNvSpPr/>
          <p:nvPr/>
        </p:nvSpPr>
        <p:spPr>
          <a:xfrm>
            <a:off x="3657600" y="1572768"/>
            <a:ext cx="1554480" cy="502920"/>
          </a:xfrm>
          <a:prstGeom prst="rect">
            <a:avLst/>
          </a:prstGeom>
          <a:noFill/>
          <a:ln/>
        </p:spPr>
        <p:txBody>
          <a:bodyPr wrap="square"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分析</a:t>
            </a:r>
            <a:endParaRPr lang="en-US" sz="900" dirty="0"/>
          </a:p>
          <a:p>
            <a:pPr algn="ctr" indent="0" marL="0">
              <a:buNone/>
            </a:pPr>
            <a:r>
              <a:rPr lang="en-US" sz="900" b="1" dirty="0">
                <a:solidFill>
                  <a:srgbClr val="FFFFFF"/>
                </a:solidFill>
                <a:latin typeface="Arial Black" pitchFamily="34" charset="0"/>
                <a:ea typeface="Arial Black" pitchFamily="34" charset="-122"/>
                <a:cs typeface="Arial Black" pitchFamily="34" charset="-120"/>
              </a:rPr>
              <a:t>浪费</a:t>
            </a:r>
            <a:endParaRPr lang="en-US" sz="900" dirty="0"/>
          </a:p>
        </p:txBody>
      </p:sp>
      <p:sp>
        <p:nvSpPr>
          <p:cNvPr id="22" name="Shape 20"/>
          <p:cNvSpPr/>
          <p:nvPr/>
        </p:nvSpPr>
        <p:spPr>
          <a:xfrm>
            <a:off x="5212080" y="1508760"/>
            <a:ext cx="137160" cy="36576"/>
          </a:xfrm>
          <a:prstGeom prst="rect">
            <a:avLst/>
          </a:prstGeom>
          <a:solidFill>
            <a:srgbClr val="0D9488"/>
          </a:solidFill>
          <a:ln w="12700">
            <a:solidFill>
              <a:srgbClr val="0D9488"/>
            </a:solidFill>
            <a:prstDash val="solid"/>
          </a:ln>
        </p:spPr>
      </p:sp>
      <p:sp>
        <p:nvSpPr>
          <p:cNvPr id="23" name="Shape 21"/>
          <p:cNvSpPr/>
          <p:nvPr/>
        </p:nvSpPr>
        <p:spPr>
          <a:xfrm>
            <a:off x="5303520" y="1417320"/>
            <a:ext cx="164592" cy="219456"/>
          </a:xfrm>
          <a:prstGeom prst="rightArrow">
            <a:avLst/>
          </a:prstGeom>
          <a:solidFill>
            <a:srgbClr val="0D9488"/>
          </a:solidFill>
          <a:ln w="12700">
            <a:solidFill>
              <a:srgbClr val="0D9488"/>
            </a:solidFill>
            <a:prstDash val="solid"/>
          </a:ln>
        </p:spPr>
      </p:sp>
      <p:sp>
        <p:nvSpPr>
          <p:cNvPr id="24" name="Text 22"/>
          <p:cNvSpPr/>
          <p:nvPr/>
        </p:nvSpPr>
        <p:spPr>
          <a:xfrm>
            <a:off x="3611880" y="2240280"/>
            <a:ext cx="1645920" cy="4572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识别7大浪费</a:t>
            </a:r>
            <a:endParaRPr lang="en-US" sz="800" dirty="0"/>
          </a:p>
          <a:p>
            <a:pPr algn="ctr" indent="0" marL="0">
              <a:buNone/>
            </a:pPr>
            <a:r>
              <a:rPr lang="en-US" sz="800" dirty="0">
                <a:solidFill>
                  <a:srgbClr val="64748B"/>
                </a:solidFill>
                <a:latin typeface="Arial" pitchFamily="34" charset="0"/>
                <a:ea typeface="Arial" pitchFamily="34" charset="-122"/>
                <a:cs typeface="Arial" pitchFamily="34" charset="-120"/>
              </a:rPr>
              <a:t>量化损失</a:t>
            </a:r>
            <a:endParaRPr lang="en-US" sz="800" dirty="0"/>
          </a:p>
        </p:txBody>
      </p:sp>
      <p:sp>
        <p:nvSpPr>
          <p:cNvPr id="25" name="Shape 23"/>
          <p:cNvSpPr/>
          <p:nvPr/>
        </p:nvSpPr>
        <p:spPr>
          <a:xfrm>
            <a:off x="5349240" y="1188720"/>
            <a:ext cx="1554480" cy="914400"/>
          </a:xfrm>
          <a:prstGeom prst="roundRect">
            <a:avLst>
              <a:gd name="adj" fmla="val 10000"/>
            </a:avLst>
          </a:prstGeom>
          <a:solidFill>
            <a:srgbClr val="059669"/>
          </a:solidFill>
          <a:ln/>
        </p:spPr>
      </p:sp>
      <p:sp>
        <p:nvSpPr>
          <p:cNvPr id="26" name="Text 24"/>
          <p:cNvSpPr/>
          <p:nvPr/>
        </p:nvSpPr>
        <p:spPr>
          <a:xfrm>
            <a:off x="5349240" y="1234440"/>
            <a:ext cx="1554480" cy="365760"/>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4</a:t>
            </a:r>
            <a:endParaRPr lang="en-US" sz="2200" dirty="0"/>
          </a:p>
        </p:txBody>
      </p:sp>
      <p:sp>
        <p:nvSpPr>
          <p:cNvPr id="27" name="Text 25"/>
          <p:cNvSpPr/>
          <p:nvPr/>
        </p:nvSpPr>
        <p:spPr>
          <a:xfrm>
            <a:off x="5349240" y="1572768"/>
            <a:ext cx="1554480" cy="502920"/>
          </a:xfrm>
          <a:prstGeom prst="rect">
            <a:avLst/>
          </a:prstGeom>
          <a:noFill/>
          <a:ln/>
        </p:spPr>
        <p:txBody>
          <a:bodyPr wrap="square"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设计</a:t>
            </a:r>
            <a:endParaRPr lang="en-US" sz="900" dirty="0"/>
          </a:p>
          <a:p>
            <a:pPr algn="ctr" indent="0" marL="0">
              <a:buNone/>
            </a:pPr>
            <a:r>
              <a:rPr lang="en-US" sz="900" b="1" dirty="0">
                <a:solidFill>
                  <a:srgbClr val="FFFFFF"/>
                </a:solidFill>
                <a:latin typeface="Arial Black" pitchFamily="34" charset="0"/>
                <a:ea typeface="Arial Black" pitchFamily="34" charset="-122"/>
                <a:cs typeface="Arial Black" pitchFamily="34" charset="-120"/>
              </a:rPr>
              <a:t>未来状态</a:t>
            </a:r>
            <a:endParaRPr lang="en-US" sz="900" dirty="0"/>
          </a:p>
        </p:txBody>
      </p:sp>
      <p:sp>
        <p:nvSpPr>
          <p:cNvPr id="28" name="Shape 26"/>
          <p:cNvSpPr/>
          <p:nvPr/>
        </p:nvSpPr>
        <p:spPr>
          <a:xfrm>
            <a:off x="6903720" y="1508760"/>
            <a:ext cx="137160" cy="36576"/>
          </a:xfrm>
          <a:prstGeom prst="rect">
            <a:avLst/>
          </a:prstGeom>
          <a:solidFill>
            <a:srgbClr val="0D9488"/>
          </a:solidFill>
          <a:ln w="12700">
            <a:solidFill>
              <a:srgbClr val="0D9488"/>
            </a:solidFill>
            <a:prstDash val="solid"/>
          </a:ln>
        </p:spPr>
      </p:sp>
      <p:sp>
        <p:nvSpPr>
          <p:cNvPr id="29" name="Shape 27"/>
          <p:cNvSpPr/>
          <p:nvPr/>
        </p:nvSpPr>
        <p:spPr>
          <a:xfrm>
            <a:off x="6995160" y="1417320"/>
            <a:ext cx="164592" cy="219456"/>
          </a:xfrm>
          <a:prstGeom prst="rightArrow">
            <a:avLst/>
          </a:prstGeom>
          <a:solidFill>
            <a:srgbClr val="0D9488"/>
          </a:solidFill>
          <a:ln w="12700">
            <a:solidFill>
              <a:srgbClr val="0D9488"/>
            </a:solidFill>
            <a:prstDash val="solid"/>
          </a:ln>
        </p:spPr>
      </p:sp>
      <p:sp>
        <p:nvSpPr>
          <p:cNvPr id="30" name="Text 28"/>
          <p:cNvSpPr/>
          <p:nvPr/>
        </p:nvSpPr>
        <p:spPr>
          <a:xfrm>
            <a:off x="5303520" y="2240280"/>
            <a:ext cx="1645920" cy="4572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理想流程设计</a:t>
            </a:r>
            <a:endParaRPr lang="en-US" sz="800" dirty="0"/>
          </a:p>
          <a:p>
            <a:pPr algn="ctr" indent="0" marL="0">
              <a:buNone/>
            </a:pPr>
            <a:r>
              <a:rPr lang="en-US" sz="800" dirty="0">
                <a:solidFill>
                  <a:srgbClr val="64748B"/>
                </a:solidFill>
                <a:latin typeface="Arial" pitchFamily="34" charset="0"/>
                <a:ea typeface="Arial" pitchFamily="34" charset="-122"/>
                <a:cs typeface="Arial" pitchFamily="34" charset="-120"/>
              </a:rPr>
              <a:t>目标指标设定</a:t>
            </a:r>
            <a:endParaRPr lang="en-US" sz="800" dirty="0"/>
          </a:p>
        </p:txBody>
      </p:sp>
      <p:sp>
        <p:nvSpPr>
          <p:cNvPr id="31" name="Shape 29"/>
          <p:cNvSpPr/>
          <p:nvPr/>
        </p:nvSpPr>
        <p:spPr>
          <a:xfrm>
            <a:off x="7040880" y="1188720"/>
            <a:ext cx="1554480" cy="914400"/>
          </a:xfrm>
          <a:prstGeom prst="roundRect">
            <a:avLst>
              <a:gd name="adj" fmla="val 10000"/>
            </a:avLst>
          </a:prstGeom>
          <a:solidFill>
            <a:srgbClr val="D97706"/>
          </a:solidFill>
          <a:ln/>
        </p:spPr>
      </p:sp>
      <p:sp>
        <p:nvSpPr>
          <p:cNvPr id="32" name="Text 30"/>
          <p:cNvSpPr/>
          <p:nvPr/>
        </p:nvSpPr>
        <p:spPr>
          <a:xfrm>
            <a:off x="7040880" y="1234440"/>
            <a:ext cx="1554480" cy="365760"/>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5</a:t>
            </a:r>
            <a:endParaRPr lang="en-US" sz="2200" dirty="0"/>
          </a:p>
        </p:txBody>
      </p:sp>
      <p:sp>
        <p:nvSpPr>
          <p:cNvPr id="33" name="Text 31"/>
          <p:cNvSpPr/>
          <p:nvPr/>
        </p:nvSpPr>
        <p:spPr>
          <a:xfrm>
            <a:off x="7040880" y="1572768"/>
            <a:ext cx="1554480" cy="502920"/>
          </a:xfrm>
          <a:prstGeom prst="rect">
            <a:avLst/>
          </a:prstGeom>
          <a:noFill/>
          <a:ln/>
        </p:spPr>
        <p:txBody>
          <a:bodyPr wrap="square"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制定</a:t>
            </a:r>
            <a:endParaRPr lang="en-US" sz="900" dirty="0"/>
          </a:p>
          <a:p>
            <a:pPr algn="ctr" indent="0" marL="0">
              <a:buNone/>
            </a:pPr>
            <a:r>
              <a:rPr lang="en-US" sz="900" b="1" dirty="0">
                <a:solidFill>
                  <a:srgbClr val="FFFFFF"/>
                </a:solidFill>
                <a:latin typeface="Arial Black" pitchFamily="34" charset="0"/>
                <a:ea typeface="Arial Black" pitchFamily="34" charset="-122"/>
                <a:cs typeface="Arial Black" pitchFamily="34" charset="-120"/>
              </a:rPr>
              <a:t>改善计划</a:t>
            </a:r>
            <a:endParaRPr lang="en-US" sz="900" dirty="0"/>
          </a:p>
        </p:txBody>
      </p:sp>
      <p:sp>
        <p:nvSpPr>
          <p:cNvPr id="34" name="Shape 32"/>
          <p:cNvSpPr/>
          <p:nvPr/>
        </p:nvSpPr>
        <p:spPr>
          <a:xfrm>
            <a:off x="8595360" y="1508760"/>
            <a:ext cx="137160" cy="36576"/>
          </a:xfrm>
          <a:prstGeom prst="rect">
            <a:avLst/>
          </a:prstGeom>
          <a:solidFill>
            <a:srgbClr val="0D9488"/>
          </a:solidFill>
          <a:ln w="12700">
            <a:solidFill>
              <a:srgbClr val="0D9488"/>
            </a:solidFill>
            <a:prstDash val="solid"/>
          </a:ln>
        </p:spPr>
      </p:sp>
      <p:sp>
        <p:nvSpPr>
          <p:cNvPr id="35" name="Shape 33"/>
          <p:cNvSpPr/>
          <p:nvPr/>
        </p:nvSpPr>
        <p:spPr>
          <a:xfrm>
            <a:off x="8686800" y="1417320"/>
            <a:ext cx="164592" cy="219456"/>
          </a:xfrm>
          <a:prstGeom prst="rightArrow">
            <a:avLst/>
          </a:prstGeom>
          <a:solidFill>
            <a:srgbClr val="0D9488"/>
          </a:solidFill>
          <a:ln w="12700">
            <a:solidFill>
              <a:srgbClr val="0D9488"/>
            </a:solidFill>
            <a:prstDash val="solid"/>
          </a:ln>
        </p:spPr>
      </p:sp>
      <p:sp>
        <p:nvSpPr>
          <p:cNvPr id="36" name="Text 34"/>
          <p:cNvSpPr/>
          <p:nvPr/>
        </p:nvSpPr>
        <p:spPr>
          <a:xfrm>
            <a:off x="6995160" y="2240280"/>
            <a:ext cx="1645920" cy="4572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分解改善项目</a:t>
            </a:r>
            <a:endParaRPr lang="en-US" sz="800" dirty="0"/>
          </a:p>
          <a:p>
            <a:pPr algn="ctr" indent="0" marL="0">
              <a:buNone/>
            </a:pPr>
            <a:r>
              <a:rPr lang="en-US" sz="800" dirty="0">
                <a:solidFill>
                  <a:srgbClr val="64748B"/>
                </a:solidFill>
                <a:latin typeface="Arial" pitchFamily="34" charset="0"/>
                <a:ea typeface="Arial" pitchFamily="34" charset="-122"/>
                <a:cs typeface="Arial" pitchFamily="34" charset="-120"/>
              </a:rPr>
              <a:t>制定实施路线</a:t>
            </a:r>
            <a:endParaRPr lang="en-US" sz="800" dirty="0"/>
          </a:p>
        </p:txBody>
      </p:sp>
      <p:sp>
        <p:nvSpPr>
          <p:cNvPr id="37" name="Shape 35"/>
          <p:cNvSpPr/>
          <p:nvPr/>
        </p:nvSpPr>
        <p:spPr>
          <a:xfrm>
            <a:off x="8732520" y="1188720"/>
            <a:ext cx="1554480" cy="914400"/>
          </a:xfrm>
          <a:prstGeom prst="roundRect">
            <a:avLst>
              <a:gd name="adj" fmla="val 10000"/>
            </a:avLst>
          </a:prstGeom>
          <a:solidFill>
            <a:srgbClr val="0D9488"/>
          </a:solidFill>
          <a:ln/>
        </p:spPr>
      </p:sp>
      <p:sp>
        <p:nvSpPr>
          <p:cNvPr id="38" name="Text 36"/>
          <p:cNvSpPr/>
          <p:nvPr/>
        </p:nvSpPr>
        <p:spPr>
          <a:xfrm>
            <a:off x="8732520" y="1234440"/>
            <a:ext cx="1554480" cy="365760"/>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6</a:t>
            </a:r>
            <a:endParaRPr lang="en-US" sz="2200" dirty="0"/>
          </a:p>
        </p:txBody>
      </p:sp>
      <p:sp>
        <p:nvSpPr>
          <p:cNvPr id="39" name="Text 37"/>
          <p:cNvSpPr/>
          <p:nvPr/>
        </p:nvSpPr>
        <p:spPr>
          <a:xfrm>
            <a:off x="8732520" y="1572768"/>
            <a:ext cx="1554480" cy="502920"/>
          </a:xfrm>
          <a:prstGeom prst="rect">
            <a:avLst/>
          </a:prstGeom>
          <a:noFill/>
          <a:ln/>
        </p:spPr>
        <p:txBody>
          <a:bodyPr wrap="square"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实施</a:t>
            </a:r>
            <a:endParaRPr lang="en-US" sz="900" dirty="0"/>
          </a:p>
          <a:p>
            <a:pPr algn="ctr" indent="0" marL="0">
              <a:buNone/>
            </a:pPr>
            <a:r>
              <a:rPr lang="en-US" sz="900" b="1" dirty="0">
                <a:solidFill>
                  <a:srgbClr val="FFFFFF"/>
                </a:solidFill>
                <a:latin typeface="Arial Black" pitchFamily="34" charset="0"/>
                <a:ea typeface="Arial Black" pitchFamily="34" charset="-122"/>
                <a:cs typeface="Arial Black" pitchFamily="34" charset="-120"/>
              </a:rPr>
              <a:t>改善</a:t>
            </a:r>
            <a:endParaRPr lang="en-US" sz="900" dirty="0"/>
          </a:p>
        </p:txBody>
      </p:sp>
      <p:sp>
        <p:nvSpPr>
          <p:cNvPr id="40" name="Shape 38"/>
          <p:cNvSpPr/>
          <p:nvPr/>
        </p:nvSpPr>
        <p:spPr>
          <a:xfrm>
            <a:off x="10287000" y="1508760"/>
            <a:ext cx="137160" cy="36576"/>
          </a:xfrm>
          <a:prstGeom prst="rect">
            <a:avLst/>
          </a:prstGeom>
          <a:solidFill>
            <a:srgbClr val="0D9488"/>
          </a:solidFill>
          <a:ln w="12700">
            <a:solidFill>
              <a:srgbClr val="0D9488"/>
            </a:solidFill>
            <a:prstDash val="solid"/>
          </a:ln>
        </p:spPr>
      </p:sp>
      <p:sp>
        <p:nvSpPr>
          <p:cNvPr id="41" name="Shape 39"/>
          <p:cNvSpPr/>
          <p:nvPr/>
        </p:nvSpPr>
        <p:spPr>
          <a:xfrm>
            <a:off x="10378440" y="1417320"/>
            <a:ext cx="164592" cy="219456"/>
          </a:xfrm>
          <a:prstGeom prst="rightArrow">
            <a:avLst/>
          </a:prstGeom>
          <a:solidFill>
            <a:srgbClr val="0D9488"/>
          </a:solidFill>
          <a:ln w="12700">
            <a:solidFill>
              <a:srgbClr val="0D9488"/>
            </a:solidFill>
            <a:prstDash val="solid"/>
          </a:ln>
        </p:spPr>
      </p:sp>
      <p:sp>
        <p:nvSpPr>
          <p:cNvPr id="42" name="Text 40"/>
          <p:cNvSpPr/>
          <p:nvPr/>
        </p:nvSpPr>
        <p:spPr>
          <a:xfrm>
            <a:off x="8686800" y="2240280"/>
            <a:ext cx="1645920" cy="4572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执行改善计划</a:t>
            </a:r>
            <a:endParaRPr lang="en-US" sz="800" dirty="0"/>
          </a:p>
          <a:p>
            <a:pPr algn="ctr" indent="0" marL="0">
              <a:buNone/>
            </a:pPr>
            <a:r>
              <a:rPr lang="en-US" sz="800" dirty="0">
                <a:solidFill>
                  <a:srgbClr val="64748B"/>
                </a:solidFill>
                <a:latin typeface="Arial" pitchFamily="34" charset="0"/>
                <a:ea typeface="Arial" pitchFamily="34" charset="-122"/>
                <a:cs typeface="Arial" pitchFamily="34" charset="-120"/>
              </a:rPr>
              <a:t>跟踪进度</a:t>
            </a:r>
            <a:endParaRPr lang="en-US" sz="800" dirty="0"/>
          </a:p>
        </p:txBody>
      </p:sp>
      <p:sp>
        <p:nvSpPr>
          <p:cNvPr id="43" name="Shape 41"/>
          <p:cNvSpPr/>
          <p:nvPr/>
        </p:nvSpPr>
        <p:spPr>
          <a:xfrm>
            <a:off x="10424160" y="1188720"/>
            <a:ext cx="1554480" cy="914400"/>
          </a:xfrm>
          <a:prstGeom prst="roundRect">
            <a:avLst>
              <a:gd name="adj" fmla="val 10000"/>
            </a:avLst>
          </a:prstGeom>
          <a:solidFill>
            <a:srgbClr val="1E2761"/>
          </a:solidFill>
          <a:ln/>
        </p:spPr>
      </p:sp>
      <p:sp>
        <p:nvSpPr>
          <p:cNvPr id="44" name="Text 42"/>
          <p:cNvSpPr/>
          <p:nvPr/>
        </p:nvSpPr>
        <p:spPr>
          <a:xfrm>
            <a:off x="10424160" y="1234440"/>
            <a:ext cx="1554480" cy="365760"/>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7</a:t>
            </a:r>
            <a:endParaRPr lang="en-US" sz="2200" dirty="0"/>
          </a:p>
        </p:txBody>
      </p:sp>
      <p:sp>
        <p:nvSpPr>
          <p:cNvPr id="45" name="Text 43"/>
          <p:cNvSpPr/>
          <p:nvPr/>
        </p:nvSpPr>
        <p:spPr>
          <a:xfrm>
            <a:off x="10424160" y="1572768"/>
            <a:ext cx="1554480" cy="502920"/>
          </a:xfrm>
          <a:prstGeom prst="rect">
            <a:avLst/>
          </a:prstGeom>
          <a:noFill/>
          <a:ln/>
        </p:spPr>
        <p:txBody>
          <a:bodyPr wrap="square"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标准化</a:t>
            </a:r>
            <a:endParaRPr lang="en-US" sz="900" dirty="0"/>
          </a:p>
          <a:p>
            <a:pPr algn="ctr" indent="0" marL="0">
              <a:buNone/>
            </a:pPr>
            <a:r>
              <a:rPr lang="en-US" sz="900" b="1" dirty="0">
                <a:solidFill>
                  <a:srgbClr val="FFFFFF"/>
                </a:solidFill>
                <a:latin typeface="Arial Black" pitchFamily="34" charset="0"/>
                <a:ea typeface="Arial Black" pitchFamily="34" charset="-122"/>
                <a:cs typeface="Arial Black" pitchFamily="34" charset="-120"/>
              </a:rPr>
              <a:t>持续改善</a:t>
            </a:r>
            <a:endParaRPr lang="en-US" sz="900" dirty="0"/>
          </a:p>
        </p:txBody>
      </p:sp>
      <p:sp>
        <p:nvSpPr>
          <p:cNvPr id="46" name="Text 44"/>
          <p:cNvSpPr/>
          <p:nvPr/>
        </p:nvSpPr>
        <p:spPr>
          <a:xfrm>
            <a:off x="10378440" y="2240280"/>
            <a:ext cx="1645920" cy="4572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固化改善成果</a:t>
            </a:r>
            <a:endParaRPr lang="en-US" sz="800" dirty="0"/>
          </a:p>
          <a:p>
            <a:pPr algn="ctr" indent="0" marL="0">
              <a:buNone/>
            </a:pPr>
            <a:r>
              <a:rPr lang="en-US" sz="800" dirty="0">
                <a:solidFill>
                  <a:srgbClr val="64748B"/>
                </a:solidFill>
                <a:latin typeface="Arial" pitchFamily="34" charset="0"/>
                <a:ea typeface="Arial" pitchFamily="34" charset="-122"/>
                <a:cs typeface="Arial" pitchFamily="34" charset="-120"/>
              </a:rPr>
              <a:t>建立机制</a:t>
            </a:r>
            <a:endParaRPr lang="en-US" sz="800" dirty="0"/>
          </a:p>
        </p:txBody>
      </p:sp>
      <p:sp>
        <p:nvSpPr>
          <p:cNvPr id="47" name="Shape 45"/>
          <p:cNvSpPr/>
          <p:nvPr/>
        </p:nvSpPr>
        <p:spPr>
          <a:xfrm>
            <a:off x="457200" y="2926080"/>
            <a:ext cx="11274552" cy="2011680"/>
          </a:xfrm>
          <a:prstGeom prst="roundRect">
            <a:avLst>
              <a:gd name="adj" fmla="val 4545"/>
            </a:avLst>
          </a:prstGeom>
          <a:solidFill>
            <a:srgbClr val="1E2761"/>
          </a:solidFill>
          <a:ln/>
        </p:spPr>
      </p:sp>
      <p:sp>
        <p:nvSpPr>
          <p:cNvPr id="48" name="Text 46"/>
          <p:cNvSpPr/>
          <p:nvPr/>
        </p:nvSpPr>
        <p:spPr>
          <a:xfrm>
            <a:off x="731520" y="3017520"/>
            <a:ext cx="10698480" cy="365760"/>
          </a:xfrm>
          <a:prstGeom prst="rect">
            <a:avLst/>
          </a:prstGeom>
          <a:noFill/>
          <a:ln/>
        </p:spPr>
        <p:txBody>
          <a:bodyPr wrap="square" rtlCol="0" anchor="ctr"/>
          <a:lstStyle/>
          <a:p>
            <a:pPr indent="0" marL="0">
              <a:buNone/>
            </a:pPr>
            <a:r>
              <a:rPr lang="en-US" sz="1600" b="1" dirty="0">
                <a:solidFill>
                  <a:srgbClr val="1E2761"/>
                </a:solidFill>
                <a:latin typeface="Arial Black" pitchFamily="34" charset="0"/>
                <a:ea typeface="Arial Black" pitchFamily="34" charset="-122"/>
                <a:cs typeface="Arial Black" pitchFamily="34" charset="-120"/>
              </a:rPr>
              <a:t>当前状态图 vs 未来状态图</a:t>
            </a:r>
            <a:endParaRPr lang="en-US" sz="1600" dirty="0"/>
          </a:p>
        </p:txBody>
      </p:sp>
      <p:sp>
        <p:nvSpPr>
          <p:cNvPr id="49" name="Shape 47"/>
          <p:cNvSpPr/>
          <p:nvPr/>
        </p:nvSpPr>
        <p:spPr>
          <a:xfrm>
            <a:off x="731520" y="3474720"/>
            <a:ext cx="5120640" cy="1280160"/>
          </a:xfrm>
          <a:prstGeom prst="roundRect">
            <a:avLst>
              <a:gd name="adj" fmla="val 5714"/>
            </a:avLst>
          </a:prstGeom>
          <a:solidFill>
            <a:srgbClr val="FFFFFF"/>
          </a:solidFill>
          <a:ln/>
          <a:effectLst>
            <a:outerShdw sx="100000" sy="100000" kx="0" ky="0" algn="bl" rotWithShape="0" blurRad="50800" dist="12700" dir="8100000">
              <a:srgbClr val="000000">
                <a:alpha val="8000"/>
              </a:srgbClr>
            </a:outerShdw>
          </a:effectLst>
        </p:spPr>
      </p:sp>
      <p:sp>
        <p:nvSpPr>
          <p:cNvPr id="50" name="Shape 48"/>
          <p:cNvSpPr/>
          <p:nvPr/>
        </p:nvSpPr>
        <p:spPr>
          <a:xfrm>
            <a:off x="731520" y="3474720"/>
            <a:ext cx="5120640" cy="274320"/>
          </a:xfrm>
          <a:prstGeom prst="rect">
            <a:avLst/>
          </a:prstGeom>
          <a:solidFill>
            <a:srgbClr val="DC2626"/>
          </a:solidFill>
          <a:ln w="12700">
            <a:solidFill>
              <a:srgbClr val="DC2626"/>
            </a:solidFill>
            <a:prstDash val="solid"/>
          </a:ln>
        </p:spPr>
      </p:sp>
      <p:sp>
        <p:nvSpPr>
          <p:cNvPr id="51" name="Text 49"/>
          <p:cNvSpPr/>
          <p:nvPr/>
        </p:nvSpPr>
        <p:spPr>
          <a:xfrm>
            <a:off x="868680" y="3493008"/>
            <a:ext cx="4846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当前状态图 Current State</a:t>
            </a:r>
            <a:endParaRPr lang="en-US" sz="1100" dirty="0"/>
          </a:p>
        </p:txBody>
      </p:sp>
      <p:sp>
        <p:nvSpPr>
          <p:cNvPr id="52" name="Text 50"/>
          <p:cNvSpPr/>
          <p:nvPr/>
        </p:nvSpPr>
        <p:spPr>
          <a:xfrm>
            <a:off x="868680" y="3794760"/>
            <a:ext cx="4846320" cy="22860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如实反映现有流程，暴露问题和浪费</a:t>
            </a:r>
            <a:endParaRPr lang="en-US" sz="900" dirty="0"/>
          </a:p>
        </p:txBody>
      </p:sp>
      <p:sp>
        <p:nvSpPr>
          <p:cNvPr id="53" name="Text 51"/>
          <p:cNvSpPr/>
          <p:nvPr/>
        </p:nvSpPr>
        <p:spPr>
          <a:xfrm>
            <a:off x="914400" y="4069080"/>
            <a:ext cx="4754880" cy="18288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 现场实测数据</a:t>
            </a:r>
            <a:endParaRPr lang="en-US" sz="900" dirty="0"/>
          </a:p>
        </p:txBody>
      </p:sp>
      <p:sp>
        <p:nvSpPr>
          <p:cNvPr id="54" name="Text 52"/>
          <p:cNvSpPr/>
          <p:nvPr/>
        </p:nvSpPr>
        <p:spPr>
          <a:xfrm>
            <a:off x="914400" y="4270248"/>
            <a:ext cx="4754880" cy="18288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 实际库存水平</a:t>
            </a:r>
            <a:endParaRPr lang="en-US" sz="900" dirty="0"/>
          </a:p>
        </p:txBody>
      </p:sp>
      <p:sp>
        <p:nvSpPr>
          <p:cNvPr id="55" name="Text 53"/>
          <p:cNvSpPr/>
          <p:nvPr/>
        </p:nvSpPr>
        <p:spPr>
          <a:xfrm>
            <a:off x="914400" y="4471416"/>
            <a:ext cx="4754880" cy="18288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 真实节拍时间</a:t>
            </a:r>
            <a:endParaRPr lang="en-US" sz="900" dirty="0"/>
          </a:p>
        </p:txBody>
      </p:sp>
      <p:sp>
        <p:nvSpPr>
          <p:cNvPr id="56" name="Text 54"/>
          <p:cNvSpPr/>
          <p:nvPr/>
        </p:nvSpPr>
        <p:spPr>
          <a:xfrm>
            <a:off x="914400" y="4672584"/>
            <a:ext cx="4754880" cy="18288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 现有信息流</a:t>
            </a:r>
            <a:endParaRPr lang="en-US" sz="900" dirty="0"/>
          </a:p>
        </p:txBody>
      </p:sp>
      <p:sp>
        <p:nvSpPr>
          <p:cNvPr id="57" name="Shape 55"/>
          <p:cNvSpPr/>
          <p:nvPr/>
        </p:nvSpPr>
        <p:spPr>
          <a:xfrm>
            <a:off x="6217920" y="3474720"/>
            <a:ext cx="5120640" cy="1280160"/>
          </a:xfrm>
          <a:prstGeom prst="roundRect">
            <a:avLst>
              <a:gd name="adj" fmla="val 5714"/>
            </a:avLst>
          </a:prstGeom>
          <a:solidFill>
            <a:srgbClr val="FFFFFF"/>
          </a:solidFill>
          <a:ln/>
          <a:effectLst>
            <a:outerShdw sx="100000" sy="100000" kx="0" ky="0" algn="bl" rotWithShape="0" blurRad="50800" dist="12700" dir="8100000">
              <a:srgbClr val="000000">
                <a:alpha val="8000"/>
              </a:srgbClr>
            </a:outerShdw>
          </a:effectLst>
        </p:spPr>
      </p:sp>
      <p:sp>
        <p:nvSpPr>
          <p:cNvPr id="58" name="Shape 56"/>
          <p:cNvSpPr/>
          <p:nvPr/>
        </p:nvSpPr>
        <p:spPr>
          <a:xfrm>
            <a:off x="6217920" y="3474720"/>
            <a:ext cx="5120640" cy="274320"/>
          </a:xfrm>
          <a:prstGeom prst="rect">
            <a:avLst/>
          </a:prstGeom>
          <a:solidFill>
            <a:srgbClr val="059669"/>
          </a:solidFill>
          <a:ln w="12700">
            <a:solidFill>
              <a:srgbClr val="059669"/>
            </a:solidFill>
            <a:prstDash val="solid"/>
          </a:ln>
        </p:spPr>
      </p:sp>
      <p:sp>
        <p:nvSpPr>
          <p:cNvPr id="59" name="Text 57"/>
          <p:cNvSpPr/>
          <p:nvPr/>
        </p:nvSpPr>
        <p:spPr>
          <a:xfrm>
            <a:off x="6355080" y="3493008"/>
            <a:ext cx="4846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未来状态图 Future State</a:t>
            </a:r>
            <a:endParaRPr lang="en-US" sz="1100" dirty="0"/>
          </a:p>
        </p:txBody>
      </p:sp>
      <p:sp>
        <p:nvSpPr>
          <p:cNvPr id="60" name="Text 58"/>
          <p:cNvSpPr/>
          <p:nvPr/>
        </p:nvSpPr>
        <p:spPr>
          <a:xfrm>
            <a:off x="6355080" y="3794760"/>
            <a:ext cx="4846320" cy="228600"/>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设计理想流程，设定改善目标和方向</a:t>
            </a:r>
            <a:endParaRPr lang="en-US" sz="900" dirty="0"/>
          </a:p>
        </p:txBody>
      </p:sp>
      <p:sp>
        <p:nvSpPr>
          <p:cNvPr id="61" name="Text 59"/>
          <p:cNvSpPr/>
          <p:nvPr/>
        </p:nvSpPr>
        <p:spPr>
          <a:xfrm>
            <a:off x="6400800" y="4069080"/>
            <a:ext cx="4754880" cy="18288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 目标节拍时间</a:t>
            </a:r>
            <a:endParaRPr lang="en-US" sz="900" dirty="0"/>
          </a:p>
        </p:txBody>
      </p:sp>
      <p:sp>
        <p:nvSpPr>
          <p:cNvPr id="62" name="Text 60"/>
          <p:cNvSpPr/>
          <p:nvPr/>
        </p:nvSpPr>
        <p:spPr>
          <a:xfrm>
            <a:off x="6400800" y="4270248"/>
            <a:ext cx="4754880" cy="18288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 目标库存水平</a:t>
            </a:r>
            <a:endParaRPr lang="en-US" sz="900" dirty="0"/>
          </a:p>
        </p:txBody>
      </p:sp>
      <p:sp>
        <p:nvSpPr>
          <p:cNvPr id="63" name="Text 61"/>
          <p:cNvSpPr/>
          <p:nvPr/>
        </p:nvSpPr>
        <p:spPr>
          <a:xfrm>
            <a:off x="6400800" y="4471416"/>
            <a:ext cx="4754880" cy="18288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 拉动式生产</a:t>
            </a:r>
            <a:endParaRPr lang="en-US" sz="900" dirty="0"/>
          </a:p>
        </p:txBody>
      </p:sp>
      <p:sp>
        <p:nvSpPr>
          <p:cNvPr id="64" name="Text 62"/>
          <p:cNvSpPr/>
          <p:nvPr/>
        </p:nvSpPr>
        <p:spPr>
          <a:xfrm>
            <a:off x="6400800" y="4672584"/>
            <a:ext cx="4754880" cy="18288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 连续流设计</a:t>
            </a:r>
            <a:endParaRPr lang="en-US" sz="900" dirty="0"/>
          </a:p>
        </p:txBody>
      </p:sp>
      <p:sp>
        <p:nvSpPr>
          <p:cNvPr id="65" name="Shape 63"/>
          <p:cNvSpPr/>
          <p:nvPr/>
        </p:nvSpPr>
        <p:spPr>
          <a:xfrm>
            <a:off x="0" y="6565392"/>
            <a:ext cx="12188952" cy="292608"/>
          </a:xfrm>
          <a:prstGeom prst="rect">
            <a:avLst/>
          </a:prstGeom>
          <a:solidFill>
            <a:srgbClr val="1E2761"/>
          </a:solidFill>
          <a:ln w="12700">
            <a:solidFill>
              <a:srgbClr val="1E2761"/>
            </a:solidFill>
            <a:prstDash val="solid"/>
          </a:ln>
        </p:spPr>
      </p:sp>
      <p:sp>
        <p:nvSpPr>
          <p:cNvPr id="66" name="Text 64"/>
          <p:cNvSpPr/>
          <p:nvPr/>
        </p:nvSpPr>
        <p:spPr>
          <a:xfrm>
            <a:off x="0" y="6565392"/>
            <a:ext cx="12188952" cy="292608"/>
          </a:xfrm>
          <a:prstGeom prst="rect">
            <a:avLst/>
          </a:prstGeom>
          <a:noFill/>
          <a:ln/>
        </p:spPr>
        <p:txBody>
          <a:bodyPr wrap="square" rtlCol="0" anchor="ctr"/>
          <a:lstStyle/>
          <a:p>
            <a:pPr algn="ctr" indent="0" marL="0">
              <a:buNone/>
            </a:pPr>
            <a:r>
              <a:rPr lang="en-US" sz="1100" dirty="0">
                <a:solidFill>
                  <a:srgbClr val="CADCFC"/>
                </a:solidFill>
                <a:latin typeface="Arial" pitchFamily="34" charset="0"/>
                <a:ea typeface="Arial" pitchFamily="34" charset="-122"/>
                <a:cs typeface="Arial" pitchFamily="34" charset="-120"/>
              </a:rPr>
              <a:t>VSM不是一次性项目，而是持续改善的循环 | 建议每年至少更新一次</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73152"/>
            <a:ext cx="12188952" cy="6784848"/>
          </a:xfrm>
          <a:prstGeom prst="rect">
            <a:avLst/>
          </a:prstGeom>
          <a:solidFill>
            <a:srgbClr val="F8FAFC"/>
          </a:solidFill>
          <a:ln w="12700">
            <a:solidFill>
              <a:srgbClr val="F8FAFC"/>
            </a:solidFill>
            <a:prstDash val="solid"/>
          </a:ln>
        </p:spPr>
      </p:sp>
      <p:sp>
        <p:nvSpPr>
          <p:cNvPr id="3" name="Shape 1"/>
          <p:cNvSpPr/>
          <p:nvPr/>
        </p:nvSpPr>
        <p:spPr>
          <a:xfrm>
            <a:off x="0" y="0"/>
            <a:ext cx="12188952" cy="73152"/>
          </a:xfrm>
          <a:prstGeom prst="rect">
            <a:avLst/>
          </a:prstGeom>
          <a:solidFill>
            <a:srgbClr val="0D9488"/>
          </a:solidFill>
          <a:ln w="12700">
            <a:solidFill>
              <a:srgbClr val="0D9488"/>
            </a:solidFill>
            <a:prstDash val="solid"/>
          </a:ln>
        </p:spPr>
      </p:sp>
      <p:sp>
        <p:nvSpPr>
          <p:cNvPr id="4" name="Shape 2"/>
          <p:cNvSpPr/>
          <p:nvPr/>
        </p:nvSpPr>
        <p:spPr>
          <a:xfrm>
            <a:off x="0" y="73152"/>
            <a:ext cx="12188952" cy="841248"/>
          </a:xfrm>
          <a:prstGeom prst="rect">
            <a:avLst/>
          </a:prstGeom>
          <a:solidFill>
            <a:srgbClr val="1E2761"/>
          </a:solidFill>
          <a:ln w="12700">
            <a:solidFill>
              <a:srgbClr val="1E2761"/>
            </a:solidFill>
            <a:prstDash val="solid"/>
          </a:ln>
        </p:spPr>
      </p:sp>
      <p:sp>
        <p:nvSpPr>
          <p:cNvPr id="5" name="Text 3"/>
          <p:cNvSpPr/>
          <p:nvPr/>
        </p:nvSpPr>
        <p:spPr>
          <a:xfrm>
            <a:off x="457200" y="109728"/>
            <a:ext cx="11274552" cy="475488"/>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VSM 当前状态图</a:t>
            </a:r>
            <a:endParaRPr lang="en-US" sz="2800" dirty="0"/>
          </a:p>
        </p:txBody>
      </p:sp>
      <p:sp>
        <p:nvSpPr>
          <p:cNvPr id="6" name="Text 4"/>
          <p:cNvSpPr/>
          <p:nvPr/>
        </p:nvSpPr>
        <p:spPr>
          <a:xfrm>
            <a:off x="457200" y="493776"/>
            <a:ext cx="11274552" cy="320040"/>
          </a:xfrm>
          <a:prstGeom prst="rect">
            <a:avLst/>
          </a:prstGeom>
          <a:noFill/>
          <a:ln/>
        </p:spPr>
        <p:txBody>
          <a:bodyPr wrap="square" rtlCol="0" anchor="ctr"/>
          <a:lstStyle/>
          <a:p>
            <a:pPr indent="0" marL="0">
              <a:buNone/>
            </a:pPr>
            <a:r>
              <a:rPr lang="en-US" sz="1400" dirty="0">
                <a:solidFill>
                  <a:srgbClr val="CADCFC"/>
                </a:solidFill>
                <a:latin typeface="Arial" pitchFamily="34" charset="0"/>
                <a:ea typeface="Arial" pitchFamily="34" charset="-122"/>
                <a:cs typeface="Arial" pitchFamily="34" charset="-120"/>
              </a:rPr>
              <a:t>Current State Map</a:t>
            </a:r>
            <a:endParaRPr lang="en-US" sz="1400" dirty="0"/>
          </a:p>
        </p:txBody>
      </p:sp>
      <p:sp>
        <p:nvSpPr>
          <p:cNvPr id="7" name="Text 5"/>
          <p:cNvSpPr/>
          <p:nvPr/>
        </p:nvSpPr>
        <p:spPr>
          <a:xfrm>
            <a:off x="457200" y="1051560"/>
            <a:ext cx="11274552" cy="365760"/>
          </a:xfrm>
          <a:prstGeom prst="rect">
            <a:avLst/>
          </a:prstGeom>
          <a:noFill/>
          <a:ln/>
        </p:spPr>
        <p:txBody>
          <a:bodyPr wrap="square" rtlCol="0" anchor="ctr"/>
          <a:lstStyle/>
          <a:p>
            <a:pPr indent="0" marL="0">
              <a:buNone/>
            </a:pPr>
            <a:r>
              <a:rPr lang="en-US" sz="1600" b="1" dirty="0">
                <a:solidFill>
                  <a:srgbClr val="1E2761"/>
                </a:solidFill>
                <a:latin typeface="Arial Black" pitchFamily="34" charset="0"/>
                <a:ea typeface="Arial Black" pitchFamily="34" charset="-122"/>
                <a:cs typeface="Arial Black" pitchFamily="34" charset="-120"/>
              </a:rPr>
              <a:t>当前状态图绘制要素 — 以紧固件生产为例</a:t>
            </a:r>
            <a:endParaRPr lang="en-US" sz="1600" dirty="0"/>
          </a:p>
        </p:txBody>
      </p:sp>
      <p:sp>
        <p:nvSpPr>
          <p:cNvPr id="8" name="Shape 6"/>
          <p:cNvSpPr/>
          <p:nvPr/>
        </p:nvSpPr>
        <p:spPr>
          <a:xfrm>
            <a:off x="365760" y="1554480"/>
            <a:ext cx="1737360" cy="1371600"/>
          </a:xfrm>
          <a:prstGeom prst="rect">
            <a:avLst/>
          </a:prstGeom>
          <a:solidFill>
            <a:srgbClr val="FFFFFF"/>
          </a:solidFill>
          <a:ln w="12700">
            <a:solidFill>
              <a:srgbClr val="1E2761"/>
            </a:solidFill>
            <a:prstDash val="solid"/>
          </a:ln>
        </p:spPr>
      </p:sp>
      <p:sp>
        <p:nvSpPr>
          <p:cNvPr id="9" name="Text 7"/>
          <p:cNvSpPr/>
          <p:nvPr/>
        </p:nvSpPr>
        <p:spPr>
          <a:xfrm>
            <a:off x="365760" y="1600200"/>
            <a:ext cx="1737360" cy="365760"/>
          </a:xfrm>
          <a:prstGeom prst="rect">
            <a:avLst/>
          </a:prstGeom>
          <a:noFill/>
          <a:ln/>
        </p:spPr>
        <p:txBody>
          <a:bodyPr wrap="square" rtlCol="0" anchor="ctr"/>
          <a:lstStyle/>
          <a:p>
            <a:pPr algn="ctr" indent="0" marL="0">
              <a:buNone/>
            </a:pPr>
            <a:r>
              <a:rPr lang="en-US" sz="1000" b="1" dirty="0">
                <a:solidFill>
                  <a:srgbClr val="1E2761"/>
                </a:solidFill>
                <a:latin typeface="Arial Black" pitchFamily="34" charset="0"/>
                <a:ea typeface="Arial Black" pitchFamily="34" charset="-122"/>
                <a:cs typeface="Arial Black" pitchFamily="34" charset="-120"/>
              </a:rPr>
              <a:t>冷镦</a:t>
            </a:r>
            <a:endParaRPr lang="en-US" sz="1000" dirty="0"/>
          </a:p>
          <a:p>
            <a:pPr algn="ctr" indent="0" marL="0">
              <a:buNone/>
            </a:pPr>
            <a:r>
              <a:rPr lang="en-US" sz="1000" b="1" dirty="0">
                <a:solidFill>
                  <a:srgbClr val="1E2761"/>
                </a:solidFill>
                <a:latin typeface="Arial Black" pitchFamily="34" charset="0"/>
                <a:ea typeface="Arial Black" pitchFamily="34" charset="-122"/>
                <a:cs typeface="Arial Black" pitchFamily="34" charset="-120"/>
              </a:rPr>
              <a:t>Cold Forging</a:t>
            </a:r>
            <a:endParaRPr lang="en-US" sz="1000" dirty="0"/>
          </a:p>
        </p:txBody>
      </p:sp>
      <p:sp>
        <p:nvSpPr>
          <p:cNvPr id="10" name="Shape 8"/>
          <p:cNvSpPr/>
          <p:nvPr/>
        </p:nvSpPr>
        <p:spPr>
          <a:xfrm>
            <a:off x="365760" y="1965960"/>
            <a:ext cx="1737360" cy="36576"/>
          </a:xfrm>
          <a:prstGeom prst="rect">
            <a:avLst/>
          </a:prstGeom>
          <a:solidFill>
            <a:srgbClr val="1E2761"/>
          </a:solidFill>
          <a:ln w="12700">
            <a:solidFill>
              <a:srgbClr val="1E2761"/>
            </a:solidFill>
            <a:prstDash val="solid"/>
          </a:ln>
        </p:spPr>
      </p:sp>
      <p:sp>
        <p:nvSpPr>
          <p:cNvPr id="11" name="Text 9"/>
          <p:cNvSpPr/>
          <p:nvPr/>
        </p:nvSpPr>
        <p:spPr>
          <a:xfrm>
            <a:off x="365760" y="2057400"/>
            <a:ext cx="1737360" cy="228600"/>
          </a:xfrm>
          <a:prstGeom prst="rect">
            <a:avLst/>
          </a:prstGeom>
          <a:noFill/>
          <a:ln/>
        </p:spPr>
        <p:txBody>
          <a:bodyPr wrap="square"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CT=2.5min</a:t>
            </a:r>
            <a:endParaRPr lang="en-US" sz="900" dirty="0"/>
          </a:p>
        </p:txBody>
      </p:sp>
      <p:sp>
        <p:nvSpPr>
          <p:cNvPr id="12" name="Text 10"/>
          <p:cNvSpPr/>
          <p:nvPr/>
        </p:nvSpPr>
        <p:spPr>
          <a:xfrm>
            <a:off x="365760" y="2286000"/>
            <a:ext cx="1737360" cy="228600"/>
          </a:xfrm>
          <a:prstGeom prst="rect">
            <a:avLst/>
          </a:prstGeom>
          <a:noFill/>
          <a:ln/>
        </p:spPr>
        <p:txBody>
          <a:bodyPr wrap="square"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UP=85%</a:t>
            </a:r>
            <a:endParaRPr lang="en-US" sz="900" dirty="0"/>
          </a:p>
        </p:txBody>
      </p:sp>
      <p:sp>
        <p:nvSpPr>
          <p:cNvPr id="13" name="Text 11"/>
          <p:cNvSpPr/>
          <p:nvPr/>
        </p:nvSpPr>
        <p:spPr>
          <a:xfrm>
            <a:off x="365760" y="2514600"/>
            <a:ext cx="173736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Batch=2000</a:t>
            </a:r>
            <a:endParaRPr lang="en-US" sz="800" dirty="0"/>
          </a:p>
        </p:txBody>
      </p:sp>
      <p:sp>
        <p:nvSpPr>
          <p:cNvPr id="14" name="Shape 12"/>
          <p:cNvSpPr/>
          <p:nvPr/>
        </p:nvSpPr>
        <p:spPr>
          <a:xfrm>
            <a:off x="2148840" y="1664208"/>
            <a:ext cx="182880" cy="274320"/>
          </a:xfrm>
          <a:prstGeom prst="diamond">
            <a:avLst/>
          </a:prstGeom>
          <a:solidFill>
            <a:srgbClr val="D97706"/>
          </a:solidFill>
          <a:ln w="12700">
            <a:solidFill>
              <a:srgbClr val="D97706"/>
            </a:solidFill>
            <a:prstDash val="solid"/>
          </a:ln>
        </p:spPr>
      </p:sp>
      <p:sp>
        <p:nvSpPr>
          <p:cNvPr id="15" name="Text 13"/>
          <p:cNvSpPr/>
          <p:nvPr/>
        </p:nvSpPr>
        <p:spPr>
          <a:xfrm>
            <a:off x="2130552" y="1975104"/>
            <a:ext cx="237744" cy="274320"/>
          </a:xfrm>
          <a:prstGeom prst="rect">
            <a:avLst/>
          </a:prstGeom>
          <a:noFill/>
          <a:ln/>
        </p:spPr>
        <p:txBody>
          <a:bodyPr wrap="square" rtlCol="0" anchor="ctr"/>
          <a:lstStyle/>
          <a:p>
            <a:pPr algn="ctr" indent="0" marL="0">
              <a:buNone/>
            </a:pPr>
            <a:r>
              <a:rPr lang="en-US" sz="700" dirty="0">
                <a:solidFill>
                  <a:srgbClr val="64748B"/>
                </a:solidFill>
                <a:latin typeface="Arial" pitchFamily="34" charset="0"/>
                <a:ea typeface="Arial" pitchFamily="34" charset="-122"/>
                <a:cs typeface="Arial" pitchFamily="34" charset="-120"/>
              </a:rPr>
              <a:t>500</a:t>
            </a:r>
            <a:endParaRPr lang="en-US" sz="700" dirty="0"/>
          </a:p>
        </p:txBody>
      </p:sp>
      <p:sp>
        <p:nvSpPr>
          <p:cNvPr id="16" name="Shape 14"/>
          <p:cNvSpPr/>
          <p:nvPr/>
        </p:nvSpPr>
        <p:spPr>
          <a:xfrm>
            <a:off x="2331720" y="2423160"/>
            <a:ext cx="109728" cy="182880"/>
          </a:xfrm>
          <a:prstGeom prst="rightArrow">
            <a:avLst/>
          </a:prstGeom>
          <a:solidFill>
            <a:srgbClr val="DC2626"/>
          </a:solidFill>
          <a:ln w="12700">
            <a:solidFill>
              <a:srgbClr val="DC2626"/>
            </a:solidFill>
            <a:prstDash val="solid"/>
          </a:ln>
        </p:spPr>
      </p:sp>
      <p:sp>
        <p:nvSpPr>
          <p:cNvPr id="17" name="Text 15"/>
          <p:cNvSpPr/>
          <p:nvPr/>
        </p:nvSpPr>
        <p:spPr>
          <a:xfrm>
            <a:off x="2304288" y="2606040"/>
            <a:ext cx="182880" cy="182880"/>
          </a:xfrm>
          <a:prstGeom prst="rect">
            <a:avLst/>
          </a:prstGeom>
          <a:noFill/>
          <a:ln/>
        </p:spPr>
        <p:txBody>
          <a:bodyPr wrap="square" rtlCol="0" anchor="ctr"/>
          <a:lstStyle/>
          <a:p>
            <a:pPr algn="ctr" indent="0" marL="0">
              <a:buNone/>
            </a:pPr>
            <a:r>
              <a:rPr lang="en-US" sz="700" dirty="0">
                <a:solidFill>
                  <a:srgbClr val="DC2626"/>
                </a:solidFill>
                <a:latin typeface="Arial" pitchFamily="34" charset="0"/>
                <a:ea typeface="Arial" pitchFamily="34" charset="-122"/>
                <a:cs typeface="Arial" pitchFamily="34" charset="-120"/>
              </a:rPr>
              <a:t>推</a:t>
            </a:r>
            <a:endParaRPr lang="en-US" sz="700" dirty="0"/>
          </a:p>
        </p:txBody>
      </p:sp>
      <p:sp>
        <p:nvSpPr>
          <p:cNvPr id="18" name="Shape 16"/>
          <p:cNvSpPr/>
          <p:nvPr/>
        </p:nvSpPr>
        <p:spPr>
          <a:xfrm>
            <a:off x="2286000" y="1554480"/>
            <a:ext cx="1737360" cy="1371600"/>
          </a:xfrm>
          <a:prstGeom prst="rect">
            <a:avLst/>
          </a:prstGeom>
          <a:solidFill>
            <a:srgbClr val="FFFFFF"/>
          </a:solidFill>
          <a:ln w="12700">
            <a:solidFill>
              <a:srgbClr val="1E2761"/>
            </a:solidFill>
            <a:prstDash val="solid"/>
          </a:ln>
        </p:spPr>
      </p:sp>
      <p:sp>
        <p:nvSpPr>
          <p:cNvPr id="19" name="Text 17"/>
          <p:cNvSpPr/>
          <p:nvPr/>
        </p:nvSpPr>
        <p:spPr>
          <a:xfrm>
            <a:off x="2286000" y="1600200"/>
            <a:ext cx="1737360" cy="365760"/>
          </a:xfrm>
          <a:prstGeom prst="rect">
            <a:avLst/>
          </a:prstGeom>
          <a:noFill/>
          <a:ln/>
        </p:spPr>
        <p:txBody>
          <a:bodyPr wrap="square" rtlCol="0" anchor="ctr"/>
          <a:lstStyle/>
          <a:p>
            <a:pPr algn="ctr" indent="0" marL="0">
              <a:buNone/>
            </a:pPr>
            <a:r>
              <a:rPr lang="en-US" sz="1000" b="1" dirty="0">
                <a:solidFill>
                  <a:srgbClr val="1E2761"/>
                </a:solidFill>
                <a:latin typeface="Arial Black" pitchFamily="34" charset="0"/>
                <a:ea typeface="Arial Black" pitchFamily="34" charset="-122"/>
                <a:cs typeface="Arial Black" pitchFamily="34" charset="-120"/>
              </a:rPr>
              <a:t>搓丝</a:t>
            </a:r>
            <a:endParaRPr lang="en-US" sz="1000" dirty="0"/>
          </a:p>
          <a:p>
            <a:pPr algn="ctr" indent="0" marL="0">
              <a:buNone/>
            </a:pPr>
            <a:r>
              <a:rPr lang="en-US" sz="1000" b="1" dirty="0">
                <a:solidFill>
                  <a:srgbClr val="1E2761"/>
                </a:solidFill>
                <a:latin typeface="Arial Black" pitchFamily="34" charset="0"/>
                <a:ea typeface="Arial Black" pitchFamily="34" charset="-122"/>
                <a:cs typeface="Arial Black" pitchFamily="34" charset="-120"/>
              </a:rPr>
              <a:t>Thread Roll</a:t>
            </a:r>
            <a:endParaRPr lang="en-US" sz="1000" dirty="0"/>
          </a:p>
        </p:txBody>
      </p:sp>
      <p:sp>
        <p:nvSpPr>
          <p:cNvPr id="20" name="Shape 18"/>
          <p:cNvSpPr/>
          <p:nvPr/>
        </p:nvSpPr>
        <p:spPr>
          <a:xfrm>
            <a:off x="2286000" y="1965960"/>
            <a:ext cx="1737360" cy="36576"/>
          </a:xfrm>
          <a:prstGeom prst="rect">
            <a:avLst/>
          </a:prstGeom>
          <a:solidFill>
            <a:srgbClr val="1E2761"/>
          </a:solidFill>
          <a:ln w="12700">
            <a:solidFill>
              <a:srgbClr val="1E2761"/>
            </a:solidFill>
            <a:prstDash val="solid"/>
          </a:ln>
        </p:spPr>
      </p:sp>
      <p:sp>
        <p:nvSpPr>
          <p:cNvPr id="21" name="Text 19"/>
          <p:cNvSpPr/>
          <p:nvPr/>
        </p:nvSpPr>
        <p:spPr>
          <a:xfrm>
            <a:off x="2286000" y="2057400"/>
            <a:ext cx="1737360" cy="228600"/>
          </a:xfrm>
          <a:prstGeom prst="rect">
            <a:avLst/>
          </a:prstGeom>
          <a:noFill/>
          <a:ln/>
        </p:spPr>
        <p:txBody>
          <a:bodyPr wrap="square"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CT=1.8min</a:t>
            </a:r>
            <a:endParaRPr lang="en-US" sz="900" dirty="0"/>
          </a:p>
        </p:txBody>
      </p:sp>
      <p:sp>
        <p:nvSpPr>
          <p:cNvPr id="22" name="Text 20"/>
          <p:cNvSpPr/>
          <p:nvPr/>
        </p:nvSpPr>
        <p:spPr>
          <a:xfrm>
            <a:off x="2286000" y="2286000"/>
            <a:ext cx="1737360" cy="228600"/>
          </a:xfrm>
          <a:prstGeom prst="rect">
            <a:avLst/>
          </a:prstGeom>
          <a:noFill/>
          <a:ln/>
        </p:spPr>
        <p:txBody>
          <a:bodyPr wrap="square"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UP=90%</a:t>
            </a:r>
            <a:endParaRPr lang="en-US" sz="900" dirty="0"/>
          </a:p>
        </p:txBody>
      </p:sp>
      <p:sp>
        <p:nvSpPr>
          <p:cNvPr id="23" name="Text 21"/>
          <p:cNvSpPr/>
          <p:nvPr/>
        </p:nvSpPr>
        <p:spPr>
          <a:xfrm>
            <a:off x="2286000" y="2514600"/>
            <a:ext cx="173736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Batch=2500</a:t>
            </a:r>
            <a:endParaRPr lang="en-US" sz="800" dirty="0"/>
          </a:p>
        </p:txBody>
      </p:sp>
      <p:sp>
        <p:nvSpPr>
          <p:cNvPr id="24" name="Shape 22"/>
          <p:cNvSpPr/>
          <p:nvPr/>
        </p:nvSpPr>
        <p:spPr>
          <a:xfrm>
            <a:off x="4069080" y="1664208"/>
            <a:ext cx="182880" cy="274320"/>
          </a:xfrm>
          <a:prstGeom prst="diamond">
            <a:avLst/>
          </a:prstGeom>
          <a:solidFill>
            <a:srgbClr val="D97706"/>
          </a:solidFill>
          <a:ln w="12700">
            <a:solidFill>
              <a:srgbClr val="D97706"/>
            </a:solidFill>
            <a:prstDash val="solid"/>
          </a:ln>
        </p:spPr>
      </p:sp>
      <p:sp>
        <p:nvSpPr>
          <p:cNvPr id="25" name="Text 23"/>
          <p:cNvSpPr/>
          <p:nvPr/>
        </p:nvSpPr>
        <p:spPr>
          <a:xfrm>
            <a:off x="4050792" y="1975104"/>
            <a:ext cx="237744" cy="274320"/>
          </a:xfrm>
          <a:prstGeom prst="rect">
            <a:avLst/>
          </a:prstGeom>
          <a:noFill/>
          <a:ln/>
        </p:spPr>
        <p:txBody>
          <a:bodyPr wrap="square" rtlCol="0" anchor="ctr"/>
          <a:lstStyle/>
          <a:p>
            <a:pPr algn="ctr" indent="0" marL="0">
              <a:buNone/>
            </a:pPr>
            <a:r>
              <a:rPr lang="en-US" sz="700" dirty="0">
                <a:solidFill>
                  <a:srgbClr val="64748B"/>
                </a:solidFill>
                <a:latin typeface="Arial" pitchFamily="34" charset="0"/>
                <a:ea typeface="Arial" pitchFamily="34" charset="-122"/>
                <a:cs typeface="Arial" pitchFamily="34" charset="-120"/>
              </a:rPr>
              <a:t>700</a:t>
            </a:r>
            <a:endParaRPr lang="en-US" sz="700" dirty="0"/>
          </a:p>
        </p:txBody>
      </p:sp>
      <p:sp>
        <p:nvSpPr>
          <p:cNvPr id="26" name="Shape 24"/>
          <p:cNvSpPr/>
          <p:nvPr/>
        </p:nvSpPr>
        <p:spPr>
          <a:xfrm>
            <a:off x="4251960" y="2423160"/>
            <a:ext cx="109728" cy="182880"/>
          </a:xfrm>
          <a:prstGeom prst="rightArrow">
            <a:avLst/>
          </a:prstGeom>
          <a:solidFill>
            <a:srgbClr val="DC2626"/>
          </a:solidFill>
          <a:ln w="12700">
            <a:solidFill>
              <a:srgbClr val="DC2626"/>
            </a:solidFill>
            <a:prstDash val="solid"/>
          </a:ln>
        </p:spPr>
      </p:sp>
      <p:sp>
        <p:nvSpPr>
          <p:cNvPr id="27" name="Text 25"/>
          <p:cNvSpPr/>
          <p:nvPr/>
        </p:nvSpPr>
        <p:spPr>
          <a:xfrm>
            <a:off x="4224528" y="2606040"/>
            <a:ext cx="182880" cy="182880"/>
          </a:xfrm>
          <a:prstGeom prst="rect">
            <a:avLst/>
          </a:prstGeom>
          <a:noFill/>
          <a:ln/>
        </p:spPr>
        <p:txBody>
          <a:bodyPr wrap="square" rtlCol="0" anchor="ctr"/>
          <a:lstStyle/>
          <a:p>
            <a:pPr algn="ctr" indent="0" marL="0">
              <a:buNone/>
            </a:pPr>
            <a:r>
              <a:rPr lang="en-US" sz="700" dirty="0">
                <a:solidFill>
                  <a:srgbClr val="DC2626"/>
                </a:solidFill>
                <a:latin typeface="Arial" pitchFamily="34" charset="0"/>
                <a:ea typeface="Arial" pitchFamily="34" charset="-122"/>
                <a:cs typeface="Arial" pitchFamily="34" charset="-120"/>
              </a:rPr>
              <a:t>推</a:t>
            </a:r>
            <a:endParaRPr lang="en-US" sz="700" dirty="0"/>
          </a:p>
        </p:txBody>
      </p:sp>
      <p:sp>
        <p:nvSpPr>
          <p:cNvPr id="28" name="Shape 26"/>
          <p:cNvSpPr/>
          <p:nvPr/>
        </p:nvSpPr>
        <p:spPr>
          <a:xfrm>
            <a:off x="4206240" y="1554480"/>
            <a:ext cx="1737360" cy="1371600"/>
          </a:xfrm>
          <a:prstGeom prst="rect">
            <a:avLst/>
          </a:prstGeom>
          <a:solidFill>
            <a:srgbClr val="FFFFFF"/>
          </a:solidFill>
          <a:ln w="12700">
            <a:solidFill>
              <a:srgbClr val="1E2761"/>
            </a:solidFill>
            <a:prstDash val="solid"/>
          </a:ln>
        </p:spPr>
      </p:sp>
      <p:sp>
        <p:nvSpPr>
          <p:cNvPr id="29" name="Text 27"/>
          <p:cNvSpPr/>
          <p:nvPr/>
        </p:nvSpPr>
        <p:spPr>
          <a:xfrm>
            <a:off x="4206240" y="1600200"/>
            <a:ext cx="1737360" cy="365760"/>
          </a:xfrm>
          <a:prstGeom prst="rect">
            <a:avLst/>
          </a:prstGeom>
          <a:noFill/>
          <a:ln/>
        </p:spPr>
        <p:txBody>
          <a:bodyPr wrap="square" rtlCol="0" anchor="ctr"/>
          <a:lstStyle/>
          <a:p>
            <a:pPr algn="ctr" indent="0" marL="0">
              <a:buNone/>
            </a:pPr>
            <a:r>
              <a:rPr lang="en-US" sz="1000" b="1" dirty="0">
                <a:solidFill>
                  <a:srgbClr val="1E2761"/>
                </a:solidFill>
                <a:latin typeface="Arial Black" pitchFamily="34" charset="0"/>
                <a:ea typeface="Arial Black" pitchFamily="34" charset="-122"/>
                <a:cs typeface="Arial Black" pitchFamily="34" charset="-120"/>
              </a:rPr>
              <a:t>热处理</a:t>
            </a:r>
            <a:endParaRPr lang="en-US" sz="1000" dirty="0"/>
          </a:p>
          <a:p>
            <a:pPr algn="ctr" indent="0" marL="0">
              <a:buNone/>
            </a:pPr>
            <a:r>
              <a:rPr lang="en-US" sz="1000" b="1" dirty="0">
                <a:solidFill>
                  <a:srgbClr val="1E2761"/>
                </a:solidFill>
                <a:latin typeface="Arial Black" pitchFamily="34" charset="0"/>
                <a:ea typeface="Arial Black" pitchFamily="34" charset="-122"/>
                <a:cs typeface="Arial Black" pitchFamily="34" charset="-120"/>
              </a:rPr>
              <a:t>Heat Treat.</a:t>
            </a:r>
            <a:endParaRPr lang="en-US" sz="1000" dirty="0"/>
          </a:p>
        </p:txBody>
      </p:sp>
      <p:sp>
        <p:nvSpPr>
          <p:cNvPr id="30" name="Shape 28"/>
          <p:cNvSpPr/>
          <p:nvPr/>
        </p:nvSpPr>
        <p:spPr>
          <a:xfrm>
            <a:off x="4206240" y="1965960"/>
            <a:ext cx="1737360" cy="36576"/>
          </a:xfrm>
          <a:prstGeom prst="rect">
            <a:avLst/>
          </a:prstGeom>
          <a:solidFill>
            <a:srgbClr val="1E2761"/>
          </a:solidFill>
          <a:ln w="12700">
            <a:solidFill>
              <a:srgbClr val="1E2761"/>
            </a:solidFill>
            <a:prstDash val="solid"/>
          </a:ln>
        </p:spPr>
      </p:sp>
      <p:sp>
        <p:nvSpPr>
          <p:cNvPr id="31" name="Text 29"/>
          <p:cNvSpPr/>
          <p:nvPr/>
        </p:nvSpPr>
        <p:spPr>
          <a:xfrm>
            <a:off x="4206240" y="2057400"/>
            <a:ext cx="1737360" cy="228600"/>
          </a:xfrm>
          <a:prstGeom prst="rect">
            <a:avLst/>
          </a:prstGeom>
          <a:noFill/>
          <a:ln/>
        </p:spPr>
        <p:txBody>
          <a:bodyPr wrap="square"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CT=45min</a:t>
            </a:r>
            <a:endParaRPr lang="en-US" sz="900" dirty="0"/>
          </a:p>
        </p:txBody>
      </p:sp>
      <p:sp>
        <p:nvSpPr>
          <p:cNvPr id="32" name="Text 30"/>
          <p:cNvSpPr/>
          <p:nvPr/>
        </p:nvSpPr>
        <p:spPr>
          <a:xfrm>
            <a:off x="4206240" y="2286000"/>
            <a:ext cx="1737360" cy="228600"/>
          </a:xfrm>
          <a:prstGeom prst="rect">
            <a:avLst/>
          </a:prstGeom>
          <a:noFill/>
          <a:ln/>
        </p:spPr>
        <p:txBody>
          <a:bodyPr wrap="square"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UP=75%</a:t>
            </a:r>
            <a:endParaRPr lang="en-US" sz="900" dirty="0"/>
          </a:p>
        </p:txBody>
      </p:sp>
      <p:sp>
        <p:nvSpPr>
          <p:cNvPr id="33" name="Text 31"/>
          <p:cNvSpPr/>
          <p:nvPr/>
        </p:nvSpPr>
        <p:spPr>
          <a:xfrm>
            <a:off x="4206240" y="2514600"/>
            <a:ext cx="173736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Batch=500</a:t>
            </a:r>
            <a:endParaRPr lang="en-US" sz="800" dirty="0"/>
          </a:p>
        </p:txBody>
      </p:sp>
      <p:sp>
        <p:nvSpPr>
          <p:cNvPr id="34" name="Shape 32"/>
          <p:cNvSpPr/>
          <p:nvPr/>
        </p:nvSpPr>
        <p:spPr>
          <a:xfrm>
            <a:off x="5989320" y="1664208"/>
            <a:ext cx="182880" cy="274320"/>
          </a:xfrm>
          <a:prstGeom prst="diamond">
            <a:avLst/>
          </a:prstGeom>
          <a:solidFill>
            <a:srgbClr val="D97706"/>
          </a:solidFill>
          <a:ln w="12700">
            <a:solidFill>
              <a:srgbClr val="D97706"/>
            </a:solidFill>
            <a:prstDash val="solid"/>
          </a:ln>
        </p:spPr>
      </p:sp>
      <p:sp>
        <p:nvSpPr>
          <p:cNvPr id="35" name="Text 33"/>
          <p:cNvSpPr/>
          <p:nvPr/>
        </p:nvSpPr>
        <p:spPr>
          <a:xfrm>
            <a:off x="5971032" y="1975104"/>
            <a:ext cx="237744" cy="274320"/>
          </a:xfrm>
          <a:prstGeom prst="rect">
            <a:avLst/>
          </a:prstGeom>
          <a:noFill/>
          <a:ln/>
        </p:spPr>
        <p:txBody>
          <a:bodyPr wrap="square" rtlCol="0" anchor="ctr"/>
          <a:lstStyle/>
          <a:p>
            <a:pPr algn="ctr" indent="0" marL="0">
              <a:buNone/>
            </a:pPr>
            <a:r>
              <a:rPr lang="en-US" sz="700" dirty="0">
                <a:solidFill>
                  <a:srgbClr val="64748B"/>
                </a:solidFill>
                <a:latin typeface="Arial" pitchFamily="34" charset="0"/>
                <a:ea typeface="Arial" pitchFamily="34" charset="-122"/>
                <a:cs typeface="Arial" pitchFamily="34" charset="-120"/>
              </a:rPr>
              <a:t>900</a:t>
            </a:r>
            <a:endParaRPr lang="en-US" sz="700" dirty="0"/>
          </a:p>
        </p:txBody>
      </p:sp>
      <p:sp>
        <p:nvSpPr>
          <p:cNvPr id="36" name="Shape 34"/>
          <p:cNvSpPr/>
          <p:nvPr/>
        </p:nvSpPr>
        <p:spPr>
          <a:xfrm>
            <a:off x="6172200" y="2423160"/>
            <a:ext cx="109728" cy="182880"/>
          </a:xfrm>
          <a:prstGeom prst="rightArrow">
            <a:avLst/>
          </a:prstGeom>
          <a:solidFill>
            <a:srgbClr val="DC2626"/>
          </a:solidFill>
          <a:ln w="12700">
            <a:solidFill>
              <a:srgbClr val="DC2626"/>
            </a:solidFill>
            <a:prstDash val="solid"/>
          </a:ln>
        </p:spPr>
      </p:sp>
      <p:sp>
        <p:nvSpPr>
          <p:cNvPr id="37" name="Text 35"/>
          <p:cNvSpPr/>
          <p:nvPr/>
        </p:nvSpPr>
        <p:spPr>
          <a:xfrm>
            <a:off x="6144768" y="2606040"/>
            <a:ext cx="182880" cy="182880"/>
          </a:xfrm>
          <a:prstGeom prst="rect">
            <a:avLst/>
          </a:prstGeom>
          <a:noFill/>
          <a:ln/>
        </p:spPr>
        <p:txBody>
          <a:bodyPr wrap="square" rtlCol="0" anchor="ctr"/>
          <a:lstStyle/>
          <a:p>
            <a:pPr algn="ctr" indent="0" marL="0">
              <a:buNone/>
            </a:pPr>
            <a:r>
              <a:rPr lang="en-US" sz="700" dirty="0">
                <a:solidFill>
                  <a:srgbClr val="DC2626"/>
                </a:solidFill>
                <a:latin typeface="Arial" pitchFamily="34" charset="0"/>
                <a:ea typeface="Arial" pitchFamily="34" charset="-122"/>
                <a:cs typeface="Arial" pitchFamily="34" charset="-120"/>
              </a:rPr>
              <a:t>推</a:t>
            </a:r>
            <a:endParaRPr lang="en-US" sz="700" dirty="0"/>
          </a:p>
        </p:txBody>
      </p:sp>
      <p:sp>
        <p:nvSpPr>
          <p:cNvPr id="38" name="Shape 36"/>
          <p:cNvSpPr/>
          <p:nvPr/>
        </p:nvSpPr>
        <p:spPr>
          <a:xfrm>
            <a:off x="6126480" y="1554480"/>
            <a:ext cx="1737360" cy="1371600"/>
          </a:xfrm>
          <a:prstGeom prst="rect">
            <a:avLst/>
          </a:prstGeom>
          <a:solidFill>
            <a:srgbClr val="FFFFFF"/>
          </a:solidFill>
          <a:ln w="12700">
            <a:solidFill>
              <a:srgbClr val="1E2761"/>
            </a:solidFill>
            <a:prstDash val="solid"/>
          </a:ln>
        </p:spPr>
      </p:sp>
      <p:sp>
        <p:nvSpPr>
          <p:cNvPr id="39" name="Text 37"/>
          <p:cNvSpPr/>
          <p:nvPr/>
        </p:nvSpPr>
        <p:spPr>
          <a:xfrm>
            <a:off x="6126480" y="1600200"/>
            <a:ext cx="1737360" cy="365760"/>
          </a:xfrm>
          <a:prstGeom prst="rect">
            <a:avLst/>
          </a:prstGeom>
          <a:noFill/>
          <a:ln/>
        </p:spPr>
        <p:txBody>
          <a:bodyPr wrap="square" rtlCol="0" anchor="ctr"/>
          <a:lstStyle/>
          <a:p>
            <a:pPr algn="ctr" indent="0" marL="0">
              <a:buNone/>
            </a:pPr>
            <a:r>
              <a:rPr lang="en-US" sz="1000" b="1" dirty="0">
                <a:solidFill>
                  <a:srgbClr val="1E2761"/>
                </a:solidFill>
                <a:latin typeface="Arial Black" pitchFamily="34" charset="0"/>
                <a:ea typeface="Arial Black" pitchFamily="34" charset="-122"/>
                <a:cs typeface="Arial Black" pitchFamily="34" charset="-120"/>
              </a:rPr>
              <a:t>表面处理</a:t>
            </a:r>
            <a:endParaRPr lang="en-US" sz="1000" dirty="0"/>
          </a:p>
          <a:p>
            <a:pPr algn="ctr" indent="0" marL="0">
              <a:buNone/>
            </a:pPr>
            <a:r>
              <a:rPr lang="en-US" sz="1000" b="1" dirty="0">
                <a:solidFill>
                  <a:srgbClr val="1E2761"/>
                </a:solidFill>
                <a:latin typeface="Arial Black" pitchFamily="34" charset="0"/>
                <a:ea typeface="Arial Black" pitchFamily="34" charset="-122"/>
                <a:cs typeface="Arial Black" pitchFamily="34" charset="-120"/>
              </a:rPr>
              <a:t>Surface Tr.</a:t>
            </a:r>
            <a:endParaRPr lang="en-US" sz="1000" dirty="0"/>
          </a:p>
        </p:txBody>
      </p:sp>
      <p:sp>
        <p:nvSpPr>
          <p:cNvPr id="40" name="Shape 38"/>
          <p:cNvSpPr/>
          <p:nvPr/>
        </p:nvSpPr>
        <p:spPr>
          <a:xfrm>
            <a:off x="6126480" y="1965960"/>
            <a:ext cx="1737360" cy="36576"/>
          </a:xfrm>
          <a:prstGeom prst="rect">
            <a:avLst/>
          </a:prstGeom>
          <a:solidFill>
            <a:srgbClr val="1E2761"/>
          </a:solidFill>
          <a:ln w="12700">
            <a:solidFill>
              <a:srgbClr val="1E2761"/>
            </a:solidFill>
            <a:prstDash val="solid"/>
          </a:ln>
        </p:spPr>
      </p:sp>
      <p:sp>
        <p:nvSpPr>
          <p:cNvPr id="41" name="Text 39"/>
          <p:cNvSpPr/>
          <p:nvPr/>
        </p:nvSpPr>
        <p:spPr>
          <a:xfrm>
            <a:off x="6126480" y="2057400"/>
            <a:ext cx="1737360" cy="228600"/>
          </a:xfrm>
          <a:prstGeom prst="rect">
            <a:avLst/>
          </a:prstGeom>
          <a:noFill/>
          <a:ln/>
        </p:spPr>
        <p:txBody>
          <a:bodyPr wrap="square"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CT=30min</a:t>
            </a:r>
            <a:endParaRPr lang="en-US" sz="900" dirty="0"/>
          </a:p>
        </p:txBody>
      </p:sp>
      <p:sp>
        <p:nvSpPr>
          <p:cNvPr id="42" name="Text 40"/>
          <p:cNvSpPr/>
          <p:nvPr/>
        </p:nvSpPr>
        <p:spPr>
          <a:xfrm>
            <a:off x="6126480" y="2286000"/>
            <a:ext cx="1737360" cy="228600"/>
          </a:xfrm>
          <a:prstGeom prst="rect">
            <a:avLst/>
          </a:prstGeom>
          <a:noFill/>
          <a:ln/>
        </p:spPr>
        <p:txBody>
          <a:bodyPr wrap="square"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UP=80%</a:t>
            </a:r>
            <a:endParaRPr lang="en-US" sz="900" dirty="0"/>
          </a:p>
        </p:txBody>
      </p:sp>
      <p:sp>
        <p:nvSpPr>
          <p:cNvPr id="43" name="Text 41"/>
          <p:cNvSpPr/>
          <p:nvPr/>
        </p:nvSpPr>
        <p:spPr>
          <a:xfrm>
            <a:off x="6126480" y="2514600"/>
            <a:ext cx="173736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Batch=800</a:t>
            </a:r>
            <a:endParaRPr lang="en-US" sz="800" dirty="0"/>
          </a:p>
        </p:txBody>
      </p:sp>
      <p:sp>
        <p:nvSpPr>
          <p:cNvPr id="44" name="Shape 42"/>
          <p:cNvSpPr/>
          <p:nvPr/>
        </p:nvSpPr>
        <p:spPr>
          <a:xfrm>
            <a:off x="7909560" y="1664208"/>
            <a:ext cx="182880" cy="274320"/>
          </a:xfrm>
          <a:prstGeom prst="diamond">
            <a:avLst/>
          </a:prstGeom>
          <a:solidFill>
            <a:srgbClr val="D97706"/>
          </a:solidFill>
          <a:ln w="12700">
            <a:solidFill>
              <a:srgbClr val="D97706"/>
            </a:solidFill>
            <a:prstDash val="solid"/>
          </a:ln>
        </p:spPr>
      </p:sp>
      <p:sp>
        <p:nvSpPr>
          <p:cNvPr id="45" name="Text 43"/>
          <p:cNvSpPr/>
          <p:nvPr/>
        </p:nvSpPr>
        <p:spPr>
          <a:xfrm>
            <a:off x="7891272" y="1975104"/>
            <a:ext cx="237744" cy="274320"/>
          </a:xfrm>
          <a:prstGeom prst="rect">
            <a:avLst/>
          </a:prstGeom>
          <a:noFill/>
          <a:ln/>
        </p:spPr>
        <p:txBody>
          <a:bodyPr wrap="square" rtlCol="0" anchor="ctr"/>
          <a:lstStyle/>
          <a:p>
            <a:pPr algn="ctr" indent="0" marL="0">
              <a:buNone/>
            </a:pPr>
            <a:r>
              <a:rPr lang="en-US" sz="700" dirty="0">
                <a:solidFill>
                  <a:srgbClr val="64748B"/>
                </a:solidFill>
                <a:latin typeface="Arial" pitchFamily="34" charset="0"/>
                <a:ea typeface="Arial" pitchFamily="34" charset="-122"/>
                <a:cs typeface="Arial" pitchFamily="34" charset="-120"/>
              </a:rPr>
              <a:t>1100</a:t>
            </a:r>
            <a:endParaRPr lang="en-US" sz="700" dirty="0"/>
          </a:p>
        </p:txBody>
      </p:sp>
      <p:sp>
        <p:nvSpPr>
          <p:cNvPr id="46" name="Shape 44"/>
          <p:cNvSpPr/>
          <p:nvPr/>
        </p:nvSpPr>
        <p:spPr>
          <a:xfrm>
            <a:off x="8092440" y="2423160"/>
            <a:ext cx="109728" cy="182880"/>
          </a:xfrm>
          <a:prstGeom prst="rightArrow">
            <a:avLst/>
          </a:prstGeom>
          <a:solidFill>
            <a:srgbClr val="DC2626"/>
          </a:solidFill>
          <a:ln w="12700">
            <a:solidFill>
              <a:srgbClr val="DC2626"/>
            </a:solidFill>
            <a:prstDash val="solid"/>
          </a:ln>
        </p:spPr>
      </p:sp>
      <p:sp>
        <p:nvSpPr>
          <p:cNvPr id="47" name="Text 45"/>
          <p:cNvSpPr/>
          <p:nvPr/>
        </p:nvSpPr>
        <p:spPr>
          <a:xfrm>
            <a:off x="8065008" y="2606040"/>
            <a:ext cx="182880" cy="182880"/>
          </a:xfrm>
          <a:prstGeom prst="rect">
            <a:avLst/>
          </a:prstGeom>
          <a:noFill/>
          <a:ln/>
        </p:spPr>
        <p:txBody>
          <a:bodyPr wrap="square" rtlCol="0" anchor="ctr"/>
          <a:lstStyle/>
          <a:p>
            <a:pPr algn="ctr" indent="0" marL="0">
              <a:buNone/>
            </a:pPr>
            <a:r>
              <a:rPr lang="en-US" sz="700" dirty="0">
                <a:solidFill>
                  <a:srgbClr val="DC2626"/>
                </a:solidFill>
                <a:latin typeface="Arial" pitchFamily="34" charset="0"/>
                <a:ea typeface="Arial" pitchFamily="34" charset="-122"/>
                <a:cs typeface="Arial" pitchFamily="34" charset="-120"/>
              </a:rPr>
              <a:t>推</a:t>
            </a:r>
            <a:endParaRPr lang="en-US" sz="700" dirty="0"/>
          </a:p>
        </p:txBody>
      </p:sp>
      <p:sp>
        <p:nvSpPr>
          <p:cNvPr id="48" name="Shape 46"/>
          <p:cNvSpPr/>
          <p:nvPr/>
        </p:nvSpPr>
        <p:spPr>
          <a:xfrm>
            <a:off x="8046720" y="1554480"/>
            <a:ext cx="1737360" cy="1371600"/>
          </a:xfrm>
          <a:prstGeom prst="rect">
            <a:avLst/>
          </a:prstGeom>
          <a:solidFill>
            <a:srgbClr val="FFFFFF"/>
          </a:solidFill>
          <a:ln w="12700">
            <a:solidFill>
              <a:srgbClr val="1E2761"/>
            </a:solidFill>
            <a:prstDash val="solid"/>
          </a:ln>
        </p:spPr>
      </p:sp>
      <p:sp>
        <p:nvSpPr>
          <p:cNvPr id="49" name="Text 47"/>
          <p:cNvSpPr/>
          <p:nvPr/>
        </p:nvSpPr>
        <p:spPr>
          <a:xfrm>
            <a:off x="8046720" y="1600200"/>
            <a:ext cx="1737360" cy="365760"/>
          </a:xfrm>
          <a:prstGeom prst="rect">
            <a:avLst/>
          </a:prstGeom>
          <a:noFill/>
          <a:ln/>
        </p:spPr>
        <p:txBody>
          <a:bodyPr wrap="square" rtlCol="0" anchor="ctr"/>
          <a:lstStyle/>
          <a:p>
            <a:pPr algn="ctr" indent="0" marL="0">
              <a:buNone/>
            </a:pPr>
            <a:r>
              <a:rPr lang="en-US" sz="1000" b="1" dirty="0">
                <a:solidFill>
                  <a:srgbClr val="1E2761"/>
                </a:solidFill>
                <a:latin typeface="Arial Black" pitchFamily="34" charset="0"/>
                <a:ea typeface="Arial Black" pitchFamily="34" charset="-122"/>
                <a:cs typeface="Arial Black" pitchFamily="34" charset="-120"/>
              </a:rPr>
              <a:t>分选</a:t>
            </a:r>
            <a:endParaRPr lang="en-US" sz="1000" dirty="0"/>
          </a:p>
          <a:p>
            <a:pPr algn="ctr" indent="0" marL="0">
              <a:buNone/>
            </a:pPr>
            <a:r>
              <a:rPr lang="en-US" sz="1000" b="1" dirty="0">
                <a:solidFill>
                  <a:srgbClr val="1E2761"/>
                </a:solidFill>
                <a:latin typeface="Arial Black" pitchFamily="34" charset="0"/>
                <a:ea typeface="Arial Black" pitchFamily="34" charset="-122"/>
                <a:cs typeface="Arial Black" pitchFamily="34" charset="-120"/>
              </a:rPr>
              <a:t>Inspection</a:t>
            </a:r>
            <a:endParaRPr lang="en-US" sz="1000" dirty="0"/>
          </a:p>
        </p:txBody>
      </p:sp>
      <p:sp>
        <p:nvSpPr>
          <p:cNvPr id="50" name="Shape 48"/>
          <p:cNvSpPr/>
          <p:nvPr/>
        </p:nvSpPr>
        <p:spPr>
          <a:xfrm>
            <a:off x="8046720" y="1965960"/>
            <a:ext cx="1737360" cy="36576"/>
          </a:xfrm>
          <a:prstGeom prst="rect">
            <a:avLst/>
          </a:prstGeom>
          <a:solidFill>
            <a:srgbClr val="1E2761"/>
          </a:solidFill>
          <a:ln w="12700">
            <a:solidFill>
              <a:srgbClr val="1E2761"/>
            </a:solidFill>
            <a:prstDash val="solid"/>
          </a:ln>
        </p:spPr>
      </p:sp>
      <p:sp>
        <p:nvSpPr>
          <p:cNvPr id="51" name="Text 49"/>
          <p:cNvSpPr/>
          <p:nvPr/>
        </p:nvSpPr>
        <p:spPr>
          <a:xfrm>
            <a:off x="8046720" y="2057400"/>
            <a:ext cx="1737360" cy="228600"/>
          </a:xfrm>
          <a:prstGeom prst="rect">
            <a:avLst/>
          </a:prstGeom>
          <a:noFill/>
          <a:ln/>
        </p:spPr>
        <p:txBody>
          <a:bodyPr wrap="square"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CT=0.5min</a:t>
            </a:r>
            <a:endParaRPr lang="en-US" sz="900" dirty="0"/>
          </a:p>
        </p:txBody>
      </p:sp>
      <p:sp>
        <p:nvSpPr>
          <p:cNvPr id="52" name="Text 50"/>
          <p:cNvSpPr/>
          <p:nvPr/>
        </p:nvSpPr>
        <p:spPr>
          <a:xfrm>
            <a:off x="8046720" y="2286000"/>
            <a:ext cx="1737360" cy="228600"/>
          </a:xfrm>
          <a:prstGeom prst="rect">
            <a:avLst/>
          </a:prstGeom>
          <a:noFill/>
          <a:ln/>
        </p:spPr>
        <p:txBody>
          <a:bodyPr wrap="square"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UP=95%</a:t>
            </a:r>
            <a:endParaRPr lang="en-US" sz="900" dirty="0"/>
          </a:p>
        </p:txBody>
      </p:sp>
      <p:sp>
        <p:nvSpPr>
          <p:cNvPr id="53" name="Text 51"/>
          <p:cNvSpPr/>
          <p:nvPr/>
        </p:nvSpPr>
        <p:spPr>
          <a:xfrm>
            <a:off x="8046720" y="2514600"/>
            <a:ext cx="173736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Batch=3000</a:t>
            </a:r>
            <a:endParaRPr lang="en-US" sz="800" dirty="0"/>
          </a:p>
        </p:txBody>
      </p:sp>
      <p:sp>
        <p:nvSpPr>
          <p:cNvPr id="54" name="Shape 52"/>
          <p:cNvSpPr/>
          <p:nvPr/>
        </p:nvSpPr>
        <p:spPr>
          <a:xfrm>
            <a:off x="9829800" y="1664208"/>
            <a:ext cx="182880" cy="274320"/>
          </a:xfrm>
          <a:prstGeom prst="diamond">
            <a:avLst/>
          </a:prstGeom>
          <a:solidFill>
            <a:srgbClr val="D97706"/>
          </a:solidFill>
          <a:ln w="12700">
            <a:solidFill>
              <a:srgbClr val="D97706"/>
            </a:solidFill>
            <a:prstDash val="solid"/>
          </a:ln>
        </p:spPr>
      </p:sp>
      <p:sp>
        <p:nvSpPr>
          <p:cNvPr id="55" name="Text 53"/>
          <p:cNvSpPr/>
          <p:nvPr/>
        </p:nvSpPr>
        <p:spPr>
          <a:xfrm>
            <a:off x="9811512" y="1975104"/>
            <a:ext cx="237744" cy="274320"/>
          </a:xfrm>
          <a:prstGeom prst="rect">
            <a:avLst/>
          </a:prstGeom>
          <a:noFill/>
          <a:ln/>
        </p:spPr>
        <p:txBody>
          <a:bodyPr wrap="square" rtlCol="0" anchor="ctr"/>
          <a:lstStyle/>
          <a:p>
            <a:pPr algn="ctr" indent="0" marL="0">
              <a:buNone/>
            </a:pPr>
            <a:r>
              <a:rPr lang="en-US" sz="700" dirty="0">
                <a:solidFill>
                  <a:srgbClr val="64748B"/>
                </a:solidFill>
                <a:latin typeface="Arial" pitchFamily="34" charset="0"/>
                <a:ea typeface="Arial" pitchFamily="34" charset="-122"/>
                <a:cs typeface="Arial" pitchFamily="34" charset="-120"/>
              </a:rPr>
              <a:t>1300</a:t>
            </a:r>
            <a:endParaRPr lang="en-US" sz="700" dirty="0"/>
          </a:p>
        </p:txBody>
      </p:sp>
      <p:sp>
        <p:nvSpPr>
          <p:cNvPr id="56" name="Shape 54"/>
          <p:cNvSpPr/>
          <p:nvPr/>
        </p:nvSpPr>
        <p:spPr>
          <a:xfrm>
            <a:off x="10012680" y="2423160"/>
            <a:ext cx="109728" cy="182880"/>
          </a:xfrm>
          <a:prstGeom prst="rightArrow">
            <a:avLst/>
          </a:prstGeom>
          <a:solidFill>
            <a:srgbClr val="DC2626"/>
          </a:solidFill>
          <a:ln w="12700">
            <a:solidFill>
              <a:srgbClr val="DC2626"/>
            </a:solidFill>
            <a:prstDash val="solid"/>
          </a:ln>
        </p:spPr>
      </p:sp>
      <p:sp>
        <p:nvSpPr>
          <p:cNvPr id="57" name="Text 55"/>
          <p:cNvSpPr/>
          <p:nvPr/>
        </p:nvSpPr>
        <p:spPr>
          <a:xfrm>
            <a:off x="9985248" y="2606040"/>
            <a:ext cx="182880" cy="182880"/>
          </a:xfrm>
          <a:prstGeom prst="rect">
            <a:avLst/>
          </a:prstGeom>
          <a:noFill/>
          <a:ln/>
        </p:spPr>
        <p:txBody>
          <a:bodyPr wrap="square" rtlCol="0" anchor="ctr"/>
          <a:lstStyle/>
          <a:p>
            <a:pPr algn="ctr" indent="0" marL="0">
              <a:buNone/>
            </a:pPr>
            <a:r>
              <a:rPr lang="en-US" sz="700" dirty="0">
                <a:solidFill>
                  <a:srgbClr val="DC2626"/>
                </a:solidFill>
                <a:latin typeface="Arial" pitchFamily="34" charset="0"/>
                <a:ea typeface="Arial" pitchFamily="34" charset="-122"/>
                <a:cs typeface="Arial" pitchFamily="34" charset="-120"/>
              </a:rPr>
              <a:t>推</a:t>
            </a:r>
            <a:endParaRPr lang="en-US" sz="700" dirty="0"/>
          </a:p>
        </p:txBody>
      </p:sp>
      <p:sp>
        <p:nvSpPr>
          <p:cNvPr id="58" name="Shape 56"/>
          <p:cNvSpPr/>
          <p:nvPr/>
        </p:nvSpPr>
        <p:spPr>
          <a:xfrm>
            <a:off x="9966960" y="1554480"/>
            <a:ext cx="1737360" cy="1371600"/>
          </a:xfrm>
          <a:prstGeom prst="rect">
            <a:avLst/>
          </a:prstGeom>
          <a:solidFill>
            <a:srgbClr val="FFFFFF"/>
          </a:solidFill>
          <a:ln w="12700">
            <a:solidFill>
              <a:srgbClr val="1E2761"/>
            </a:solidFill>
            <a:prstDash val="solid"/>
          </a:ln>
        </p:spPr>
      </p:sp>
      <p:sp>
        <p:nvSpPr>
          <p:cNvPr id="59" name="Text 57"/>
          <p:cNvSpPr/>
          <p:nvPr/>
        </p:nvSpPr>
        <p:spPr>
          <a:xfrm>
            <a:off x="9966960" y="1600200"/>
            <a:ext cx="1737360" cy="365760"/>
          </a:xfrm>
          <a:prstGeom prst="rect">
            <a:avLst/>
          </a:prstGeom>
          <a:noFill/>
          <a:ln/>
        </p:spPr>
        <p:txBody>
          <a:bodyPr wrap="square" rtlCol="0" anchor="ctr"/>
          <a:lstStyle/>
          <a:p>
            <a:pPr algn="ctr" indent="0" marL="0">
              <a:buNone/>
            </a:pPr>
            <a:r>
              <a:rPr lang="en-US" sz="1000" b="1" dirty="0">
                <a:solidFill>
                  <a:srgbClr val="1E2761"/>
                </a:solidFill>
                <a:latin typeface="Arial Black" pitchFamily="34" charset="0"/>
                <a:ea typeface="Arial Black" pitchFamily="34" charset="-122"/>
                <a:cs typeface="Arial Black" pitchFamily="34" charset="-120"/>
              </a:rPr>
              <a:t>包装</a:t>
            </a:r>
            <a:endParaRPr lang="en-US" sz="1000" dirty="0"/>
          </a:p>
          <a:p>
            <a:pPr algn="ctr" indent="0" marL="0">
              <a:buNone/>
            </a:pPr>
            <a:r>
              <a:rPr lang="en-US" sz="1000" b="1" dirty="0">
                <a:solidFill>
                  <a:srgbClr val="1E2761"/>
                </a:solidFill>
                <a:latin typeface="Arial Black" pitchFamily="34" charset="0"/>
                <a:ea typeface="Arial Black" pitchFamily="34" charset="-122"/>
                <a:cs typeface="Arial Black" pitchFamily="34" charset="-120"/>
              </a:rPr>
              <a:t>Packaging</a:t>
            </a:r>
            <a:endParaRPr lang="en-US" sz="1000" dirty="0"/>
          </a:p>
        </p:txBody>
      </p:sp>
      <p:sp>
        <p:nvSpPr>
          <p:cNvPr id="60" name="Shape 58"/>
          <p:cNvSpPr/>
          <p:nvPr/>
        </p:nvSpPr>
        <p:spPr>
          <a:xfrm>
            <a:off x="9966960" y="1965960"/>
            <a:ext cx="1737360" cy="36576"/>
          </a:xfrm>
          <a:prstGeom prst="rect">
            <a:avLst/>
          </a:prstGeom>
          <a:solidFill>
            <a:srgbClr val="1E2761"/>
          </a:solidFill>
          <a:ln w="12700">
            <a:solidFill>
              <a:srgbClr val="1E2761"/>
            </a:solidFill>
            <a:prstDash val="solid"/>
          </a:ln>
        </p:spPr>
      </p:sp>
      <p:sp>
        <p:nvSpPr>
          <p:cNvPr id="61" name="Text 59"/>
          <p:cNvSpPr/>
          <p:nvPr/>
        </p:nvSpPr>
        <p:spPr>
          <a:xfrm>
            <a:off x="9966960" y="2057400"/>
            <a:ext cx="1737360" cy="228600"/>
          </a:xfrm>
          <a:prstGeom prst="rect">
            <a:avLst/>
          </a:prstGeom>
          <a:noFill/>
          <a:ln/>
        </p:spPr>
        <p:txBody>
          <a:bodyPr wrap="square"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CT=0.3min</a:t>
            </a:r>
            <a:endParaRPr lang="en-US" sz="900" dirty="0"/>
          </a:p>
        </p:txBody>
      </p:sp>
      <p:sp>
        <p:nvSpPr>
          <p:cNvPr id="62" name="Text 60"/>
          <p:cNvSpPr/>
          <p:nvPr/>
        </p:nvSpPr>
        <p:spPr>
          <a:xfrm>
            <a:off x="9966960" y="2286000"/>
            <a:ext cx="1737360" cy="228600"/>
          </a:xfrm>
          <a:prstGeom prst="rect">
            <a:avLst/>
          </a:prstGeom>
          <a:noFill/>
          <a:ln/>
        </p:spPr>
        <p:txBody>
          <a:bodyPr wrap="square"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UP=98%</a:t>
            </a:r>
            <a:endParaRPr lang="en-US" sz="900" dirty="0"/>
          </a:p>
        </p:txBody>
      </p:sp>
      <p:sp>
        <p:nvSpPr>
          <p:cNvPr id="63" name="Text 61"/>
          <p:cNvSpPr/>
          <p:nvPr/>
        </p:nvSpPr>
        <p:spPr>
          <a:xfrm>
            <a:off x="9966960" y="2514600"/>
            <a:ext cx="173736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Batch=5000</a:t>
            </a:r>
            <a:endParaRPr lang="en-US" sz="800" dirty="0"/>
          </a:p>
        </p:txBody>
      </p:sp>
      <p:sp>
        <p:nvSpPr>
          <p:cNvPr id="64" name="Shape 62"/>
          <p:cNvSpPr/>
          <p:nvPr/>
        </p:nvSpPr>
        <p:spPr>
          <a:xfrm>
            <a:off x="365760" y="3200400"/>
            <a:ext cx="11430000" cy="54864"/>
          </a:xfrm>
          <a:prstGeom prst="rect">
            <a:avLst/>
          </a:prstGeom>
          <a:solidFill>
            <a:srgbClr val="1E2761"/>
          </a:solidFill>
          <a:ln w="12700">
            <a:solidFill>
              <a:srgbClr val="1E2761"/>
            </a:solidFill>
            <a:prstDash val="solid"/>
          </a:ln>
        </p:spPr>
      </p:sp>
      <p:sp>
        <p:nvSpPr>
          <p:cNvPr id="65" name="Text 63"/>
          <p:cNvSpPr/>
          <p:nvPr/>
        </p:nvSpPr>
        <p:spPr>
          <a:xfrm>
            <a:off x="457200" y="3337560"/>
            <a:ext cx="10972800" cy="274320"/>
          </a:xfrm>
          <a:prstGeom prst="rect">
            <a:avLst/>
          </a:prstGeom>
          <a:noFill/>
          <a:ln/>
        </p:spPr>
        <p:txBody>
          <a:bodyPr wrap="square" rtlCol="0" anchor="ctr"/>
          <a:lstStyle/>
          <a:p>
            <a:pPr indent="0" marL="0">
              <a:buNone/>
            </a:pPr>
            <a:r>
              <a:rPr lang="en-US" sz="1200" b="1" dirty="0">
                <a:solidFill>
                  <a:srgbClr val="1E2761"/>
                </a:solidFill>
                <a:latin typeface="Arial Black" pitchFamily="34" charset="0"/>
                <a:ea typeface="Arial Black" pitchFamily="34" charset="-122"/>
                <a:cs typeface="Arial Black" pitchFamily="34" charset="-120"/>
              </a:rPr>
              <a:t>Lead Time = CT之和(49.9min) + 等待时间(~72h) = ~75h</a:t>
            </a:r>
            <a:endParaRPr lang="en-US" sz="1200" dirty="0"/>
          </a:p>
        </p:txBody>
      </p:sp>
      <p:sp>
        <p:nvSpPr>
          <p:cNvPr id="66" name="Shape 64"/>
          <p:cNvSpPr/>
          <p:nvPr/>
        </p:nvSpPr>
        <p:spPr>
          <a:xfrm>
            <a:off x="365760" y="3749040"/>
            <a:ext cx="2651760" cy="1097280"/>
          </a:xfrm>
          <a:prstGeom prst="roundRect">
            <a:avLst>
              <a:gd name="adj" fmla="val 6667"/>
            </a:avLst>
          </a:prstGeom>
          <a:solidFill>
            <a:srgbClr val="FFFFFF"/>
          </a:solidFill>
          <a:ln/>
          <a:effectLst>
            <a:outerShdw sx="100000" sy="100000" kx="0" ky="0" algn="bl" rotWithShape="0" blurRad="50800" dist="12700" dir="8100000">
              <a:srgbClr val="000000">
                <a:alpha val="8000"/>
              </a:srgbClr>
            </a:outerShdw>
          </a:effectLst>
        </p:spPr>
      </p:sp>
      <p:sp>
        <p:nvSpPr>
          <p:cNvPr id="67" name="Shape 65"/>
          <p:cNvSpPr/>
          <p:nvPr/>
        </p:nvSpPr>
        <p:spPr>
          <a:xfrm>
            <a:off x="365760" y="3749040"/>
            <a:ext cx="2651760" cy="237744"/>
          </a:xfrm>
          <a:prstGeom prst="rect">
            <a:avLst/>
          </a:prstGeom>
          <a:solidFill>
            <a:srgbClr val="059669"/>
          </a:solidFill>
          <a:ln w="12700">
            <a:solidFill>
              <a:srgbClr val="059669"/>
            </a:solidFill>
            <a:prstDash val="solid"/>
          </a:ln>
        </p:spPr>
      </p:sp>
      <p:sp>
        <p:nvSpPr>
          <p:cNvPr id="68" name="Text 66"/>
          <p:cNvSpPr/>
          <p:nvPr/>
        </p:nvSpPr>
        <p:spPr>
          <a:xfrm>
            <a:off x="365760" y="3767328"/>
            <a:ext cx="2651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加工时间</a:t>
            </a:r>
            <a:endParaRPr lang="en-US" sz="900" dirty="0"/>
          </a:p>
          <a:p>
            <a:pPr algn="ctr" indent="0" marL="0">
              <a:buNone/>
            </a:pPr>
            <a:r>
              <a:rPr lang="en-US" sz="900" b="1" dirty="0">
                <a:solidFill>
                  <a:srgbClr val="FFFFFF"/>
                </a:solidFill>
                <a:latin typeface="Arial Black" pitchFamily="34" charset="0"/>
                <a:ea typeface="Arial Black" pitchFamily="34" charset="-122"/>
                <a:cs typeface="Arial Black" pitchFamily="34" charset="-120"/>
              </a:rPr>
              <a:t>Processing</a:t>
            </a:r>
            <a:endParaRPr lang="en-US" sz="900" dirty="0"/>
          </a:p>
        </p:txBody>
      </p:sp>
      <p:sp>
        <p:nvSpPr>
          <p:cNvPr id="69" name="Text 67"/>
          <p:cNvSpPr/>
          <p:nvPr/>
        </p:nvSpPr>
        <p:spPr>
          <a:xfrm>
            <a:off x="365760" y="4069080"/>
            <a:ext cx="2651760" cy="457200"/>
          </a:xfrm>
          <a:prstGeom prst="rect">
            <a:avLst/>
          </a:prstGeom>
          <a:noFill/>
          <a:ln/>
        </p:spPr>
        <p:txBody>
          <a:bodyPr wrap="square" rtlCol="0" anchor="ctr"/>
          <a:lstStyle/>
          <a:p>
            <a:pPr algn="ctr" indent="0" marL="0">
              <a:buNone/>
            </a:pPr>
            <a:r>
              <a:rPr lang="en-US" sz="2000" b="1" dirty="0">
                <a:solidFill>
                  <a:srgbClr val="059669"/>
                </a:solidFill>
                <a:latin typeface="Arial Black" pitchFamily="34" charset="0"/>
                <a:ea typeface="Arial Black" pitchFamily="34" charset="-122"/>
                <a:cs typeface="Arial Black" pitchFamily="34" charset="-120"/>
              </a:rPr>
              <a:t>49.9</a:t>
            </a:r>
            <a:endParaRPr lang="en-US" sz="2000" dirty="0"/>
          </a:p>
          <a:p>
            <a:pPr algn="ctr" indent="0" marL="0">
              <a:buNone/>
            </a:pPr>
            <a:r>
              <a:rPr lang="en-US" sz="2000" b="1" dirty="0">
                <a:solidFill>
                  <a:srgbClr val="059669"/>
                </a:solidFill>
                <a:latin typeface="Arial Black" pitchFamily="34" charset="0"/>
                <a:ea typeface="Arial Black" pitchFamily="34" charset="-122"/>
                <a:cs typeface="Arial Black" pitchFamily="34" charset="-120"/>
              </a:rPr>
              <a:t>min</a:t>
            </a:r>
            <a:endParaRPr lang="en-US" sz="2000" dirty="0"/>
          </a:p>
        </p:txBody>
      </p:sp>
      <p:sp>
        <p:nvSpPr>
          <p:cNvPr id="70" name="Shape 68"/>
          <p:cNvSpPr/>
          <p:nvPr/>
        </p:nvSpPr>
        <p:spPr>
          <a:xfrm>
            <a:off x="3200400" y="3749040"/>
            <a:ext cx="2651760" cy="1097280"/>
          </a:xfrm>
          <a:prstGeom prst="roundRect">
            <a:avLst>
              <a:gd name="adj" fmla="val 6667"/>
            </a:avLst>
          </a:prstGeom>
          <a:solidFill>
            <a:srgbClr val="FFFFFF"/>
          </a:solidFill>
          <a:ln/>
          <a:effectLst>
            <a:outerShdw sx="100000" sy="100000" kx="0" ky="0" algn="bl" rotWithShape="0" blurRad="50800" dist="12700" dir="8100000">
              <a:srgbClr val="000000">
                <a:alpha val="8000"/>
              </a:srgbClr>
            </a:outerShdw>
          </a:effectLst>
        </p:spPr>
      </p:sp>
      <p:sp>
        <p:nvSpPr>
          <p:cNvPr id="71" name="Shape 69"/>
          <p:cNvSpPr/>
          <p:nvPr/>
        </p:nvSpPr>
        <p:spPr>
          <a:xfrm>
            <a:off x="3200400" y="3749040"/>
            <a:ext cx="2651760" cy="237744"/>
          </a:xfrm>
          <a:prstGeom prst="rect">
            <a:avLst/>
          </a:prstGeom>
          <a:solidFill>
            <a:srgbClr val="DC2626"/>
          </a:solidFill>
          <a:ln w="12700">
            <a:solidFill>
              <a:srgbClr val="DC2626"/>
            </a:solidFill>
            <a:prstDash val="solid"/>
          </a:ln>
        </p:spPr>
      </p:sp>
      <p:sp>
        <p:nvSpPr>
          <p:cNvPr id="72" name="Text 70"/>
          <p:cNvSpPr/>
          <p:nvPr/>
        </p:nvSpPr>
        <p:spPr>
          <a:xfrm>
            <a:off x="3200400" y="3767328"/>
            <a:ext cx="2651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等待时间</a:t>
            </a:r>
            <a:endParaRPr lang="en-US" sz="900" dirty="0"/>
          </a:p>
          <a:p>
            <a:pPr algn="ctr" indent="0" marL="0">
              <a:buNone/>
            </a:pPr>
            <a:r>
              <a:rPr lang="en-US" sz="900" b="1" dirty="0">
                <a:solidFill>
                  <a:srgbClr val="FFFFFF"/>
                </a:solidFill>
                <a:latin typeface="Arial Black" pitchFamily="34" charset="0"/>
                <a:ea typeface="Arial Black" pitchFamily="34" charset="-122"/>
                <a:cs typeface="Arial Black" pitchFamily="34" charset="-120"/>
              </a:rPr>
              <a:t>Waiting</a:t>
            </a:r>
            <a:endParaRPr lang="en-US" sz="900" dirty="0"/>
          </a:p>
        </p:txBody>
      </p:sp>
      <p:sp>
        <p:nvSpPr>
          <p:cNvPr id="73" name="Text 71"/>
          <p:cNvSpPr/>
          <p:nvPr/>
        </p:nvSpPr>
        <p:spPr>
          <a:xfrm>
            <a:off x="3200400" y="4069080"/>
            <a:ext cx="2651760" cy="457200"/>
          </a:xfrm>
          <a:prstGeom prst="rect">
            <a:avLst/>
          </a:prstGeom>
          <a:noFill/>
          <a:ln/>
        </p:spPr>
        <p:txBody>
          <a:bodyPr wrap="square" rtlCol="0" anchor="ctr"/>
          <a:lstStyle/>
          <a:p>
            <a:pPr algn="ctr" indent="0" marL="0">
              <a:buNone/>
            </a:pPr>
            <a:r>
              <a:rPr lang="en-US" sz="2000" b="1" dirty="0">
                <a:solidFill>
                  <a:srgbClr val="DC2626"/>
                </a:solidFill>
                <a:latin typeface="Arial Black" pitchFamily="34" charset="0"/>
                <a:ea typeface="Arial Black" pitchFamily="34" charset="-122"/>
                <a:cs typeface="Arial Black" pitchFamily="34" charset="-120"/>
              </a:rPr>
              <a:t>~72</a:t>
            </a:r>
            <a:endParaRPr lang="en-US" sz="2000" dirty="0"/>
          </a:p>
          <a:p>
            <a:pPr algn="ctr" indent="0" marL="0">
              <a:buNone/>
            </a:pPr>
            <a:r>
              <a:rPr lang="en-US" sz="2000" b="1" dirty="0">
                <a:solidFill>
                  <a:srgbClr val="DC2626"/>
                </a:solidFill>
                <a:latin typeface="Arial Black" pitchFamily="34" charset="0"/>
                <a:ea typeface="Arial Black" pitchFamily="34" charset="-122"/>
                <a:cs typeface="Arial Black" pitchFamily="34" charset="-120"/>
              </a:rPr>
              <a:t>hour</a:t>
            </a:r>
            <a:endParaRPr lang="en-US" sz="2000" dirty="0"/>
          </a:p>
        </p:txBody>
      </p:sp>
      <p:sp>
        <p:nvSpPr>
          <p:cNvPr id="74" name="Shape 72"/>
          <p:cNvSpPr/>
          <p:nvPr/>
        </p:nvSpPr>
        <p:spPr>
          <a:xfrm>
            <a:off x="6035040" y="3749040"/>
            <a:ext cx="2651760" cy="1097280"/>
          </a:xfrm>
          <a:prstGeom prst="roundRect">
            <a:avLst>
              <a:gd name="adj" fmla="val 6667"/>
            </a:avLst>
          </a:prstGeom>
          <a:solidFill>
            <a:srgbClr val="FFFFFF"/>
          </a:solidFill>
          <a:ln/>
          <a:effectLst>
            <a:outerShdw sx="100000" sy="100000" kx="0" ky="0" algn="bl" rotWithShape="0" blurRad="50800" dist="12700" dir="8100000">
              <a:srgbClr val="000000">
                <a:alpha val="8000"/>
              </a:srgbClr>
            </a:outerShdw>
          </a:effectLst>
        </p:spPr>
      </p:sp>
      <p:sp>
        <p:nvSpPr>
          <p:cNvPr id="75" name="Shape 73"/>
          <p:cNvSpPr/>
          <p:nvPr/>
        </p:nvSpPr>
        <p:spPr>
          <a:xfrm>
            <a:off x="6035040" y="3749040"/>
            <a:ext cx="2651760" cy="237744"/>
          </a:xfrm>
          <a:prstGeom prst="rect">
            <a:avLst/>
          </a:prstGeom>
          <a:solidFill>
            <a:srgbClr val="1E2761"/>
          </a:solidFill>
          <a:ln w="12700">
            <a:solidFill>
              <a:srgbClr val="1E2761"/>
            </a:solidFill>
            <a:prstDash val="solid"/>
          </a:ln>
        </p:spPr>
      </p:sp>
      <p:sp>
        <p:nvSpPr>
          <p:cNvPr id="76" name="Text 74"/>
          <p:cNvSpPr/>
          <p:nvPr/>
        </p:nvSpPr>
        <p:spPr>
          <a:xfrm>
            <a:off x="6035040" y="3767328"/>
            <a:ext cx="2651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交付周期</a:t>
            </a:r>
            <a:endParaRPr lang="en-US" sz="900" dirty="0"/>
          </a:p>
          <a:p>
            <a:pPr algn="ctr" indent="0" marL="0">
              <a:buNone/>
            </a:pPr>
            <a:r>
              <a:rPr lang="en-US" sz="900" b="1" dirty="0">
                <a:solidFill>
                  <a:srgbClr val="FFFFFF"/>
                </a:solidFill>
                <a:latin typeface="Arial Black" pitchFamily="34" charset="0"/>
                <a:ea typeface="Arial Black" pitchFamily="34" charset="-122"/>
                <a:cs typeface="Arial Black" pitchFamily="34" charset="-120"/>
              </a:rPr>
              <a:t>Lead Time</a:t>
            </a:r>
            <a:endParaRPr lang="en-US" sz="900" dirty="0"/>
          </a:p>
        </p:txBody>
      </p:sp>
      <p:sp>
        <p:nvSpPr>
          <p:cNvPr id="77" name="Text 75"/>
          <p:cNvSpPr/>
          <p:nvPr/>
        </p:nvSpPr>
        <p:spPr>
          <a:xfrm>
            <a:off x="6035040" y="4069080"/>
            <a:ext cx="2651760" cy="457200"/>
          </a:xfrm>
          <a:prstGeom prst="rect">
            <a:avLst/>
          </a:prstGeom>
          <a:noFill/>
          <a:ln/>
        </p:spPr>
        <p:txBody>
          <a:bodyPr wrap="square" rtlCol="0" anchor="ctr"/>
          <a:lstStyle/>
          <a:p>
            <a:pPr algn="ctr" indent="0" marL="0">
              <a:buNone/>
            </a:pPr>
            <a:r>
              <a:rPr lang="en-US" sz="2000" b="1" dirty="0">
                <a:solidFill>
                  <a:srgbClr val="1E2761"/>
                </a:solidFill>
                <a:latin typeface="Arial Black" pitchFamily="34" charset="0"/>
                <a:ea typeface="Arial Black" pitchFamily="34" charset="-122"/>
                <a:cs typeface="Arial Black" pitchFamily="34" charset="-120"/>
              </a:rPr>
              <a:t>~75</a:t>
            </a:r>
            <a:endParaRPr lang="en-US" sz="2000" dirty="0"/>
          </a:p>
          <a:p>
            <a:pPr algn="ctr" indent="0" marL="0">
              <a:buNone/>
            </a:pPr>
            <a:r>
              <a:rPr lang="en-US" sz="2000" b="1" dirty="0">
                <a:solidFill>
                  <a:srgbClr val="1E2761"/>
                </a:solidFill>
                <a:latin typeface="Arial Black" pitchFamily="34" charset="0"/>
                <a:ea typeface="Arial Black" pitchFamily="34" charset="-122"/>
                <a:cs typeface="Arial Black" pitchFamily="34" charset="-120"/>
              </a:rPr>
              <a:t>hour</a:t>
            </a:r>
            <a:endParaRPr lang="en-US" sz="2000" dirty="0"/>
          </a:p>
        </p:txBody>
      </p:sp>
      <p:sp>
        <p:nvSpPr>
          <p:cNvPr id="78" name="Shape 76"/>
          <p:cNvSpPr/>
          <p:nvPr/>
        </p:nvSpPr>
        <p:spPr>
          <a:xfrm>
            <a:off x="8869680" y="3749040"/>
            <a:ext cx="2651760" cy="1097280"/>
          </a:xfrm>
          <a:prstGeom prst="roundRect">
            <a:avLst>
              <a:gd name="adj" fmla="val 6667"/>
            </a:avLst>
          </a:prstGeom>
          <a:solidFill>
            <a:srgbClr val="FFFFFF"/>
          </a:solidFill>
          <a:ln/>
          <a:effectLst>
            <a:outerShdw sx="100000" sy="100000" kx="0" ky="0" algn="bl" rotWithShape="0" blurRad="50800" dist="12700" dir="8100000">
              <a:srgbClr val="000000">
                <a:alpha val="8000"/>
              </a:srgbClr>
            </a:outerShdw>
          </a:effectLst>
        </p:spPr>
      </p:sp>
      <p:sp>
        <p:nvSpPr>
          <p:cNvPr id="79" name="Shape 77"/>
          <p:cNvSpPr/>
          <p:nvPr/>
        </p:nvSpPr>
        <p:spPr>
          <a:xfrm>
            <a:off x="8869680" y="3749040"/>
            <a:ext cx="2651760" cy="237744"/>
          </a:xfrm>
          <a:prstGeom prst="rect">
            <a:avLst/>
          </a:prstGeom>
          <a:solidFill>
            <a:srgbClr val="D97706"/>
          </a:solidFill>
          <a:ln w="12700">
            <a:solidFill>
              <a:srgbClr val="D97706"/>
            </a:solidFill>
            <a:prstDash val="solid"/>
          </a:ln>
        </p:spPr>
      </p:sp>
      <p:sp>
        <p:nvSpPr>
          <p:cNvPr id="80" name="Text 78"/>
          <p:cNvSpPr/>
          <p:nvPr/>
        </p:nvSpPr>
        <p:spPr>
          <a:xfrm>
            <a:off x="8869680" y="3767328"/>
            <a:ext cx="2651760"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Black" pitchFamily="34" charset="0"/>
                <a:ea typeface="Arial Black" pitchFamily="34" charset="-122"/>
                <a:cs typeface="Arial Black" pitchFamily="34" charset="-120"/>
              </a:rPr>
              <a:t>增值比</a:t>
            </a:r>
            <a:endParaRPr lang="en-US" sz="900" dirty="0"/>
          </a:p>
          <a:p>
            <a:pPr algn="ctr" indent="0" marL="0">
              <a:buNone/>
            </a:pPr>
            <a:r>
              <a:rPr lang="en-US" sz="900" b="1" dirty="0">
                <a:solidFill>
                  <a:srgbClr val="FFFFFF"/>
                </a:solidFill>
                <a:latin typeface="Arial Black" pitchFamily="34" charset="0"/>
                <a:ea typeface="Arial Black" pitchFamily="34" charset="-122"/>
                <a:cs typeface="Arial Black" pitchFamily="34" charset="-120"/>
              </a:rPr>
              <a:t>VA Ratio</a:t>
            </a:r>
            <a:endParaRPr lang="en-US" sz="900" dirty="0"/>
          </a:p>
        </p:txBody>
      </p:sp>
      <p:sp>
        <p:nvSpPr>
          <p:cNvPr id="81" name="Text 79"/>
          <p:cNvSpPr/>
          <p:nvPr/>
        </p:nvSpPr>
        <p:spPr>
          <a:xfrm>
            <a:off x="8869680" y="4069080"/>
            <a:ext cx="2651760" cy="457200"/>
          </a:xfrm>
          <a:prstGeom prst="rect">
            <a:avLst/>
          </a:prstGeom>
          <a:noFill/>
          <a:ln/>
        </p:spPr>
        <p:txBody>
          <a:bodyPr wrap="square" rtlCol="0" anchor="ctr"/>
          <a:lstStyle/>
          <a:p>
            <a:pPr algn="ctr" indent="0" marL="0">
              <a:buNone/>
            </a:pPr>
            <a:r>
              <a:rPr lang="en-US" sz="2000" b="1" dirty="0">
                <a:solidFill>
                  <a:srgbClr val="D97706"/>
                </a:solidFill>
                <a:latin typeface="Arial Black" pitchFamily="34" charset="0"/>
                <a:ea typeface="Arial Black" pitchFamily="34" charset="-122"/>
                <a:cs typeface="Arial Black" pitchFamily="34" charset="-120"/>
              </a:rPr>
              <a:t>1.1</a:t>
            </a:r>
            <a:endParaRPr lang="en-US" sz="2000" dirty="0"/>
          </a:p>
          <a:p>
            <a:pPr algn="ctr" indent="0" marL="0">
              <a:buNone/>
            </a:pPr>
            <a:r>
              <a:rPr lang="en-US" sz="2000" b="1" dirty="0">
                <a:solidFill>
                  <a:srgbClr val="D97706"/>
                </a:solidFill>
                <a:latin typeface="Arial Black" pitchFamily="34" charset="0"/>
                <a:ea typeface="Arial Black" pitchFamily="34" charset="-122"/>
                <a:cs typeface="Arial Black" pitchFamily="34" charset="-120"/>
              </a:rPr>
              <a:t>%</a:t>
            </a:r>
            <a:endParaRPr lang="en-US" sz="2000" dirty="0"/>
          </a:p>
        </p:txBody>
      </p:sp>
      <p:sp>
        <p:nvSpPr>
          <p:cNvPr id="82" name="Shape 80"/>
          <p:cNvSpPr/>
          <p:nvPr/>
        </p:nvSpPr>
        <p:spPr>
          <a:xfrm>
            <a:off x="0" y="6565392"/>
            <a:ext cx="12188952" cy="292608"/>
          </a:xfrm>
          <a:prstGeom prst="rect">
            <a:avLst/>
          </a:prstGeom>
          <a:solidFill>
            <a:srgbClr val="1E2761"/>
          </a:solidFill>
          <a:ln w="12700">
            <a:solidFill>
              <a:srgbClr val="1E2761"/>
            </a:solidFill>
            <a:prstDash val="solid"/>
          </a:ln>
        </p:spPr>
      </p:sp>
      <p:sp>
        <p:nvSpPr>
          <p:cNvPr id="83" name="Text 81"/>
          <p:cNvSpPr/>
          <p:nvPr/>
        </p:nvSpPr>
        <p:spPr>
          <a:xfrm>
            <a:off x="0" y="6565392"/>
            <a:ext cx="12188952" cy="292608"/>
          </a:xfrm>
          <a:prstGeom prst="rect">
            <a:avLst/>
          </a:prstGeom>
          <a:noFill/>
          <a:ln/>
        </p:spPr>
        <p:txBody>
          <a:bodyPr wrap="square" rtlCol="0" anchor="ctr"/>
          <a:lstStyle/>
          <a:p>
            <a:pPr algn="ctr" indent="0" marL="0">
              <a:buNone/>
            </a:pPr>
            <a:r>
              <a:rPr lang="en-US" sz="1100" dirty="0">
                <a:solidFill>
                  <a:srgbClr val="CADCFC"/>
                </a:solidFill>
                <a:latin typeface="Arial" pitchFamily="34" charset="0"/>
                <a:ea typeface="Arial" pitchFamily="34" charset="-122"/>
                <a:cs typeface="Arial" pitchFamily="34" charset="-120"/>
              </a:rPr>
              <a:t>当前状态图揭示真实浪费 | 增值比通常仅1-5%，改善空间巨大</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73152"/>
            <a:ext cx="12188952" cy="6784848"/>
          </a:xfrm>
          <a:prstGeom prst="rect">
            <a:avLst/>
          </a:prstGeom>
          <a:solidFill>
            <a:srgbClr val="F8FAFC"/>
          </a:solidFill>
          <a:ln w="12700">
            <a:solidFill>
              <a:srgbClr val="F8FAFC"/>
            </a:solidFill>
            <a:prstDash val="solid"/>
          </a:ln>
        </p:spPr>
      </p:sp>
      <p:sp>
        <p:nvSpPr>
          <p:cNvPr id="3" name="Shape 1"/>
          <p:cNvSpPr/>
          <p:nvPr/>
        </p:nvSpPr>
        <p:spPr>
          <a:xfrm>
            <a:off x="0" y="0"/>
            <a:ext cx="12188952" cy="73152"/>
          </a:xfrm>
          <a:prstGeom prst="rect">
            <a:avLst/>
          </a:prstGeom>
          <a:solidFill>
            <a:srgbClr val="0D9488"/>
          </a:solidFill>
          <a:ln w="12700">
            <a:solidFill>
              <a:srgbClr val="0D9488"/>
            </a:solidFill>
            <a:prstDash val="solid"/>
          </a:ln>
        </p:spPr>
      </p:sp>
      <p:sp>
        <p:nvSpPr>
          <p:cNvPr id="4" name="Shape 2"/>
          <p:cNvSpPr/>
          <p:nvPr/>
        </p:nvSpPr>
        <p:spPr>
          <a:xfrm>
            <a:off x="0" y="73152"/>
            <a:ext cx="12188952" cy="841248"/>
          </a:xfrm>
          <a:prstGeom prst="rect">
            <a:avLst/>
          </a:prstGeom>
          <a:solidFill>
            <a:srgbClr val="1E2761"/>
          </a:solidFill>
          <a:ln w="12700">
            <a:solidFill>
              <a:srgbClr val="1E2761"/>
            </a:solidFill>
            <a:prstDash val="solid"/>
          </a:ln>
        </p:spPr>
      </p:sp>
      <p:sp>
        <p:nvSpPr>
          <p:cNvPr id="5" name="Text 3"/>
          <p:cNvSpPr/>
          <p:nvPr/>
        </p:nvSpPr>
        <p:spPr>
          <a:xfrm>
            <a:off x="457200" y="109728"/>
            <a:ext cx="11274552" cy="475488"/>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VSM 未来状态图</a:t>
            </a:r>
            <a:endParaRPr lang="en-US" sz="2800" dirty="0"/>
          </a:p>
        </p:txBody>
      </p:sp>
      <p:sp>
        <p:nvSpPr>
          <p:cNvPr id="6" name="Text 4"/>
          <p:cNvSpPr/>
          <p:nvPr/>
        </p:nvSpPr>
        <p:spPr>
          <a:xfrm>
            <a:off x="457200" y="493776"/>
            <a:ext cx="11274552" cy="320040"/>
          </a:xfrm>
          <a:prstGeom prst="rect">
            <a:avLst/>
          </a:prstGeom>
          <a:noFill/>
          <a:ln/>
        </p:spPr>
        <p:txBody>
          <a:bodyPr wrap="square" rtlCol="0" anchor="ctr"/>
          <a:lstStyle/>
          <a:p>
            <a:pPr indent="0" marL="0">
              <a:buNone/>
            </a:pPr>
            <a:r>
              <a:rPr lang="en-US" sz="1400" dirty="0">
                <a:solidFill>
                  <a:srgbClr val="CADCFC"/>
                </a:solidFill>
                <a:latin typeface="Arial" pitchFamily="34" charset="0"/>
                <a:ea typeface="Arial" pitchFamily="34" charset="-122"/>
                <a:cs typeface="Arial" pitchFamily="34" charset="-120"/>
              </a:rPr>
              <a:t>Future State Map — Design Principles</a:t>
            </a:r>
            <a:endParaRPr lang="en-US" sz="1400" dirty="0"/>
          </a:p>
        </p:txBody>
      </p:sp>
      <p:sp>
        <p:nvSpPr>
          <p:cNvPr id="7" name="Text 5"/>
          <p:cNvSpPr/>
          <p:nvPr/>
        </p:nvSpPr>
        <p:spPr>
          <a:xfrm>
            <a:off x="457200" y="1051560"/>
            <a:ext cx="11274552" cy="365760"/>
          </a:xfrm>
          <a:prstGeom prst="rect">
            <a:avLst/>
          </a:prstGeom>
          <a:noFill/>
          <a:ln/>
        </p:spPr>
        <p:txBody>
          <a:bodyPr wrap="square" rtlCol="0" anchor="ctr"/>
          <a:lstStyle/>
          <a:p>
            <a:pPr indent="0" marL="0">
              <a:buNone/>
            </a:pPr>
            <a:r>
              <a:rPr lang="en-US" sz="1600" b="1" dirty="0">
                <a:solidFill>
                  <a:srgbClr val="1E2761"/>
                </a:solidFill>
                <a:latin typeface="Arial Black" pitchFamily="34" charset="0"/>
                <a:ea typeface="Arial Black" pitchFamily="34" charset="-122"/>
                <a:cs typeface="Arial Black" pitchFamily="34" charset="-120"/>
              </a:rPr>
              <a:t>未来状态设计四大原则</a:t>
            </a:r>
            <a:endParaRPr lang="en-US" sz="1600" dirty="0"/>
          </a:p>
        </p:txBody>
      </p:sp>
      <p:sp>
        <p:nvSpPr>
          <p:cNvPr id="8" name="Shape 6"/>
          <p:cNvSpPr/>
          <p:nvPr/>
        </p:nvSpPr>
        <p:spPr>
          <a:xfrm>
            <a:off x="457200" y="1508760"/>
            <a:ext cx="5486400" cy="1325880"/>
          </a:xfrm>
          <a:prstGeom prst="roundRect">
            <a:avLst>
              <a:gd name="adj" fmla="val 5517"/>
            </a:avLst>
          </a:prstGeom>
          <a:solidFill>
            <a:srgbClr val="FFFFFF"/>
          </a:solidFill>
          <a:ln/>
          <a:effectLst>
            <a:outerShdw sx="100000" sy="100000" kx="0" ky="0" algn="bl" rotWithShape="0" blurRad="50800" dist="12700" dir="8100000">
              <a:srgbClr val="000000">
                <a:alpha val="8000"/>
              </a:srgbClr>
            </a:outerShdw>
          </a:effectLst>
        </p:spPr>
      </p:sp>
      <p:sp>
        <p:nvSpPr>
          <p:cNvPr id="9" name="Shape 7"/>
          <p:cNvSpPr/>
          <p:nvPr/>
        </p:nvSpPr>
        <p:spPr>
          <a:xfrm>
            <a:off x="457200" y="1508760"/>
            <a:ext cx="5486400" cy="274320"/>
          </a:xfrm>
          <a:prstGeom prst="rect">
            <a:avLst/>
          </a:prstGeom>
          <a:solidFill>
            <a:srgbClr val="059669"/>
          </a:solidFill>
          <a:ln w="12700">
            <a:solidFill>
              <a:srgbClr val="059669"/>
            </a:solidFill>
            <a:prstDash val="solid"/>
          </a:ln>
        </p:spPr>
      </p:sp>
      <p:sp>
        <p:nvSpPr>
          <p:cNvPr id="10" name="Text 8"/>
          <p:cNvSpPr/>
          <p:nvPr/>
        </p:nvSpPr>
        <p:spPr>
          <a:xfrm>
            <a:off x="594360" y="1527048"/>
            <a:ext cx="521208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按节拍生产 Takt Time</a:t>
            </a:r>
            <a:endParaRPr lang="en-US" sz="1100" dirty="0"/>
          </a:p>
        </p:txBody>
      </p:sp>
      <p:sp>
        <p:nvSpPr>
          <p:cNvPr id="11" name="Text 9"/>
          <p:cNvSpPr/>
          <p:nvPr/>
        </p:nvSpPr>
        <p:spPr>
          <a:xfrm>
            <a:off x="594360" y="1856232"/>
            <a:ext cx="5212080" cy="320040"/>
          </a:xfrm>
          <a:prstGeom prst="rect">
            <a:avLst/>
          </a:prstGeom>
          <a:noFill/>
          <a:ln/>
        </p:spPr>
        <p:txBody>
          <a:bodyPr wrap="square"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根据客户需求速率设定生产节拍</a:t>
            </a:r>
            <a:endParaRPr lang="en-US" sz="1000" dirty="0"/>
          </a:p>
          <a:p>
            <a:pPr algn="ctr" indent="0" marL="0">
              <a:buNone/>
            </a:pPr>
            <a:r>
              <a:rPr lang="en-US" sz="1000" dirty="0">
                <a:solidFill>
                  <a:srgbClr val="1E293B"/>
                </a:solidFill>
                <a:latin typeface="Arial" pitchFamily="34" charset="0"/>
                <a:ea typeface="Arial" pitchFamily="34" charset="-122"/>
                <a:cs typeface="Arial" pitchFamily="34" charset="-120"/>
              </a:rPr>
              <a:t>消除过量生产浪费</a:t>
            </a:r>
            <a:endParaRPr lang="en-US" sz="1000" dirty="0"/>
          </a:p>
        </p:txBody>
      </p:sp>
      <p:sp>
        <p:nvSpPr>
          <p:cNvPr id="12" name="Shape 10"/>
          <p:cNvSpPr/>
          <p:nvPr/>
        </p:nvSpPr>
        <p:spPr>
          <a:xfrm>
            <a:off x="1188720" y="2286000"/>
            <a:ext cx="1097280" cy="320040"/>
          </a:xfrm>
          <a:prstGeom prst="rect">
            <a:avLst>
              <a:gd name="adj" fmla="val 11429"/>
            </a:avLst>
          </a:prstGeom>
          <a:solidFill>
            <a:srgbClr val="059669"/>
          </a:solidFill>
          <a:ln/>
        </p:spPr>
      </p:sp>
      <p:sp>
        <p:nvSpPr>
          <p:cNvPr id="13" name="Text 11"/>
          <p:cNvSpPr/>
          <p:nvPr/>
        </p:nvSpPr>
        <p:spPr>
          <a:xfrm>
            <a:off x="1188720" y="2304288"/>
            <a:ext cx="1097280" cy="274320"/>
          </a:xfrm>
          <a:prstGeom prst="rect">
            <a:avLst/>
          </a:prstGeom>
          <a:noFill/>
          <a:ln/>
        </p:spPr>
        <p:txBody>
          <a:bodyPr wrap="square" rtlCol="0" anchor="ctr"/>
          <a:lstStyle/>
          <a:p>
            <a:pPr algn="ctr" indent="0" marL="0">
              <a:buNone/>
            </a:pPr>
            <a:r>
              <a:rPr lang="en-US" sz="800" dirty="0">
                <a:solidFill>
                  <a:srgbClr val="1E293B"/>
                </a:solidFill>
                <a:latin typeface="Arial" pitchFamily="34" charset="0"/>
                <a:ea typeface="Arial" pitchFamily="34" charset="-122"/>
                <a:cs typeface="Arial" pitchFamily="34" charset="-120"/>
              </a:rPr>
              <a:t>工序A</a:t>
            </a:r>
            <a:endParaRPr lang="en-US" sz="800" dirty="0"/>
          </a:p>
        </p:txBody>
      </p:sp>
      <p:sp>
        <p:nvSpPr>
          <p:cNvPr id="14" name="Shape 12"/>
          <p:cNvSpPr/>
          <p:nvPr/>
        </p:nvSpPr>
        <p:spPr>
          <a:xfrm>
            <a:off x="2286000" y="2331720"/>
            <a:ext cx="274320" cy="228600"/>
          </a:xfrm>
          <a:prstGeom prst="rightArrow">
            <a:avLst/>
          </a:prstGeom>
          <a:solidFill>
            <a:srgbClr val="059669"/>
          </a:solidFill>
          <a:ln w="12700">
            <a:solidFill>
              <a:srgbClr val="059669"/>
            </a:solidFill>
            <a:prstDash val="solid"/>
          </a:ln>
        </p:spPr>
      </p:sp>
      <p:sp>
        <p:nvSpPr>
          <p:cNvPr id="15" name="Shape 13"/>
          <p:cNvSpPr/>
          <p:nvPr/>
        </p:nvSpPr>
        <p:spPr>
          <a:xfrm>
            <a:off x="2560320" y="2286000"/>
            <a:ext cx="1097280" cy="320040"/>
          </a:xfrm>
          <a:prstGeom prst="rect">
            <a:avLst>
              <a:gd name="adj" fmla="val 11429"/>
            </a:avLst>
          </a:prstGeom>
          <a:solidFill>
            <a:srgbClr val="059669"/>
          </a:solidFill>
          <a:ln/>
        </p:spPr>
      </p:sp>
      <p:sp>
        <p:nvSpPr>
          <p:cNvPr id="16" name="Text 14"/>
          <p:cNvSpPr/>
          <p:nvPr/>
        </p:nvSpPr>
        <p:spPr>
          <a:xfrm>
            <a:off x="2560320" y="2304288"/>
            <a:ext cx="1097280" cy="274320"/>
          </a:xfrm>
          <a:prstGeom prst="rect">
            <a:avLst/>
          </a:prstGeom>
          <a:noFill/>
          <a:ln/>
        </p:spPr>
        <p:txBody>
          <a:bodyPr wrap="square" rtlCol="0" anchor="ctr"/>
          <a:lstStyle/>
          <a:p>
            <a:pPr algn="ctr" indent="0" marL="0">
              <a:buNone/>
            </a:pPr>
            <a:r>
              <a:rPr lang="en-US" sz="800" dirty="0">
                <a:solidFill>
                  <a:srgbClr val="1E293B"/>
                </a:solidFill>
                <a:latin typeface="Arial" pitchFamily="34" charset="0"/>
                <a:ea typeface="Arial" pitchFamily="34" charset="-122"/>
                <a:cs typeface="Arial" pitchFamily="34" charset="-120"/>
              </a:rPr>
              <a:t>工序B</a:t>
            </a:r>
            <a:endParaRPr lang="en-US" sz="800" dirty="0"/>
          </a:p>
        </p:txBody>
      </p:sp>
      <p:sp>
        <p:nvSpPr>
          <p:cNvPr id="17" name="Shape 15"/>
          <p:cNvSpPr/>
          <p:nvPr/>
        </p:nvSpPr>
        <p:spPr>
          <a:xfrm>
            <a:off x="6217920" y="1508760"/>
            <a:ext cx="5486400" cy="1325880"/>
          </a:xfrm>
          <a:prstGeom prst="roundRect">
            <a:avLst>
              <a:gd name="adj" fmla="val 5517"/>
            </a:avLst>
          </a:prstGeom>
          <a:solidFill>
            <a:srgbClr val="FFFFFF"/>
          </a:solidFill>
          <a:ln/>
          <a:effectLst>
            <a:outerShdw sx="100000" sy="100000" kx="0" ky="0" algn="bl" rotWithShape="0" blurRad="50800" dist="12700" dir="8100000">
              <a:srgbClr val="000000">
                <a:alpha val="8000"/>
              </a:srgbClr>
            </a:outerShdw>
          </a:effectLst>
        </p:spPr>
      </p:sp>
      <p:sp>
        <p:nvSpPr>
          <p:cNvPr id="18" name="Shape 16"/>
          <p:cNvSpPr/>
          <p:nvPr/>
        </p:nvSpPr>
        <p:spPr>
          <a:xfrm>
            <a:off x="6217920" y="1508760"/>
            <a:ext cx="5486400" cy="274320"/>
          </a:xfrm>
          <a:prstGeom prst="rect">
            <a:avLst/>
          </a:prstGeom>
          <a:solidFill>
            <a:srgbClr val="0D9488"/>
          </a:solidFill>
          <a:ln w="12700">
            <a:solidFill>
              <a:srgbClr val="0D9488"/>
            </a:solidFill>
            <a:prstDash val="solid"/>
          </a:ln>
        </p:spPr>
      </p:sp>
      <p:sp>
        <p:nvSpPr>
          <p:cNvPr id="19" name="Text 17"/>
          <p:cNvSpPr/>
          <p:nvPr/>
        </p:nvSpPr>
        <p:spPr>
          <a:xfrm>
            <a:off x="6355080" y="1527048"/>
            <a:ext cx="521208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连续流 Continuous Flow</a:t>
            </a:r>
            <a:endParaRPr lang="en-US" sz="1100" dirty="0"/>
          </a:p>
        </p:txBody>
      </p:sp>
      <p:sp>
        <p:nvSpPr>
          <p:cNvPr id="20" name="Text 18"/>
          <p:cNvSpPr/>
          <p:nvPr/>
        </p:nvSpPr>
        <p:spPr>
          <a:xfrm>
            <a:off x="6355080" y="1856232"/>
            <a:ext cx="5212080" cy="320040"/>
          </a:xfrm>
          <a:prstGeom prst="rect">
            <a:avLst/>
          </a:prstGeom>
          <a:noFill/>
          <a:ln/>
        </p:spPr>
        <p:txBody>
          <a:bodyPr wrap="square"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消除工序间等待</a:t>
            </a:r>
            <a:endParaRPr lang="en-US" sz="1000" dirty="0"/>
          </a:p>
          <a:p>
            <a:pPr algn="ctr" indent="0" marL="0">
              <a:buNone/>
            </a:pPr>
            <a:r>
              <a:rPr lang="en-US" sz="1000" dirty="0">
                <a:solidFill>
                  <a:srgbClr val="1E293B"/>
                </a:solidFill>
                <a:latin typeface="Arial" pitchFamily="34" charset="0"/>
                <a:ea typeface="Arial" pitchFamily="34" charset="-122"/>
                <a:cs typeface="Arial" pitchFamily="34" charset="-120"/>
              </a:rPr>
              <a:t>实现一件流或小批量流</a:t>
            </a:r>
            <a:endParaRPr lang="en-US" sz="1000" dirty="0"/>
          </a:p>
        </p:txBody>
      </p:sp>
      <p:sp>
        <p:nvSpPr>
          <p:cNvPr id="21" name="Shape 19"/>
          <p:cNvSpPr/>
          <p:nvPr/>
        </p:nvSpPr>
        <p:spPr>
          <a:xfrm>
            <a:off x="6949440" y="2286000"/>
            <a:ext cx="1097280" cy="320040"/>
          </a:xfrm>
          <a:prstGeom prst="rect">
            <a:avLst>
              <a:gd name="adj" fmla="val 11429"/>
            </a:avLst>
          </a:prstGeom>
          <a:solidFill>
            <a:srgbClr val="0D9488"/>
          </a:solidFill>
          <a:ln/>
        </p:spPr>
      </p:sp>
      <p:sp>
        <p:nvSpPr>
          <p:cNvPr id="22" name="Text 20"/>
          <p:cNvSpPr/>
          <p:nvPr/>
        </p:nvSpPr>
        <p:spPr>
          <a:xfrm>
            <a:off x="6949440" y="2304288"/>
            <a:ext cx="1097280" cy="274320"/>
          </a:xfrm>
          <a:prstGeom prst="rect">
            <a:avLst/>
          </a:prstGeom>
          <a:noFill/>
          <a:ln/>
        </p:spPr>
        <p:txBody>
          <a:bodyPr wrap="square" rtlCol="0" anchor="ctr"/>
          <a:lstStyle/>
          <a:p>
            <a:pPr algn="ctr" indent="0" marL="0">
              <a:buNone/>
            </a:pPr>
            <a:r>
              <a:rPr lang="en-US" sz="800" dirty="0">
                <a:solidFill>
                  <a:srgbClr val="1E293B"/>
                </a:solidFill>
                <a:latin typeface="Arial" pitchFamily="34" charset="0"/>
                <a:ea typeface="Arial" pitchFamily="34" charset="-122"/>
                <a:cs typeface="Arial" pitchFamily="34" charset="-120"/>
              </a:rPr>
              <a:t>工序A</a:t>
            </a:r>
            <a:endParaRPr lang="en-US" sz="800" dirty="0"/>
          </a:p>
        </p:txBody>
      </p:sp>
      <p:sp>
        <p:nvSpPr>
          <p:cNvPr id="23" name="Shape 21"/>
          <p:cNvSpPr/>
          <p:nvPr/>
        </p:nvSpPr>
        <p:spPr>
          <a:xfrm>
            <a:off x="8046720" y="2331720"/>
            <a:ext cx="274320" cy="228600"/>
          </a:xfrm>
          <a:prstGeom prst="rightArrow">
            <a:avLst/>
          </a:prstGeom>
          <a:solidFill>
            <a:srgbClr val="0D9488"/>
          </a:solidFill>
          <a:ln w="12700">
            <a:solidFill>
              <a:srgbClr val="0D9488"/>
            </a:solidFill>
            <a:prstDash val="solid"/>
          </a:ln>
        </p:spPr>
      </p:sp>
      <p:sp>
        <p:nvSpPr>
          <p:cNvPr id="24" name="Shape 22"/>
          <p:cNvSpPr/>
          <p:nvPr/>
        </p:nvSpPr>
        <p:spPr>
          <a:xfrm>
            <a:off x="8321040" y="2286000"/>
            <a:ext cx="1097280" cy="320040"/>
          </a:xfrm>
          <a:prstGeom prst="rect">
            <a:avLst>
              <a:gd name="adj" fmla="val 11429"/>
            </a:avLst>
          </a:prstGeom>
          <a:solidFill>
            <a:srgbClr val="0D9488"/>
          </a:solidFill>
          <a:ln/>
        </p:spPr>
      </p:sp>
      <p:sp>
        <p:nvSpPr>
          <p:cNvPr id="25" name="Text 23"/>
          <p:cNvSpPr/>
          <p:nvPr/>
        </p:nvSpPr>
        <p:spPr>
          <a:xfrm>
            <a:off x="8321040" y="2304288"/>
            <a:ext cx="1097280" cy="274320"/>
          </a:xfrm>
          <a:prstGeom prst="rect">
            <a:avLst/>
          </a:prstGeom>
          <a:noFill/>
          <a:ln/>
        </p:spPr>
        <p:txBody>
          <a:bodyPr wrap="square" rtlCol="0" anchor="ctr"/>
          <a:lstStyle/>
          <a:p>
            <a:pPr algn="ctr" indent="0" marL="0">
              <a:buNone/>
            </a:pPr>
            <a:r>
              <a:rPr lang="en-US" sz="800" dirty="0">
                <a:solidFill>
                  <a:srgbClr val="1E293B"/>
                </a:solidFill>
                <a:latin typeface="Arial" pitchFamily="34" charset="0"/>
                <a:ea typeface="Arial" pitchFamily="34" charset="-122"/>
                <a:cs typeface="Arial" pitchFamily="34" charset="-120"/>
              </a:rPr>
              <a:t>工序B</a:t>
            </a:r>
            <a:endParaRPr lang="en-US" sz="800" dirty="0"/>
          </a:p>
        </p:txBody>
      </p:sp>
      <p:sp>
        <p:nvSpPr>
          <p:cNvPr id="26" name="Shape 24"/>
          <p:cNvSpPr/>
          <p:nvPr/>
        </p:nvSpPr>
        <p:spPr>
          <a:xfrm>
            <a:off x="457200" y="2971800"/>
            <a:ext cx="5486400" cy="1325880"/>
          </a:xfrm>
          <a:prstGeom prst="roundRect">
            <a:avLst>
              <a:gd name="adj" fmla="val 5517"/>
            </a:avLst>
          </a:prstGeom>
          <a:solidFill>
            <a:srgbClr val="FFFFFF"/>
          </a:solidFill>
          <a:ln/>
          <a:effectLst>
            <a:outerShdw sx="100000" sy="100000" kx="0" ky="0" algn="bl" rotWithShape="0" blurRad="50800" dist="12700" dir="8100000">
              <a:srgbClr val="000000">
                <a:alpha val="8000"/>
              </a:srgbClr>
            </a:outerShdw>
          </a:effectLst>
        </p:spPr>
      </p:sp>
      <p:sp>
        <p:nvSpPr>
          <p:cNvPr id="27" name="Shape 25"/>
          <p:cNvSpPr/>
          <p:nvPr/>
        </p:nvSpPr>
        <p:spPr>
          <a:xfrm>
            <a:off x="457200" y="2971800"/>
            <a:ext cx="5486400" cy="274320"/>
          </a:xfrm>
          <a:prstGeom prst="rect">
            <a:avLst/>
          </a:prstGeom>
          <a:solidFill>
            <a:srgbClr val="1E2761"/>
          </a:solidFill>
          <a:ln w="12700">
            <a:solidFill>
              <a:srgbClr val="1E2761"/>
            </a:solidFill>
            <a:prstDash val="solid"/>
          </a:ln>
        </p:spPr>
      </p:sp>
      <p:sp>
        <p:nvSpPr>
          <p:cNvPr id="28" name="Text 26"/>
          <p:cNvSpPr/>
          <p:nvPr/>
        </p:nvSpPr>
        <p:spPr>
          <a:xfrm>
            <a:off x="594360" y="2990088"/>
            <a:ext cx="521208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拉动式生产 Pull System</a:t>
            </a:r>
            <a:endParaRPr lang="en-US" sz="1100" dirty="0"/>
          </a:p>
        </p:txBody>
      </p:sp>
      <p:sp>
        <p:nvSpPr>
          <p:cNvPr id="29" name="Text 27"/>
          <p:cNvSpPr/>
          <p:nvPr/>
        </p:nvSpPr>
        <p:spPr>
          <a:xfrm>
            <a:off x="594360" y="3319272"/>
            <a:ext cx="5212080" cy="320040"/>
          </a:xfrm>
          <a:prstGeom prst="rect">
            <a:avLst/>
          </a:prstGeom>
          <a:noFill/>
          <a:ln/>
        </p:spPr>
        <p:txBody>
          <a:bodyPr wrap="square"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后工序向前工序取货</a:t>
            </a:r>
            <a:endParaRPr lang="en-US" sz="1000" dirty="0"/>
          </a:p>
          <a:p>
            <a:pPr algn="ctr" indent="0" marL="0">
              <a:buNone/>
            </a:pPr>
            <a:r>
              <a:rPr lang="en-US" sz="1000" dirty="0">
                <a:solidFill>
                  <a:srgbClr val="1E293B"/>
                </a:solidFill>
                <a:latin typeface="Arial" pitchFamily="34" charset="0"/>
                <a:ea typeface="Arial" pitchFamily="34" charset="-122"/>
                <a:cs typeface="Arial" pitchFamily="34" charset="-120"/>
              </a:rPr>
              <a:t>用看板控制生产</a:t>
            </a:r>
            <a:endParaRPr lang="en-US" sz="1000" dirty="0"/>
          </a:p>
        </p:txBody>
      </p:sp>
      <p:sp>
        <p:nvSpPr>
          <p:cNvPr id="30" name="Shape 28"/>
          <p:cNvSpPr/>
          <p:nvPr/>
        </p:nvSpPr>
        <p:spPr>
          <a:xfrm>
            <a:off x="1188720" y="3749040"/>
            <a:ext cx="1097280" cy="320040"/>
          </a:xfrm>
          <a:prstGeom prst="rect">
            <a:avLst>
              <a:gd name="adj" fmla="val 11429"/>
            </a:avLst>
          </a:prstGeom>
          <a:solidFill>
            <a:srgbClr val="1E2761"/>
          </a:solidFill>
          <a:ln/>
        </p:spPr>
      </p:sp>
      <p:sp>
        <p:nvSpPr>
          <p:cNvPr id="31" name="Text 29"/>
          <p:cNvSpPr/>
          <p:nvPr/>
        </p:nvSpPr>
        <p:spPr>
          <a:xfrm>
            <a:off x="1188720" y="3767328"/>
            <a:ext cx="1097280" cy="274320"/>
          </a:xfrm>
          <a:prstGeom prst="rect">
            <a:avLst/>
          </a:prstGeom>
          <a:noFill/>
          <a:ln/>
        </p:spPr>
        <p:txBody>
          <a:bodyPr wrap="square" rtlCol="0" anchor="ctr"/>
          <a:lstStyle/>
          <a:p>
            <a:pPr algn="ctr" indent="0" marL="0">
              <a:buNone/>
            </a:pPr>
            <a:r>
              <a:rPr lang="en-US" sz="800" dirty="0">
                <a:solidFill>
                  <a:srgbClr val="1E293B"/>
                </a:solidFill>
                <a:latin typeface="Arial" pitchFamily="34" charset="0"/>
                <a:ea typeface="Arial" pitchFamily="34" charset="-122"/>
                <a:cs typeface="Arial" pitchFamily="34" charset="-120"/>
              </a:rPr>
              <a:t>工序A</a:t>
            </a:r>
            <a:endParaRPr lang="en-US" sz="800" dirty="0"/>
          </a:p>
        </p:txBody>
      </p:sp>
      <p:sp>
        <p:nvSpPr>
          <p:cNvPr id="32" name="Shape 30"/>
          <p:cNvSpPr/>
          <p:nvPr/>
        </p:nvSpPr>
        <p:spPr>
          <a:xfrm>
            <a:off x="2286000" y="3794760"/>
            <a:ext cx="274320" cy="228600"/>
          </a:xfrm>
          <a:prstGeom prst="rightArrow">
            <a:avLst/>
          </a:prstGeom>
          <a:solidFill>
            <a:srgbClr val="1E2761"/>
          </a:solidFill>
          <a:ln w="12700">
            <a:solidFill>
              <a:srgbClr val="1E2761"/>
            </a:solidFill>
            <a:prstDash val="solid"/>
          </a:ln>
        </p:spPr>
      </p:sp>
      <p:sp>
        <p:nvSpPr>
          <p:cNvPr id="33" name="Shape 31"/>
          <p:cNvSpPr/>
          <p:nvPr/>
        </p:nvSpPr>
        <p:spPr>
          <a:xfrm>
            <a:off x="2560320" y="3749040"/>
            <a:ext cx="1097280" cy="320040"/>
          </a:xfrm>
          <a:prstGeom prst="rect">
            <a:avLst>
              <a:gd name="adj" fmla="val 11429"/>
            </a:avLst>
          </a:prstGeom>
          <a:solidFill>
            <a:srgbClr val="1E2761"/>
          </a:solidFill>
          <a:ln/>
        </p:spPr>
      </p:sp>
      <p:sp>
        <p:nvSpPr>
          <p:cNvPr id="34" name="Text 32"/>
          <p:cNvSpPr/>
          <p:nvPr/>
        </p:nvSpPr>
        <p:spPr>
          <a:xfrm>
            <a:off x="2560320" y="3767328"/>
            <a:ext cx="1097280" cy="274320"/>
          </a:xfrm>
          <a:prstGeom prst="rect">
            <a:avLst/>
          </a:prstGeom>
          <a:noFill/>
          <a:ln/>
        </p:spPr>
        <p:txBody>
          <a:bodyPr wrap="square" rtlCol="0" anchor="ctr"/>
          <a:lstStyle/>
          <a:p>
            <a:pPr algn="ctr" indent="0" marL="0">
              <a:buNone/>
            </a:pPr>
            <a:r>
              <a:rPr lang="en-US" sz="800" dirty="0">
                <a:solidFill>
                  <a:srgbClr val="1E293B"/>
                </a:solidFill>
                <a:latin typeface="Arial" pitchFamily="34" charset="0"/>
                <a:ea typeface="Arial" pitchFamily="34" charset="-122"/>
                <a:cs typeface="Arial" pitchFamily="34" charset="-120"/>
              </a:rPr>
              <a:t>工序B</a:t>
            </a:r>
            <a:endParaRPr lang="en-US" sz="800" dirty="0"/>
          </a:p>
        </p:txBody>
      </p:sp>
      <p:sp>
        <p:nvSpPr>
          <p:cNvPr id="35" name="Shape 33"/>
          <p:cNvSpPr/>
          <p:nvPr/>
        </p:nvSpPr>
        <p:spPr>
          <a:xfrm>
            <a:off x="6217920" y="2971800"/>
            <a:ext cx="5486400" cy="1325880"/>
          </a:xfrm>
          <a:prstGeom prst="roundRect">
            <a:avLst>
              <a:gd name="adj" fmla="val 5517"/>
            </a:avLst>
          </a:prstGeom>
          <a:solidFill>
            <a:srgbClr val="FFFFFF"/>
          </a:solidFill>
          <a:ln/>
          <a:effectLst>
            <a:outerShdw sx="100000" sy="100000" kx="0" ky="0" algn="bl" rotWithShape="0" blurRad="50800" dist="12700" dir="8100000">
              <a:srgbClr val="000000">
                <a:alpha val="8000"/>
              </a:srgbClr>
            </a:outerShdw>
          </a:effectLst>
        </p:spPr>
      </p:sp>
      <p:sp>
        <p:nvSpPr>
          <p:cNvPr id="36" name="Shape 34"/>
          <p:cNvSpPr/>
          <p:nvPr/>
        </p:nvSpPr>
        <p:spPr>
          <a:xfrm>
            <a:off x="6217920" y="2971800"/>
            <a:ext cx="5486400" cy="274320"/>
          </a:xfrm>
          <a:prstGeom prst="rect">
            <a:avLst/>
          </a:prstGeom>
          <a:solidFill>
            <a:srgbClr val="D97706"/>
          </a:solidFill>
          <a:ln w="12700">
            <a:solidFill>
              <a:srgbClr val="D97706"/>
            </a:solidFill>
            <a:prstDash val="solid"/>
          </a:ln>
        </p:spPr>
      </p:sp>
      <p:sp>
        <p:nvSpPr>
          <p:cNvPr id="37" name="Text 35"/>
          <p:cNvSpPr/>
          <p:nvPr/>
        </p:nvSpPr>
        <p:spPr>
          <a:xfrm>
            <a:off x="6355080" y="2990088"/>
            <a:ext cx="521208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均衡化生产 Heijunka</a:t>
            </a:r>
            <a:endParaRPr lang="en-US" sz="1100" dirty="0"/>
          </a:p>
        </p:txBody>
      </p:sp>
      <p:sp>
        <p:nvSpPr>
          <p:cNvPr id="38" name="Text 36"/>
          <p:cNvSpPr/>
          <p:nvPr/>
        </p:nvSpPr>
        <p:spPr>
          <a:xfrm>
            <a:off x="6355080" y="3319272"/>
            <a:ext cx="5212080" cy="320040"/>
          </a:xfrm>
          <a:prstGeom prst="rect">
            <a:avLst/>
          </a:prstGeom>
          <a:noFill/>
          <a:ln/>
        </p:spPr>
        <p:txBody>
          <a:bodyPr wrap="square" rtlCol="0" anchor="ctr"/>
          <a:lstStyle/>
          <a:p>
            <a:pPr algn="ctr" indent="0" marL="0">
              <a:buNone/>
            </a:pPr>
            <a:r>
              <a:rPr lang="en-US" sz="1000" dirty="0">
                <a:solidFill>
                  <a:srgbClr val="1E293B"/>
                </a:solidFill>
                <a:latin typeface="Arial" pitchFamily="34" charset="0"/>
                <a:ea typeface="Arial" pitchFamily="34" charset="-122"/>
                <a:cs typeface="Arial" pitchFamily="34" charset="-120"/>
              </a:rPr>
              <a:t>平准化产品组合</a:t>
            </a:r>
            <a:endParaRPr lang="en-US" sz="1000" dirty="0"/>
          </a:p>
          <a:p>
            <a:pPr algn="ctr" indent="0" marL="0">
              <a:buNone/>
            </a:pPr>
            <a:r>
              <a:rPr lang="en-US" sz="1000" dirty="0">
                <a:solidFill>
                  <a:srgbClr val="1E293B"/>
                </a:solidFill>
                <a:latin typeface="Arial" pitchFamily="34" charset="0"/>
                <a:ea typeface="Arial" pitchFamily="34" charset="-122"/>
                <a:cs typeface="Arial" pitchFamily="34" charset="-120"/>
              </a:rPr>
              <a:t>减少波动和浪费</a:t>
            </a:r>
            <a:endParaRPr lang="en-US" sz="1000" dirty="0"/>
          </a:p>
        </p:txBody>
      </p:sp>
      <p:sp>
        <p:nvSpPr>
          <p:cNvPr id="39" name="Shape 37"/>
          <p:cNvSpPr/>
          <p:nvPr/>
        </p:nvSpPr>
        <p:spPr>
          <a:xfrm>
            <a:off x="6949440" y="3749040"/>
            <a:ext cx="1097280" cy="320040"/>
          </a:xfrm>
          <a:prstGeom prst="rect">
            <a:avLst>
              <a:gd name="adj" fmla="val 11429"/>
            </a:avLst>
          </a:prstGeom>
          <a:solidFill>
            <a:srgbClr val="D97706"/>
          </a:solidFill>
          <a:ln/>
        </p:spPr>
      </p:sp>
      <p:sp>
        <p:nvSpPr>
          <p:cNvPr id="40" name="Text 38"/>
          <p:cNvSpPr/>
          <p:nvPr/>
        </p:nvSpPr>
        <p:spPr>
          <a:xfrm>
            <a:off x="6949440" y="3767328"/>
            <a:ext cx="1097280" cy="274320"/>
          </a:xfrm>
          <a:prstGeom prst="rect">
            <a:avLst/>
          </a:prstGeom>
          <a:noFill/>
          <a:ln/>
        </p:spPr>
        <p:txBody>
          <a:bodyPr wrap="square" rtlCol="0" anchor="ctr"/>
          <a:lstStyle/>
          <a:p>
            <a:pPr algn="ctr" indent="0" marL="0">
              <a:buNone/>
            </a:pPr>
            <a:r>
              <a:rPr lang="en-US" sz="800" dirty="0">
                <a:solidFill>
                  <a:srgbClr val="1E293B"/>
                </a:solidFill>
                <a:latin typeface="Arial" pitchFamily="34" charset="0"/>
                <a:ea typeface="Arial" pitchFamily="34" charset="-122"/>
                <a:cs typeface="Arial" pitchFamily="34" charset="-120"/>
              </a:rPr>
              <a:t>工序A</a:t>
            </a:r>
            <a:endParaRPr lang="en-US" sz="800" dirty="0"/>
          </a:p>
        </p:txBody>
      </p:sp>
      <p:sp>
        <p:nvSpPr>
          <p:cNvPr id="41" name="Shape 39"/>
          <p:cNvSpPr/>
          <p:nvPr/>
        </p:nvSpPr>
        <p:spPr>
          <a:xfrm>
            <a:off x="8046720" y="3794760"/>
            <a:ext cx="274320" cy="228600"/>
          </a:xfrm>
          <a:prstGeom prst="rightArrow">
            <a:avLst/>
          </a:prstGeom>
          <a:solidFill>
            <a:srgbClr val="D97706"/>
          </a:solidFill>
          <a:ln w="12700">
            <a:solidFill>
              <a:srgbClr val="D97706"/>
            </a:solidFill>
            <a:prstDash val="solid"/>
          </a:ln>
        </p:spPr>
      </p:sp>
      <p:sp>
        <p:nvSpPr>
          <p:cNvPr id="42" name="Shape 40"/>
          <p:cNvSpPr/>
          <p:nvPr/>
        </p:nvSpPr>
        <p:spPr>
          <a:xfrm>
            <a:off x="8321040" y="3749040"/>
            <a:ext cx="1097280" cy="320040"/>
          </a:xfrm>
          <a:prstGeom prst="rect">
            <a:avLst>
              <a:gd name="adj" fmla="val 11429"/>
            </a:avLst>
          </a:prstGeom>
          <a:solidFill>
            <a:srgbClr val="D97706"/>
          </a:solidFill>
          <a:ln/>
        </p:spPr>
      </p:sp>
      <p:sp>
        <p:nvSpPr>
          <p:cNvPr id="43" name="Text 41"/>
          <p:cNvSpPr/>
          <p:nvPr/>
        </p:nvSpPr>
        <p:spPr>
          <a:xfrm>
            <a:off x="8321040" y="3767328"/>
            <a:ext cx="1097280" cy="274320"/>
          </a:xfrm>
          <a:prstGeom prst="rect">
            <a:avLst/>
          </a:prstGeom>
          <a:noFill/>
          <a:ln/>
        </p:spPr>
        <p:txBody>
          <a:bodyPr wrap="square" rtlCol="0" anchor="ctr"/>
          <a:lstStyle/>
          <a:p>
            <a:pPr algn="ctr" indent="0" marL="0">
              <a:buNone/>
            </a:pPr>
            <a:r>
              <a:rPr lang="en-US" sz="800" dirty="0">
                <a:solidFill>
                  <a:srgbClr val="1E293B"/>
                </a:solidFill>
                <a:latin typeface="Arial" pitchFamily="34" charset="0"/>
                <a:ea typeface="Arial" pitchFamily="34" charset="-122"/>
                <a:cs typeface="Arial" pitchFamily="34" charset="-120"/>
              </a:rPr>
              <a:t>工序B</a:t>
            </a:r>
            <a:endParaRPr lang="en-US" sz="800" dirty="0"/>
          </a:p>
        </p:txBody>
      </p:sp>
      <p:sp>
        <p:nvSpPr>
          <p:cNvPr id="44" name="Shape 42"/>
          <p:cNvSpPr/>
          <p:nvPr/>
        </p:nvSpPr>
        <p:spPr>
          <a:xfrm>
            <a:off x="457200" y="4663440"/>
            <a:ext cx="11274552" cy="411480"/>
          </a:xfrm>
          <a:prstGeom prst="roundRect">
            <a:avLst>
              <a:gd name="adj" fmla="val 13333"/>
            </a:avLst>
          </a:prstGeom>
          <a:solidFill>
            <a:srgbClr val="059669"/>
          </a:solidFill>
          <a:ln w="6350">
            <a:solidFill>
              <a:srgbClr val="059669"/>
            </a:solidFill>
            <a:prstDash val="solid"/>
          </a:ln>
        </p:spPr>
      </p:sp>
      <p:sp>
        <p:nvSpPr>
          <p:cNvPr id="45" name="Text 43"/>
          <p:cNvSpPr/>
          <p:nvPr/>
        </p:nvSpPr>
        <p:spPr>
          <a:xfrm>
            <a:off x="457200" y="4681728"/>
            <a:ext cx="11274552" cy="384048"/>
          </a:xfrm>
          <a:prstGeom prst="rect">
            <a:avLst/>
          </a:prstGeom>
          <a:noFill/>
          <a:ln/>
        </p:spPr>
        <p:txBody>
          <a:bodyPr wrap="square" rtlCol="0" anchor="ctr"/>
          <a:lstStyle/>
          <a:p>
            <a:pPr algn="ctr" indent="0" marL="0">
              <a:buNone/>
            </a:pPr>
            <a:r>
              <a:rPr lang="en-US" sz="1300" dirty="0">
                <a:solidFill>
                  <a:srgbClr val="059669"/>
                </a:solidFill>
                <a:latin typeface="Arial Black" pitchFamily="34" charset="0"/>
                <a:ea typeface="Arial Black" pitchFamily="34" charset="-122"/>
                <a:cs typeface="Arial Black" pitchFamily="34" charset="-120"/>
              </a:rPr>
              <a:t>目标指标：Lead Time -50% | 库存 -60% | 增值比 &gt;5% | OEE &gt;85%</a:t>
            </a:r>
            <a:endParaRPr lang="en-US" sz="1300" dirty="0"/>
          </a:p>
        </p:txBody>
      </p:sp>
      <p:sp>
        <p:nvSpPr>
          <p:cNvPr id="46" name="Shape 44"/>
          <p:cNvSpPr/>
          <p:nvPr/>
        </p:nvSpPr>
        <p:spPr>
          <a:xfrm>
            <a:off x="0" y="6565392"/>
            <a:ext cx="12188952" cy="292608"/>
          </a:xfrm>
          <a:prstGeom prst="rect">
            <a:avLst/>
          </a:prstGeom>
          <a:solidFill>
            <a:srgbClr val="1E2761"/>
          </a:solidFill>
          <a:ln w="12700">
            <a:solidFill>
              <a:srgbClr val="1E2761"/>
            </a:solidFill>
            <a:prstDash val="solid"/>
          </a:ln>
        </p:spPr>
      </p:sp>
      <p:sp>
        <p:nvSpPr>
          <p:cNvPr id="47" name="Text 45"/>
          <p:cNvSpPr/>
          <p:nvPr/>
        </p:nvSpPr>
        <p:spPr>
          <a:xfrm>
            <a:off x="0" y="6565392"/>
            <a:ext cx="12188952" cy="292608"/>
          </a:xfrm>
          <a:prstGeom prst="rect">
            <a:avLst/>
          </a:prstGeom>
          <a:noFill/>
          <a:ln/>
        </p:spPr>
        <p:txBody>
          <a:bodyPr wrap="square" rtlCol="0" anchor="ctr"/>
          <a:lstStyle/>
          <a:p>
            <a:pPr algn="ctr" indent="0" marL="0">
              <a:buNone/>
            </a:pPr>
            <a:r>
              <a:rPr lang="en-US" sz="1100" dirty="0">
                <a:solidFill>
                  <a:srgbClr val="CADCFC"/>
                </a:solidFill>
                <a:latin typeface="Arial" pitchFamily="34" charset="0"/>
                <a:ea typeface="Arial" pitchFamily="34" charset="-122"/>
                <a:cs typeface="Arial" pitchFamily="34" charset="-120"/>
              </a:rPr>
              <a:t>未来状态图是改善的蓝图 | 从现状到未来需要分阶段实施</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73152"/>
            <a:ext cx="12188952" cy="6784848"/>
          </a:xfrm>
          <a:prstGeom prst="rect">
            <a:avLst/>
          </a:prstGeom>
          <a:solidFill>
            <a:srgbClr val="F8FAFC"/>
          </a:solidFill>
          <a:ln w="12700">
            <a:solidFill>
              <a:srgbClr val="F8FAFC"/>
            </a:solidFill>
            <a:prstDash val="solid"/>
          </a:ln>
        </p:spPr>
      </p:sp>
      <p:sp>
        <p:nvSpPr>
          <p:cNvPr id="3" name="Shape 1"/>
          <p:cNvSpPr/>
          <p:nvPr/>
        </p:nvSpPr>
        <p:spPr>
          <a:xfrm>
            <a:off x="0" y="0"/>
            <a:ext cx="12188952" cy="73152"/>
          </a:xfrm>
          <a:prstGeom prst="rect">
            <a:avLst/>
          </a:prstGeom>
          <a:solidFill>
            <a:srgbClr val="0D9488"/>
          </a:solidFill>
          <a:ln w="12700">
            <a:solidFill>
              <a:srgbClr val="0D9488"/>
            </a:solidFill>
            <a:prstDash val="solid"/>
          </a:ln>
        </p:spPr>
      </p:sp>
      <p:sp>
        <p:nvSpPr>
          <p:cNvPr id="4" name="Shape 2"/>
          <p:cNvSpPr/>
          <p:nvPr/>
        </p:nvSpPr>
        <p:spPr>
          <a:xfrm>
            <a:off x="0" y="73152"/>
            <a:ext cx="12188952" cy="841248"/>
          </a:xfrm>
          <a:prstGeom prst="rect">
            <a:avLst/>
          </a:prstGeom>
          <a:solidFill>
            <a:srgbClr val="1E2761"/>
          </a:solidFill>
          <a:ln w="12700">
            <a:solidFill>
              <a:srgbClr val="1E2761"/>
            </a:solidFill>
            <a:prstDash val="solid"/>
          </a:ln>
        </p:spPr>
      </p:sp>
      <p:sp>
        <p:nvSpPr>
          <p:cNvPr id="5" name="Text 3"/>
          <p:cNvSpPr/>
          <p:nvPr/>
        </p:nvSpPr>
        <p:spPr>
          <a:xfrm>
            <a:off x="457200" y="109728"/>
            <a:ext cx="11274552" cy="475488"/>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紧固件行业 VSM 应用</a:t>
            </a:r>
            <a:endParaRPr lang="en-US" sz="2800" dirty="0"/>
          </a:p>
        </p:txBody>
      </p:sp>
      <p:sp>
        <p:nvSpPr>
          <p:cNvPr id="6" name="Text 4"/>
          <p:cNvSpPr/>
          <p:nvPr/>
        </p:nvSpPr>
        <p:spPr>
          <a:xfrm>
            <a:off x="457200" y="493776"/>
            <a:ext cx="11274552" cy="320040"/>
          </a:xfrm>
          <a:prstGeom prst="rect">
            <a:avLst/>
          </a:prstGeom>
          <a:noFill/>
          <a:ln/>
        </p:spPr>
        <p:txBody>
          <a:bodyPr wrap="square" rtlCol="0" anchor="ctr"/>
          <a:lstStyle/>
          <a:p>
            <a:pPr indent="0" marL="0">
              <a:buNone/>
            </a:pPr>
            <a:r>
              <a:rPr lang="en-US" sz="1400" dirty="0">
                <a:solidFill>
                  <a:srgbClr val="CADCFC"/>
                </a:solidFill>
                <a:latin typeface="Arial" pitchFamily="34" charset="0"/>
                <a:ea typeface="Arial" pitchFamily="34" charset="-122"/>
                <a:cs typeface="Arial" pitchFamily="34" charset="-120"/>
              </a:rPr>
              <a:t>VSM in Fastener Manufacturing</a:t>
            </a:r>
            <a:endParaRPr lang="en-US" sz="1400" dirty="0"/>
          </a:p>
        </p:txBody>
      </p:sp>
      <p:sp>
        <p:nvSpPr>
          <p:cNvPr id="7" name="Text 5"/>
          <p:cNvSpPr/>
          <p:nvPr/>
        </p:nvSpPr>
        <p:spPr>
          <a:xfrm>
            <a:off x="457200" y="1051560"/>
            <a:ext cx="11274552" cy="365760"/>
          </a:xfrm>
          <a:prstGeom prst="rect">
            <a:avLst/>
          </a:prstGeom>
          <a:noFill/>
          <a:ln/>
        </p:spPr>
        <p:txBody>
          <a:bodyPr wrap="square" rtlCol="0" anchor="ctr"/>
          <a:lstStyle/>
          <a:p>
            <a:pPr indent="0" marL="0">
              <a:buNone/>
            </a:pPr>
            <a:r>
              <a:rPr lang="en-US" sz="1600" b="1" dirty="0">
                <a:solidFill>
                  <a:srgbClr val="1E2761"/>
                </a:solidFill>
                <a:latin typeface="Arial Black" pitchFamily="34" charset="0"/>
                <a:ea typeface="Arial Black" pitchFamily="34" charset="-122"/>
                <a:cs typeface="Arial Black" pitchFamily="34" charset="-120"/>
              </a:rPr>
              <a:t>典型紧固件生产价值流</a:t>
            </a:r>
            <a:endParaRPr lang="en-US" sz="1600" dirty="0"/>
          </a:p>
        </p:txBody>
      </p:sp>
      <p:sp>
        <p:nvSpPr>
          <p:cNvPr id="8" name="Shape 6"/>
          <p:cNvSpPr/>
          <p:nvPr/>
        </p:nvSpPr>
        <p:spPr>
          <a:xfrm>
            <a:off x="274320" y="1554480"/>
            <a:ext cx="1783080" cy="1645920"/>
          </a:xfrm>
          <a:prstGeom prst="roundRect">
            <a:avLst>
              <a:gd name="adj" fmla="val 4444"/>
            </a:avLst>
          </a:prstGeom>
          <a:solidFill>
            <a:srgbClr val="FFFFFF"/>
          </a:solidFill>
          <a:ln/>
          <a:effectLst>
            <a:outerShdw sx="100000" sy="100000" kx="0" ky="0" algn="bl" rotWithShape="0" blurRad="50800" dist="12700" dir="8100000">
              <a:srgbClr val="000000">
                <a:alpha val="8000"/>
              </a:srgbClr>
            </a:outerShdw>
          </a:effectLst>
        </p:spPr>
      </p:sp>
      <p:sp>
        <p:nvSpPr>
          <p:cNvPr id="9" name="Shape 7"/>
          <p:cNvSpPr/>
          <p:nvPr/>
        </p:nvSpPr>
        <p:spPr>
          <a:xfrm>
            <a:off x="274320" y="1554480"/>
            <a:ext cx="1783080" cy="256032"/>
          </a:xfrm>
          <a:prstGeom prst="rect">
            <a:avLst/>
          </a:prstGeom>
          <a:solidFill>
            <a:srgbClr val="1E2761"/>
          </a:solidFill>
          <a:ln w="12700">
            <a:solidFill>
              <a:srgbClr val="1E2761"/>
            </a:solidFill>
            <a:prstDash val="solid"/>
          </a:ln>
        </p:spPr>
      </p:sp>
      <p:sp>
        <p:nvSpPr>
          <p:cNvPr id="10" name="Text 8"/>
          <p:cNvSpPr/>
          <p:nvPr/>
        </p:nvSpPr>
        <p:spPr>
          <a:xfrm>
            <a:off x="274320" y="1572768"/>
            <a:ext cx="178308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冷镦</a:t>
            </a:r>
            <a:endParaRPr lang="en-US" sz="1100" dirty="0"/>
          </a:p>
        </p:txBody>
      </p:sp>
      <p:sp>
        <p:nvSpPr>
          <p:cNvPr id="11" name="Text 9"/>
          <p:cNvSpPr/>
          <p:nvPr/>
        </p:nvSpPr>
        <p:spPr>
          <a:xfrm>
            <a:off x="365760" y="1828800"/>
            <a:ext cx="1600200" cy="182880"/>
          </a:xfrm>
          <a:prstGeom prst="rect">
            <a:avLst/>
          </a:prstGeom>
          <a:noFill/>
          <a:ln/>
        </p:spPr>
        <p:txBody>
          <a:bodyPr wrap="square" rtlCol="0" anchor="ctr"/>
          <a:lstStyle/>
          <a:p>
            <a:pPr algn="ctr" indent="0" marL="0">
              <a:buNone/>
            </a:pPr>
            <a:r>
              <a:rPr lang="en-US" sz="700" dirty="0">
                <a:solidFill>
                  <a:srgbClr val="64748B"/>
                </a:solidFill>
                <a:latin typeface="Arial" pitchFamily="34" charset="0"/>
                <a:ea typeface="Arial" pitchFamily="34" charset="-122"/>
                <a:cs typeface="Arial" pitchFamily="34" charset="-120"/>
              </a:rPr>
              <a:t>Cold Forging</a:t>
            </a:r>
            <a:endParaRPr lang="en-US" sz="700" dirty="0"/>
          </a:p>
        </p:txBody>
      </p:sp>
      <p:sp>
        <p:nvSpPr>
          <p:cNvPr id="12" name="Text 10"/>
          <p:cNvSpPr/>
          <p:nvPr/>
        </p:nvSpPr>
        <p:spPr>
          <a:xfrm>
            <a:off x="365760" y="2057400"/>
            <a:ext cx="1600200" cy="2286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CT: 2.5 min</a:t>
            </a:r>
            <a:endParaRPr lang="en-US" sz="900" dirty="0"/>
          </a:p>
        </p:txBody>
      </p:sp>
      <p:sp>
        <p:nvSpPr>
          <p:cNvPr id="13" name="Text 11"/>
          <p:cNvSpPr/>
          <p:nvPr/>
        </p:nvSpPr>
        <p:spPr>
          <a:xfrm>
            <a:off x="365760" y="2286000"/>
            <a:ext cx="1600200" cy="2286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Uptime: 85%</a:t>
            </a:r>
            <a:endParaRPr lang="en-US" sz="900" dirty="0"/>
          </a:p>
        </p:txBody>
      </p:sp>
      <p:sp>
        <p:nvSpPr>
          <p:cNvPr id="14" name="Text 12"/>
          <p:cNvSpPr/>
          <p:nvPr/>
        </p:nvSpPr>
        <p:spPr>
          <a:xfrm>
            <a:off x="365760" y="2514600"/>
            <a:ext cx="1600200" cy="228600"/>
          </a:xfrm>
          <a:prstGeom prst="rect">
            <a:avLst/>
          </a:prstGeom>
          <a:noFill/>
          <a:ln/>
        </p:spPr>
        <p:txBody>
          <a:bodyPr wrap="square" rtlCol="0" anchor="ctr"/>
          <a:lstStyle/>
          <a:p>
            <a:pPr indent="0" marL="0">
              <a:buNone/>
            </a:pPr>
            <a:r>
              <a:rPr lang="en-US" sz="900" dirty="0">
                <a:solidFill>
                  <a:srgbClr val="D97706"/>
                </a:solidFill>
                <a:latin typeface="Arial" pitchFamily="34" charset="0"/>
                <a:ea typeface="Arial" pitchFamily="34" charset="-122"/>
                <a:cs typeface="Arial" pitchFamily="34" charset="-120"/>
              </a:rPr>
              <a:t>Inventory: 500</a:t>
            </a:r>
            <a:endParaRPr lang="en-US" sz="900" dirty="0"/>
          </a:p>
        </p:txBody>
      </p:sp>
      <p:sp>
        <p:nvSpPr>
          <p:cNvPr id="15" name="Shape 13"/>
          <p:cNvSpPr/>
          <p:nvPr/>
        </p:nvSpPr>
        <p:spPr>
          <a:xfrm>
            <a:off x="457200" y="2834640"/>
            <a:ext cx="1417320" cy="73152"/>
          </a:xfrm>
          <a:prstGeom prst="rect">
            <a:avLst>
              <a:gd name="adj" fmla="val 37500"/>
            </a:avLst>
          </a:prstGeom>
          <a:solidFill>
            <a:srgbClr val="E2E8F0"/>
          </a:solidFill>
          <a:ln/>
        </p:spPr>
      </p:sp>
      <p:sp>
        <p:nvSpPr>
          <p:cNvPr id="16" name="Shape 14"/>
          <p:cNvSpPr/>
          <p:nvPr/>
        </p:nvSpPr>
        <p:spPr>
          <a:xfrm>
            <a:off x="457200" y="2834640"/>
            <a:ext cx="1204722" cy="73152"/>
          </a:xfrm>
          <a:prstGeom prst="rect">
            <a:avLst>
              <a:gd name="adj" fmla="val 37500"/>
            </a:avLst>
          </a:prstGeom>
          <a:solidFill>
            <a:srgbClr val="1E2761"/>
          </a:solidFill>
          <a:ln/>
        </p:spPr>
      </p:sp>
      <p:sp>
        <p:nvSpPr>
          <p:cNvPr id="17" name="Text 15"/>
          <p:cNvSpPr/>
          <p:nvPr/>
        </p:nvSpPr>
        <p:spPr>
          <a:xfrm>
            <a:off x="457200" y="2944368"/>
            <a:ext cx="1417320"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85%</a:t>
            </a:r>
            <a:endParaRPr lang="en-US" sz="800" dirty="0"/>
          </a:p>
        </p:txBody>
      </p:sp>
      <p:sp>
        <p:nvSpPr>
          <p:cNvPr id="18" name="Shape 16"/>
          <p:cNvSpPr/>
          <p:nvPr/>
        </p:nvSpPr>
        <p:spPr>
          <a:xfrm>
            <a:off x="2194560" y="1554480"/>
            <a:ext cx="1783080" cy="1645920"/>
          </a:xfrm>
          <a:prstGeom prst="roundRect">
            <a:avLst>
              <a:gd name="adj" fmla="val 4444"/>
            </a:avLst>
          </a:prstGeom>
          <a:solidFill>
            <a:srgbClr val="FFFFFF"/>
          </a:solidFill>
          <a:ln/>
          <a:effectLst>
            <a:outerShdw sx="100000" sy="100000" kx="0" ky="0" algn="bl" rotWithShape="0" blurRad="50800" dist="12700" dir="8100000">
              <a:srgbClr val="000000">
                <a:alpha val="8000"/>
              </a:srgbClr>
            </a:outerShdw>
          </a:effectLst>
        </p:spPr>
      </p:sp>
      <p:sp>
        <p:nvSpPr>
          <p:cNvPr id="19" name="Shape 17"/>
          <p:cNvSpPr/>
          <p:nvPr/>
        </p:nvSpPr>
        <p:spPr>
          <a:xfrm>
            <a:off x="2194560" y="1554480"/>
            <a:ext cx="1783080" cy="256032"/>
          </a:xfrm>
          <a:prstGeom prst="rect">
            <a:avLst/>
          </a:prstGeom>
          <a:solidFill>
            <a:srgbClr val="0D9488"/>
          </a:solidFill>
          <a:ln w="12700">
            <a:solidFill>
              <a:srgbClr val="0D9488"/>
            </a:solidFill>
            <a:prstDash val="solid"/>
          </a:ln>
        </p:spPr>
      </p:sp>
      <p:sp>
        <p:nvSpPr>
          <p:cNvPr id="20" name="Text 18"/>
          <p:cNvSpPr/>
          <p:nvPr/>
        </p:nvSpPr>
        <p:spPr>
          <a:xfrm>
            <a:off x="2194560" y="1572768"/>
            <a:ext cx="178308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搓丝</a:t>
            </a:r>
            <a:endParaRPr lang="en-US" sz="1100" dirty="0"/>
          </a:p>
        </p:txBody>
      </p:sp>
      <p:sp>
        <p:nvSpPr>
          <p:cNvPr id="21" name="Text 19"/>
          <p:cNvSpPr/>
          <p:nvPr/>
        </p:nvSpPr>
        <p:spPr>
          <a:xfrm>
            <a:off x="2286000" y="1828800"/>
            <a:ext cx="1600200" cy="182880"/>
          </a:xfrm>
          <a:prstGeom prst="rect">
            <a:avLst/>
          </a:prstGeom>
          <a:noFill/>
          <a:ln/>
        </p:spPr>
        <p:txBody>
          <a:bodyPr wrap="square" rtlCol="0" anchor="ctr"/>
          <a:lstStyle/>
          <a:p>
            <a:pPr algn="ctr" indent="0" marL="0">
              <a:buNone/>
            </a:pPr>
            <a:r>
              <a:rPr lang="en-US" sz="700" dirty="0">
                <a:solidFill>
                  <a:srgbClr val="64748B"/>
                </a:solidFill>
                <a:latin typeface="Arial" pitchFamily="34" charset="0"/>
                <a:ea typeface="Arial" pitchFamily="34" charset="-122"/>
                <a:cs typeface="Arial" pitchFamily="34" charset="-120"/>
              </a:rPr>
              <a:t>Thread Roll</a:t>
            </a:r>
            <a:endParaRPr lang="en-US" sz="700" dirty="0"/>
          </a:p>
        </p:txBody>
      </p:sp>
      <p:sp>
        <p:nvSpPr>
          <p:cNvPr id="22" name="Text 20"/>
          <p:cNvSpPr/>
          <p:nvPr/>
        </p:nvSpPr>
        <p:spPr>
          <a:xfrm>
            <a:off x="2286000" y="2057400"/>
            <a:ext cx="1600200" cy="2286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CT: 1.8 min</a:t>
            </a:r>
            <a:endParaRPr lang="en-US" sz="900" dirty="0"/>
          </a:p>
        </p:txBody>
      </p:sp>
      <p:sp>
        <p:nvSpPr>
          <p:cNvPr id="23" name="Text 21"/>
          <p:cNvSpPr/>
          <p:nvPr/>
        </p:nvSpPr>
        <p:spPr>
          <a:xfrm>
            <a:off x="2286000" y="2286000"/>
            <a:ext cx="1600200" cy="2286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Uptime: 90%</a:t>
            </a:r>
            <a:endParaRPr lang="en-US" sz="900" dirty="0"/>
          </a:p>
        </p:txBody>
      </p:sp>
      <p:sp>
        <p:nvSpPr>
          <p:cNvPr id="24" name="Text 22"/>
          <p:cNvSpPr/>
          <p:nvPr/>
        </p:nvSpPr>
        <p:spPr>
          <a:xfrm>
            <a:off x="2286000" y="2514600"/>
            <a:ext cx="1600200" cy="228600"/>
          </a:xfrm>
          <a:prstGeom prst="rect">
            <a:avLst/>
          </a:prstGeom>
          <a:noFill/>
          <a:ln/>
        </p:spPr>
        <p:txBody>
          <a:bodyPr wrap="square" rtlCol="0" anchor="ctr"/>
          <a:lstStyle/>
          <a:p>
            <a:pPr indent="0" marL="0">
              <a:buNone/>
            </a:pPr>
            <a:r>
              <a:rPr lang="en-US" sz="900" dirty="0">
                <a:solidFill>
                  <a:srgbClr val="D97706"/>
                </a:solidFill>
                <a:latin typeface="Arial" pitchFamily="34" charset="0"/>
                <a:ea typeface="Arial" pitchFamily="34" charset="-122"/>
                <a:cs typeface="Arial" pitchFamily="34" charset="-120"/>
              </a:rPr>
              <a:t>Inventory: 700</a:t>
            </a:r>
            <a:endParaRPr lang="en-US" sz="900" dirty="0"/>
          </a:p>
        </p:txBody>
      </p:sp>
      <p:sp>
        <p:nvSpPr>
          <p:cNvPr id="25" name="Shape 23"/>
          <p:cNvSpPr/>
          <p:nvPr/>
        </p:nvSpPr>
        <p:spPr>
          <a:xfrm>
            <a:off x="2377440" y="2834640"/>
            <a:ext cx="1417320" cy="73152"/>
          </a:xfrm>
          <a:prstGeom prst="rect">
            <a:avLst>
              <a:gd name="adj" fmla="val 37500"/>
            </a:avLst>
          </a:prstGeom>
          <a:solidFill>
            <a:srgbClr val="E2E8F0"/>
          </a:solidFill>
          <a:ln/>
        </p:spPr>
      </p:sp>
      <p:sp>
        <p:nvSpPr>
          <p:cNvPr id="26" name="Shape 24"/>
          <p:cNvSpPr/>
          <p:nvPr/>
        </p:nvSpPr>
        <p:spPr>
          <a:xfrm>
            <a:off x="2377440" y="2834640"/>
            <a:ext cx="1275588" cy="73152"/>
          </a:xfrm>
          <a:prstGeom prst="rect">
            <a:avLst>
              <a:gd name="adj" fmla="val 37500"/>
            </a:avLst>
          </a:prstGeom>
          <a:solidFill>
            <a:srgbClr val="0D9488"/>
          </a:solidFill>
          <a:ln/>
        </p:spPr>
      </p:sp>
      <p:sp>
        <p:nvSpPr>
          <p:cNvPr id="27" name="Text 25"/>
          <p:cNvSpPr/>
          <p:nvPr/>
        </p:nvSpPr>
        <p:spPr>
          <a:xfrm>
            <a:off x="2377440" y="2944368"/>
            <a:ext cx="1417320"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90%</a:t>
            </a:r>
            <a:endParaRPr lang="en-US" sz="800" dirty="0"/>
          </a:p>
        </p:txBody>
      </p:sp>
      <p:sp>
        <p:nvSpPr>
          <p:cNvPr id="28" name="Shape 26"/>
          <p:cNvSpPr/>
          <p:nvPr/>
        </p:nvSpPr>
        <p:spPr>
          <a:xfrm>
            <a:off x="4114800" y="1554480"/>
            <a:ext cx="1783080" cy="1645920"/>
          </a:xfrm>
          <a:prstGeom prst="roundRect">
            <a:avLst>
              <a:gd name="adj" fmla="val 4444"/>
            </a:avLst>
          </a:prstGeom>
          <a:solidFill>
            <a:srgbClr val="FFFFFF"/>
          </a:solidFill>
          <a:ln/>
          <a:effectLst>
            <a:outerShdw sx="100000" sy="100000" kx="0" ky="0" algn="bl" rotWithShape="0" blurRad="50800" dist="12700" dir="8100000">
              <a:srgbClr val="000000">
                <a:alpha val="8000"/>
              </a:srgbClr>
            </a:outerShdw>
          </a:effectLst>
        </p:spPr>
      </p:sp>
      <p:sp>
        <p:nvSpPr>
          <p:cNvPr id="29" name="Shape 27"/>
          <p:cNvSpPr/>
          <p:nvPr/>
        </p:nvSpPr>
        <p:spPr>
          <a:xfrm>
            <a:off x="4114800" y="1554480"/>
            <a:ext cx="1783080" cy="256032"/>
          </a:xfrm>
          <a:prstGeom prst="rect">
            <a:avLst/>
          </a:prstGeom>
          <a:solidFill>
            <a:srgbClr val="D97706"/>
          </a:solidFill>
          <a:ln w="12700">
            <a:solidFill>
              <a:srgbClr val="D97706"/>
            </a:solidFill>
            <a:prstDash val="solid"/>
          </a:ln>
        </p:spPr>
      </p:sp>
      <p:sp>
        <p:nvSpPr>
          <p:cNvPr id="30" name="Text 28"/>
          <p:cNvSpPr/>
          <p:nvPr/>
        </p:nvSpPr>
        <p:spPr>
          <a:xfrm>
            <a:off x="4114800" y="1572768"/>
            <a:ext cx="178308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热处理</a:t>
            </a:r>
            <a:endParaRPr lang="en-US" sz="1100" dirty="0"/>
          </a:p>
        </p:txBody>
      </p:sp>
      <p:sp>
        <p:nvSpPr>
          <p:cNvPr id="31" name="Text 29"/>
          <p:cNvSpPr/>
          <p:nvPr/>
        </p:nvSpPr>
        <p:spPr>
          <a:xfrm>
            <a:off x="4206240" y="1828800"/>
            <a:ext cx="1600200" cy="182880"/>
          </a:xfrm>
          <a:prstGeom prst="rect">
            <a:avLst/>
          </a:prstGeom>
          <a:noFill/>
          <a:ln/>
        </p:spPr>
        <p:txBody>
          <a:bodyPr wrap="square" rtlCol="0" anchor="ctr"/>
          <a:lstStyle/>
          <a:p>
            <a:pPr algn="ctr" indent="0" marL="0">
              <a:buNone/>
            </a:pPr>
            <a:r>
              <a:rPr lang="en-US" sz="700" dirty="0">
                <a:solidFill>
                  <a:srgbClr val="64748B"/>
                </a:solidFill>
                <a:latin typeface="Arial" pitchFamily="34" charset="0"/>
                <a:ea typeface="Arial" pitchFamily="34" charset="-122"/>
                <a:cs typeface="Arial" pitchFamily="34" charset="-120"/>
              </a:rPr>
              <a:t>Heat Treat.</a:t>
            </a:r>
            <a:endParaRPr lang="en-US" sz="700" dirty="0"/>
          </a:p>
        </p:txBody>
      </p:sp>
      <p:sp>
        <p:nvSpPr>
          <p:cNvPr id="32" name="Text 30"/>
          <p:cNvSpPr/>
          <p:nvPr/>
        </p:nvSpPr>
        <p:spPr>
          <a:xfrm>
            <a:off x="4206240" y="2057400"/>
            <a:ext cx="1600200" cy="2286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CT: 45 min</a:t>
            </a:r>
            <a:endParaRPr lang="en-US" sz="900" dirty="0"/>
          </a:p>
        </p:txBody>
      </p:sp>
      <p:sp>
        <p:nvSpPr>
          <p:cNvPr id="33" name="Text 31"/>
          <p:cNvSpPr/>
          <p:nvPr/>
        </p:nvSpPr>
        <p:spPr>
          <a:xfrm>
            <a:off x="4206240" y="2286000"/>
            <a:ext cx="1600200" cy="2286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Uptime: 75%</a:t>
            </a:r>
            <a:endParaRPr lang="en-US" sz="900" dirty="0"/>
          </a:p>
        </p:txBody>
      </p:sp>
      <p:sp>
        <p:nvSpPr>
          <p:cNvPr id="34" name="Text 32"/>
          <p:cNvSpPr/>
          <p:nvPr/>
        </p:nvSpPr>
        <p:spPr>
          <a:xfrm>
            <a:off x="4206240" y="2514600"/>
            <a:ext cx="1600200" cy="228600"/>
          </a:xfrm>
          <a:prstGeom prst="rect">
            <a:avLst/>
          </a:prstGeom>
          <a:noFill/>
          <a:ln/>
        </p:spPr>
        <p:txBody>
          <a:bodyPr wrap="square" rtlCol="0" anchor="ctr"/>
          <a:lstStyle/>
          <a:p>
            <a:pPr indent="0" marL="0">
              <a:buNone/>
            </a:pPr>
            <a:r>
              <a:rPr lang="en-US" sz="900" dirty="0">
                <a:solidFill>
                  <a:srgbClr val="D97706"/>
                </a:solidFill>
                <a:latin typeface="Arial" pitchFamily="34" charset="0"/>
                <a:ea typeface="Arial" pitchFamily="34" charset="-122"/>
                <a:cs typeface="Arial" pitchFamily="34" charset="-120"/>
              </a:rPr>
              <a:t>Inventory: 1200</a:t>
            </a:r>
            <a:endParaRPr lang="en-US" sz="900" dirty="0"/>
          </a:p>
        </p:txBody>
      </p:sp>
      <p:sp>
        <p:nvSpPr>
          <p:cNvPr id="35" name="Shape 33"/>
          <p:cNvSpPr/>
          <p:nvPr/>
        </p:nvSpPr>
        <p:spPr>
          <a:xfrm>
            <a:off x="4297680" y="2834640"/>
            <a:ext cx="1417320" cy="73152"/>
          </a:xfrm>
          <a:prstGeom prst="rect">
            <a:avLst>
              <a:gd name="adj" fmla="val 37500"/>
            </a:avLst>
          </a:prstGeom>
          <a:solidFill>
            <a:srgbClr val="E2E8F0"/>
          </a:solidFill>
          <a:ln/>
        </p:spPr>
      </p:sp>
      <p:sp>
        <p:nvSpPr>
          <p:cNvPr id="36" name="Shape 34"/>
          <p:cNvSpPr/>
          <p:nvPr/>
        </p:nvSpPr>
        <p:spPr>
          <a:xfrm>
            <a:off x="4297680" y="2834640"/>
            <a:ext cx="1062990" cy="73152"/>
          </a:xfrm>
          <a:prstGeom prst="rect">
            <a:avLst>
              <a:gd name="adj" fmla="val 37500"/>
            </a:avLst>
          </a:prstGeom>
          <a:solidFill>
            <a:srgbClr val="D97706"/>
          </a:solidFill>
          <a:ln/>
        </p:spPr>
      </p:sp>
      <p:sp>
        <p:nvSpPr>
          <p:cNvPr id="37" name="Text 35"/>
          <p:cNvSpPr/>
          <p:nvPr/>
        </p:nvSpPr>
        <p:spPr>
          <a:xfrm>
            <a:off x="4297680" y="2944368"/>
            <a:ext cx="1417320"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75%</a:t>
            </a:r>
            <a:endParaRPr lang="en-US" sz="800" dirty="0"/>
          </a:p>
        </p:txBody>
      </p:sp>
      <p:sp>
        <p:nvSpPr>
          <p:cNvPr id="38" name="Shape 36"/>
          <p:cNvSpPr/>
          <p:nvPr/>
        </p:nvSpPr>
        <p:spPr>
          <a:xfrm>
            <a:off x="6035040" y="1554480"/>
            <a:ext cx="1783080" cy="1645920"/>
          </a:xfrm>
          <a:prstGeom prst="roundRect">
            <a:avLst>
              <a:gd name="adj" fmla="val 4444"/>
            </a:avLst>
          </a:prstGeom>
          <a:solidFill>
            <a:srgbClr val="FFFFFF"/>
          </a:solidFill>
          <a:ln/>
          <a:effectLst>
            <a:outerShdw sx="100000" sy="100000" kx="0" ky="0" algn="bl" rotWithShape="0" blurRad="50800" dist="12700" dir="8100000">
              <a:srgbClr val="000000">
                <a:alpha val="8000"/>
              </a:srgbClr>
            </a:outerShdw>
          </a:effectLst>
        </p:spPr>
      </p:sp>
      <p:sp>
        <p:nvSpPr>
          <p:cNvPr id="39" name="Shape 37"/>
          <p:cNvSpPr/>
          <p:nvPr/>
        </p:nvSpPr>
        <p:spPr>
          <a:xfrm>
            <a:off x="6035040" y="1554480"/>
            <a:ext cx="1783080" cy="256032"/>
          </a:xfrm>
          <a:prstGeom prst="rect">
            <a:avLst/>
          </a:prstGeom>
          <a:solidFill>
            <a:srgbClr val="DC2626"/>
          </a:solidFill>
          <a:ln w="12700">
            <a:solidFill>
              <a:srgbClr val="DC2626"/>
            </a:solidFill>
            <a:prstDash val="solid"/>
          </a:ln>
        </p:spPr>
      </p:sp>
      <p:sp>
        <p:nvSpPr>
          <p:cNvPr id="40" name="Text 38"/>
          <p:cNvSpPr/>
          <p:nvPr/>
        </p:nvSpPr>
        <p:spPr>
          <a:xfrm>
            <a:off x="6035040" y="1572768"/>
            <a:ext cx="178308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表面处理</a:t>
            </a:r>
            <a:endParaRPr lang="en-US" sz="1100" dirty="0"/>
          </a:p>
        </p:txBody>
      </p:sp>
      <p:sp>
        <p:nvSpPr>
          <p:cNvPr id="41" name="Text 39"/>
          <p:cNvSpPr/>
          <p:nvPr/>
        </p:nvSpPr>
        <p:spPr>
          <a:xfrm>
            <a:off x="6126480" y="1828800"/>
            <a:ext cx="1600200" cy="182880"/>
          </a:xfrm>
          <a:prstGeom prst="rect">
            <a:avLst/>
          </a:prstGeom>
          <a:noFill/>
          <a:ln/>
        </p:spPr>
        <p:txBody>
          <a:bodyPr wrap="square" rtlCol="0" anchor="ctr"/>
          <a:lstStyle/>
          <a:p>
            <a:pPr algn="ctr" indent="0" marL="0">
              <a:buNone/>
            </a:pPr>
            <a:r>
              <a:rPr lang="en-US" sz="700" dirty="0">
                <a:solidFill>
                  <a:srgbClr val="64748B"/>
                </a:solidFill>
                <a:latin typeface="Arial" pitchFamily="34" charset="0"/>
                <a:ea typeface="Arial" pitchFamily="34" charset="-122"/>
                <a:cs typeface="Arial" pitchFamily="34" charset="-120"/>
              </a:rPr>
              <a:t>Surface Tr.</a:t>
            </a:r>
            <a:endParaRPr lang="en-US" sz="700" dirty="0"/>
          </a:p>
        </p:txBody>
      </p:sp>
      <p:sp>
        <p:nvSpPr>
          <p:cNvPr id="42" name="Text 40"/>
          <p:cNvSpPr/>
          <p:nvPr/>
        </p:nvSpPr>
        <p:spPr>
          <a:xfrm>
            <a:off x="6126480" y="2057400"/>
            <a:ext cx="1600200" cy="2286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CT: 30 min</a:t>
            </a:r>
            <a:endParaRPr lang="en-US" sz="900" dirty="0"/>
          </a:p>
        </p:txBody>
      </p:sp>
      <p:sp>
        <p:nvSpPr>
          <p:cNvPr id="43" name="Text 41"/>
          <p:cNvSpPr/>
          <p:nvPr/>
        </p:nvSpPr>
        <p:spPr>
          <a:xfrm>
            <a:off x="6126480" y="2286000"/>
            <a:ext cx="1600200" cy="2286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Uptime: 80%</a:t>
            </a:r>
            <a:endParaRPr lang="en-US" sz="900" dirty="0"/>
          </a:p>
        </p:txBody>
      </p:sp>
      <p:sp>
        <p:nvSpPr>
          <p:cNvPr id="44" name="Text 42"/>
          <p:cNvSpPr/>
          <p:nvPr/>
        </p:nvSpPr>
        <p:spPr>
          <a:xfrm>
            <a:off x="6126480" y="2514600"/>
            <a:ext cx="1600200" cy="228600"/>
          </a:xfrm>
          <a:prstGeom prst="rect">
            <a:avLst/>
          </a:prstGeom>
          <a:noFill/>
          <a:ln/>
        </p:spPr>
        <p:txBody>
          <a:bodyPr wrap="square" rtlCol="0" anchor="ctr"/>
          <a:lstStyle/>
          <a:p>
            <a:pPr indent="0" marL="0">
              <a:buNone/>
            </a:pPr>
            <a:r>
              <a:rPr lang="en-US" sz="900" dirty="0">
                <a:solidFill>
                  <a:srgbClr val="D97706"/>
                </a:solidFill>
                <a:latin typeface="Arial" pitchFamily="34" charset="0"/>
                <a:ea typeface="Arial" pitchFamily="34" charset="-122"/>
                <a:cs typeface="Arial" pitchFamily="34" charset="-120"/>
              </a:rPr>
              <a:t>Inventory: 1000</a:t>
            </a:r>
            <a:endParaRPr lang="en-US" sz="900" dirty="0"/>
          </a:p>
        </p:txBody>
      </p:sp>
      <p:sp>
        <p:nvSpPr>
          <p:cNvPr id="45" name="Shape 43"/>
          <p:cNvSpPr/>
          <p:nvPr/>
        </p:nvSpPr>
        <p:spPr>
          <a:xfrm>
            <a:off x="6217920" y="2834640"/>
            <a:ext cx="1417320" cy="73152"/>
          </a:xfrm>
          <a:prstGeom prst="rect">
            <a:avLst>
              <a:gd name="adj" fmla="val 37500"/>
            </a:avLst>
          </a:prstGeom>
          <a:solidFill>
            <a:srgbClr val="E2E8F0"/>
          </a:solidFill>
          <a:ln/>
        </p:spPr>
      </p:sp>
      <p:sp>
        <p:nvSpPr>
          <p:cNvPr id="46" name="Shape 44"/>
          <p:cNvSpPr/>
          <p:nvPr/>
        </p:nvSpPr>
        <p:spPr>
          <a:xfrm>
            <a:off x="6217920" y="2834640"/>
            <a:ext cx="1133856" cy="73152"/>
          </a:xfrm>
          <a:prstGeom prst="rect">
            <a:avLst>
              <a:gd name="adj" fmla="val 37500"/>
            </a:avLst>
          </a:prstGeom>
          <a:solidFill>
            <a:srgbClr val="DC2626"/>
          </a:solidFill>
          <a:ln/>
        </p:spPr>
      </p:sp>
      <p:sp>
        <p:nvSpPr>
          <p:cNvPr id="47" name="Text 45"/>
          <p:cNvSpPr/>
          <p:nvPr/>
        </p:nvSpPr>
        <p:spPr>
          <a:xfrm>
            <a:off x="6217920" y="2944368"/>
            <a:ext cx="1417320"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80%</a:t>
            </a:r>
            <a:endParaRPr lang="en-US" sz="800" dirty="0"/>
          </a:p>
        </p:txBody>
      </p:sp>
      <p:sp>
        <p:nvSpPr>
          <p:cNvPr id="48" name="Shape 46"/>
          <p:cNvSpPr/>
          <p:nvPr/>
        </p:nvSpPr>
        <p:spPr>
          <a:xfrm>
            <a:off x="7955280" y="1554480"/>
            <a:ext cx="1783080" cy="1645920"/>
          </a:xfrm>
          <a:prstGeom prst="roundRect">
            <a:avLst>
              <a:gd name="adj" fmla="val 4444"/>
            </a:avLst>
          </a:prstGeom>
          <a:solidFill>
            <a:srgbClr val="FFFFFF"/>
          </a:solidFill>
          <a:ln/>
          <a:effectLst>
            <a:outerShdw sx="100000" sy="100000" kx="0" ky="0" algn="bl" rotWithShape="0" blurRad="50800" dist="12700" dir="8100000">
              <a:srgbClr val="000000">
                <a:alpha val="8000"/>
              </a:srgbClr>
            </a:outerShdw>
          </a:effectLst>
        </p:spPr>
      </p:sp>
      <p:sp>
        <p:nvSpPr>
          <p:cNvPr id="49" name="Shape 47"/>
          <p:cNvSpPr/>
          <p:nvPr/>
        </p:nvSpPr>
        <p:spPr>
          <a:xfrm>
            <a:off x="7955280" y="1554480"/>
            <a:ext cx="1783080" cy="256032"/>
          </a:xfrm>
          <a:prstGeom prst="rect">
            <a:avLst/>
          </a:prstGeom>
          <a:solidFill>
            <a:srgbClr val="059669"/>
          </a:solidFill>
          <a:ln w="12700">
            <a:solidFill>
              <a:srgbClr val="059669"/>
            </a:solidFill>
            <a:prstDash val="solid"/>
          </a:ln>
        </p:spPr>
      </p:sp>
      <p:sp>
        <p:nvSpPr>
          <p:cNvPr id="50" name="Text 48"/>
          <p:cNvSpPr/>
          <p:nvPr/>
        </p:nvSpPr>
        <p:spPr>
          <a:xfrm>
            <a:off x="7955280" y="1572768"/>
            <a:ext cx="178308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分选</a:t>
            </a:r>
            <a:endParaRPr lang="en-US" sz="1100" dirty="0"/>
          </a:p>
        </p:txBody>
      </p:sp>
      <p:sp>
        <p:nvSpPr>
          <p:cNvPr id="51" name="Text 49"/>
          <p:cNvSpPr/>
          <p:nvPr/>
        </p:nvSpPr>
        <p:spPr>
          <a:xfrm>
            <a:off x="8046720" y="1828800"/>
            <a:ext cx="1600200" cy="182880"/>
          </a:xfrm>
          <a:prstGeom prst="rect">
            <a:avLst/>
          </a:prstGeom>
          <a:noFill/>
          <a:ln/>
        </p:spPr>
        <p:txBody>
          <a:bodyPr wrap="square" rtlCol="0" anchor="ctr"/>
          <a:lstStyle/>
          <a:p>
            <a:pPr algn="ctr" indent="0" marL="0">
              <a:buNone/>
            </a:pPr>
            <a:r>
              <a:rPr lang="en-US" sz="700" dirty="0">
                <a:solidFill>
                  <a:srgbClr val="64748B"/>
                </a:solidFill>
                <a:latin typeface="Arial" pitchFamily="34" charset="0"/>
                <a:ea typeface="Arial" pitchFamily="34" charset="-122"/>
                <a:cs typeface="Arial" pitchFamily="34" charset="-120"/>
              </a:rPr>
              <a:t>Inspection</a:t>
            </a:r>
            <a:endParaRPr lang="en-US" sz="700" dirty="0"/>
          </a:p>
        </p:txBody>
      </p:sp>
      <p:sp>
        <p:nvSpPr>
          <p:cNvPr id="52" name="Text 50"/>
          <p:cNvSpPr/>
          <p:nvPr/>
        </p:nvSpPr>
        <p:spPr>
          <a:xfrm>
            <a:off x="8046720" y="2057400"/>
            <a:ext cx="1600200" cy="2286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CT: 0.5 min</a:t>
            </a:r>
            <a:endParaRPr lang="en-US" sz="900" dirty="0"/>
          </a:p>
        </p:txBody>
      </p:sp>
      <p:sp>
        <p:nvSpPr>
          <p:cNvPr id="53" name="Text 51"/>
          <p:cNvSpPr/>
          <p:nvPr/>
        </p:nvSpPr>
        <p:spPr>
          <a:xfrm>
            <a:off x="8046720" y="2286000"/>
            <a:ext cx="1600200" cy="2286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Uptime: 95%</a:t>
            </a:r>
            <a:endParaRPr lang="en-US" sz="900" dirty="0"/>
          </a:p>
        </p:txBody>
      </p:sp>
      <p:sp>
        <p:nvSpPr>
          <p:cNvPr id="54" name="Text 52"/>
          <p:cNvSpPr/>
          <p:nvPr/>
        </p:nvSpPr>
        <p:spPr>
          <a:xfrm>
            <a:off x="8046720" y="2514600"/>
            <a:ext cx="1600200" cy="228600"/>
          </a:xfrm>
          <a:prstGeom prst="rect">
            <a:avLst/>
          </a:prstGeom>
          <a:noFill/>
          <a:ln/>
        </p:spPr>
        <p:txBody>
          <a:bodyPr wrap="square" rtlCol="0" anchor="ctr"/>
          <a:lstStyle/>
          <a:p>
            <a:pPr indent="0" marL="0">
              <a:buNone/>
            </a:pPr>
            <a:r>
              <a:rPr lang="en-US" sz="900" dirty="0">
                <a:solidFill>
                  <a:srgbClr val="D97706"/>
                </a:solidFill>
                <a:latin typeface="Arial" pitchFamily="34" charset="0"/>
                <a:ea typeface="Arial" pitchFamily="34" charset="-122"/>
                <a:cs typeface="Arial" pitchFamily="34" charset="-120"/>
              </a:rPr>
              <a:t>Inventory: 300</a:t>
            </a:r>
            <a:endParaRPr lang="en-US" sz="900" dirty="0"/>
          </a:p>
        </p:txBody>
      </p:sp>
      <p:sp>
        <p:nvSpPr>
          <p:cNvPr id="55" name="Shape 53"/>
          <p:cNvSpPr/>
          <p:nvPr/>
        </p:nvSpPr>
        <p:spPr>
          <a:xfrm>
            <a:off x="8138160" y="2834640"/>
            <a:ext cx="1417320" cy="73152"/>
          </a:xfrm>
          <a:prstGeom prst="rect">
            <a:avLst>
              <a:gd name="adj" fmla="val 37500"/>
            </a:avLst>
          </a:prstGeom>
          <a:solidFill>
            <a:srgbClr val="E2E8F0"/>
          </a:solidFill>
          <a:ln/>
        </p:spPr>
      </p:sp>
      <p:sp>
        <p:nvSpPr>
          <p:cNvPr id="56" name="Shape 54"/>
          <p:cNvSpPr/>
          <p:nvPr/>
        </p:nvSpPr>
        <p:spPr>
          <a:xfrm>
            <a:off x="8138160" y="2834640"/>
            <a:ext cx="1346454" cy="73152"/>
          </a:xfrm>
          <a:prstGeom prst="rect">
            <a:avLst>
              <a:gd name="adj" fmla="val 37500"/>
            </a:avLst>
          </a:prstGeom>
          <a:solidFill>
            <a:srgbClr val="059669"/>
          </a:solidFill>
          <a:ln/>
        </p:spPr>
      </p:sp>
      <p:sp>
        <p:nvSpPr>
          <p:cNvPr id="57" name="Text 55"/>
          <p:cNvSpPr/>
          <p:nvPr/>
        </p:nvSpPr>
        <p:spPr>
          <a:xfrm>
            <a:off x="8138160" y="2944368"/>
            <a:ext cx="1417320"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95%</a:t>
            </a:r>
            <a:endParaRPr lang="en-US" sz="800" dirty="0"/>
          </a:p>
        </p:txBody>
      </p:sp>
      <p:sp>
        <p:nvSpPr>
          <p:cNvPr id="58" name="Shape 56"/>
          <p:cNvSpPr/>
          <p:nvPr/>
        </p:nvSpPr>
        <p:spPr>
          <a:xfrm>
            <a:off x="9875520" y="1554480"/>
            <a:ext cx="1783080" cy="1645920"/>
          </a:xfrm>
          <a:prstGeom prst="roundRect">
            <a:avLst>
              <a:gd name="adj" fmla="val 4444"/>
            </a:avLst>
          </a:prstGeom>
          <a:solidFill>
            <a:srgbClr val="FFFFFF"/>
          </a:solidFill>
          <a:ln/>
          <a:effectLst>
            <a:outerShdw sx="100000" sy="100000" kx="0" ky="0" algn="bl" rotWithShape="0" blurRad="50800" dist="12700" dir="8100000">
              <a:srgbClr val="000000">
                <a:alpha val="8000"/>
              </a:srgbClr>
            </a:outerShdw>
          </a:effectLst>
        </p:spPr>
      </p:sp>
      <p:sp>
        <p:nvSpPr>
          <p:cNvPr id="59" name="Shape 57"/>
          <p:cNvSpPr/>
          <p:nvPr/>
        </p:nvSpPr>
        <p:spPr>
          <a:xfrm>
            <a:off x="9875520" y="1554480"/>
            <a:ext cx="1783080" cy="256032"/>
          </a:xfrm>
          <a:prstGeom prst="rect">
            <a:avLst/>
          </a:prstGeom>
          <a:solidFill>
            <a:srgbClr val="0D9488"/>
          </a:solidFill>
          <a:ln w="12700">
            <a:solidFill>
              <a:srgbClr val="0D9488"/>
            </a:solidFill>
            <a:prstDash val="solid"/>
          </a:ln>
        </p:spPr>
      </p:sp>
      <p:sp>
        <p:nvSpPr>
          <p:cNvPr id="60" name="Text 58"/>
          <p:cNvSpPr/>
          <p:nvPr/>
        </p:nvSpPr>
        <p:spPr>
          <a:xfrm>
            <a:off x="9875520" y="1572768"/>
            <a:ext cx="178308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包装</a:t>
            </a:r>
            <a:endParaRPr lang="en-US" sz="1100" dirty="0"/>
          </a:p>
        </p:txBody>
      </p:sp>
      <p:sp>
        <p:nvSpPr>
          <p:cNvPr id="61" name="Text 59"/>
          <p:cNvSpPr/>
          <p:nvPr/>
        </p:nvSpPr>
        <p:spPr>
          <a:xfrm>
            <a:off x="9966960" y="1828800"/>
            <a:ext cx="1600200" cy="182880"/>
          </a:xfrm>
          <a:prstGeom prst="rect">
            <a:avLst/>
          </a:prstGeom>
          <a:noFill/>
          <a:ln/>
        </p:spPr>
        <p:txBody>
          <a:bodyPr wrap="square" rtlCol="0" anchor="ctr"/>
          <a:lstStyle/>
          <a:p>
            <a:pPr algn="ctr" indent="0" marL="0">
              <a:buNone/>
            </a:pPr>
            <a:r>
              <a:rPr lang="en-US" sz="700" dirty="0">
                <a:solidFill>
                  <a:srgbClr val="64748B"/>
                </a:solidFill>
                <a:latin typeface="Arial" pitchFamily="34" charset="0"/>
                <a:ea typeface="Arial" pitchFamily="34" charset="-122"/>
                <a:cs typeface="Arial" pitchFamily="34" charset="-120"/>
              </a:rPr>
              <a:t>Packaging</a:t>
            </a:r>
            <a:endParaRPr lang="en-US" sz="700" dirty="0"/>
          </a:p>
        </p:txBody>
      </p:sp>
      <p:sp>
        <p:nvSpPr>
          <p:cNvPr id="62" name="Text 60"/>
          <p:cNvSpPr/>
          <p:nvPr/>
        </p:nvSpPr>
        <p:spPr>
          <a:xfrm>
            <a:off x="9966960" y="2057400"/>
            <a:ext cx="1600200" cy="2286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CT: 0.3 min</a:t>
            </a:r>
            <a:endParaRPr lang="en-US" sz="900" dirty="0"/>
          </a:p>
        </p:txBody>
      </p:sp>
      <p:sp>
        <p:nvSpPr>
          <p:cNvPr id="63" name="Text 61"/>
          <p:cNvSpPr/>
          <p:nvPr/>
        </p:nvSpPr>
        <p:spPr>
          <a:xfrm>
            <a:off x="9966960" y="2286000"/>
            <a:ext cx="1600200" cy="22860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Uptime: 98%</a:t>
            </a:r>
            <a:endParaRPr lang="en-US" sz="900" dirty="0"/>
          </a:p>
        </p:txBody>
      </p:sp>
      <p:sp>
        <p:nvSpPr>
          <p:cNvPr id="64" name="Text 62"/>
          <p:cNvSpPr/>
          <p:nvPr/>
        </p:nvSpPr>
        <p:spPr>
          <a:xfrm>
            <a:off x="9966960" y="2514600"/>
            <a:ext cx="1600200" cy="228600"/>
          </a:xfrm>
          <a:prstGeom prst="rect">
            <a:avLst/>
          </a:prstGeom>
          <a:noFill/>
          <a:ln/>
        </p:spPr>
        <p:txBody>
          <a:bodyPr wrap="square" rtlCol="0" anchor="ctr"/>
          <a:lstStyle/>
          <a:p>
            <a:pPr indent="0" marL="0">
              <a:buNone/>
            </a:pPr>
            <a:r>
              <a:rPr lang="en-US" sz="900" dirty="0">
                <a:solidFill>
                  <a:srgbClr val="D97706"/>
                </a:solidFill>
                <a:latin typeface="Arial" pitchFamily="34" charset="0"/>
                <a:ea typeface="Arial" pitchFamily="34" charset="-122"/>
                <a:cs typeface="Arial" pitchFamily="34" charset="-120"/>
              </a:rPr>
              <a:t>Inventory: 200</a:t>
            </a:r>
            <a:endParaRPr lang="en-US" sz="900" dirty="0"/>
          </a:p>
        </p:txBody>
      </p:sp>
      <p:sp>
        <p:nvSpPr>
          <p:cNvPr id="65" name="Shape 63"/>
          <p:cNvSpPr/>
          <p:nvPr/>
        </p:nvSpPr>
        <p:spPr>
          <a:xfrm>
            <a:off x="10058400" y="2834640"/>
            <a:ext cx="1417320" cy="73152"/>
          </a:xfrm>
          <a:prstGeom prst="rect">
            <a:avLst>
              <a:gd name="adj" fmla="val 37500"/>
            </a:avLst>
          </a:prstGeom>
          <a:solidFill>
            <a:srgbClr val="E2E8F0"/>
          </a:solidFill>
          <a:ln/>
        </p:spPr>
      </p:sp>
      <p:sp>
        <p:nvSpPr>
          <p:cNvPr id="66" name="Shape 64"/>
          <p:cNvSpPr/>
          <p:nvPr/>
        </p:nvSpPr>
        <p:spPr>
          <a:xfrm>
            <a:off x="10058400" y="2834640"/>
            <a:ext cx="1388974" cy="73152"/>
          </a:xfrm>
          <a:prstGeom prst="rect">
            <a:avLst>
              <a:gd name="adj" fmla="val 37500"/>
            </a:avLst>
          </a:prstGeom>
          <a:solidFill>
            <a:srgbClr val="0D9488"/>
          </a:solidFill>
          <a:ln/>
        </p:spPr>
      </p:sp>
      <p:sp>
        <p:nvSpPr>
          <p:cNvPr id="67" name="Text 65"/>
          <p:cNvSpPr/>
          <p:nvPr/>
        </p:nvSpPr>
        <p:spPr>
          <a:xfrm>
            <a:off x="10058400" y="2944368"/>
            <a:ext cx="1417320"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98%</a:t>
            </a:r>
            <a:endParaRPr lang="en-US" sz="800" dirty="0"/>
          </a:p>
        </p:txBody>
      </p:sp>
      <p:sp>
        <p:nvSpPr>
          <p:cNvPr id="68" name="Shape 66"/>
          <p:cNvSpPr/>
          <p:nvPr/>
        </p:nvSpPr>
        <p:spPr>
          <a:xfrm>
            <a:off x="457200" y="3474720"/>
            <a:ext cx="11274552" cy="1463040"/>
          </a:xfrm>
          <a:prstGeom prst="roundRect">
            <a:avLst>
              <a:gd name="adj" fmla="val 6250"/>
            </a:avLst>
          </a:prstGeom>
          <a:solidFill>
            <a:srgbClr val="1E2761"/>
          </a:solidFill>
          <a:ln/>
        </p:spPr>
      </p:sp>
      <p:sp>
        <p:nvSpPr>
          <p:cNvPr id="69" name="Text 67"/>
          <p:cNvSpPr/>
          <p:nvPr/>
        </p:nvSpPr>
        <p:spPr>
          <a:xfrm>
            <a:off x="731520" y="3566160"/>
            <a:ext cx="10698480" cy="320040"/>
          </a:xfrm>
          <a:prstGeom prst="rect">
            <a:avLst/>
          </a:prstGeom>
          <a:noFill/>
          <a:ln/>
        </p:spPr>
        <p:txBody>
          <a:bodyPr wrap="square" rtlCol="0" anchor="ctr"/>
          <a:lstStyle/>
          <a:p>
            <a:pPr indent="0" marL="0">
              <a:buNone/>
            </a:pPr>
            <a:r>
              <a:rPr lang="en-US" sz="1400" b="1" dirty="0">
                <a:solidFill>
                  <a:srgbClr val="1E2761"/>
                </a:solidFill>
                <a:latin typeface="Arial Black" pitchFamily="34" charset="0"/>
                <a:ea typeface="Arial Black" pitchFamily="34" charset="-122"/>
                <a:cs typeface="Arial Black" pitchFamily="34" charset="-120"/>
              </a:rPr>
              <a:t>关键改善机会</a:t>
            </a:r>
            <a:endParaRPr lang="en-US" sz="1400" dirty="0"/>
          </a:p>
        </p:txBody>
      </p:sp>
      <p:sp>
        <p:nvSpPr>
          <p:cNvPr id="70" name="Shape 68"/>
          <p:cNvSpPr/>
          <p:nvPr/>
        </p:nvSpPr>
        <p:spPr>
          <a:xfrm>
            <a:off x="731520" y="3931920"/>
            <a:ext cx="2560320" cy="914400"/>
          </a:xfrm>
          <a:prstGeom prst="roundRect">
            <a:avLst>
              <a:gd name="adj" fmla="val 8000"/>
            </a:avLst>
          </a:prstGeom>
          <a:solidFill>
            <a:srgbClr val="FFFFFF"/>
          </a:solidFill>
          <a:ln/>
        </p:spPr>
      </p:sp>
      <p:sp>
        <p:nvSpPr>
          <p:cNvPr id="71" name="Shape 69"/>
          <p:cNvSpPr/>
          <p:nvPr/>
        </p:nvSpPr>
        <p:spPr>
          <a:xfrm>
            <a:off x="731520" y="3931920"/>
            <a:ext cx="2560320" cy="201168"/>
          </a:xfrm>
          <a:prstGeom prst="rect">
            <a:avLst/>
          </a:prstGeom>
          <a:solidFill>
            <a:srgbClr val="DC2626"/>
          </a:solidFill>
          <a:ln w="12700">
            <a:solidFill>
              <a:srgbClr val="DC2626"/>
            </a:solidFill>
            <a:prstDash val="solid"/>
          </a:ln>
        </p:spPr>
      </p:sp>
      <p:sp>
        <p:nvSpPr>
          <p:cNvPr id="72" name="Text 70"/>
          <p:cNvSpPr/>
          <p:nvPr/>
        </p:nvSpPr>
        <p:spPr>
          <a:xfrm>
            <a:off x="822960" y="3950208"/>
            <a:ext cx="2377440" cy="182880"/>
          </a:xfrm>
          <a:prstGeom prst="rect">
            <a:avLst/>
          </a:prstGeom>
          <a:noFill/>
          <a:ln/>
        </p:spPr>
        <p:txBody>
          <a:bodyPr wrap="square" lIns="0" tIns="0" rIns="0" bIns="0" rtlCol="0" anchor="ctr"/>
          <a:lstStyle/>
          <a:p>
            <a:pPr indent="0" marL="0">
              <a:buNone/>
            </a:pPr>
            <a:r>
              <a:rPr lang="en-US" sz="900" b="1" dirty="0">
                <a:solidFill>
                  <a:srgbClr val="FFFFFF"/>
                </a:solidFill>
                <a:latin typeface="Arial Black" pitchFamily="34" charset="0"/>
                <a:ea typeface="Arial Black" pitchFamily="34" charset="-122"/>
                <a:cs typeface="Arial Black" pitchFamily="34" charset="-120"/>
              </a:rPr>
              <a:t>01 热处理瓶颈</a:t>
            </a:r>
            <a:endParaRPr lang="en-US" sz="900" dirty="0"/>
          </a:p>
        </p:txBody>
      </p:sp>
      <p:sp>
        <p:nvSpPr>
          <p:cNvPr id="73" name="Text 71"/>
          <p:cNvSpPr/>
          <p:nvPr/>
        </p:nvSpPr>
        <p:spPr>
          <a:xfrm>
            <a:off x="822960" y="4187952"/>
            <a:ext cx="2377440" cy="594360"/>
          </a:xfrm>
          <a:prstGeom prst="rect">
            <a:avLst/>
          </a:prstGeom>
          <a:noFill/>
          <a:ln/>
        </p:spPr>
        <p:txBody>
          <a:bodyPr wrap="square" rtlCol="0" anchor="t"/>
          <a:lstStyle/>
          <a:p>
            <a:pPr indent="0" marL="0">
              <a:buNone/>
            </a:pPr>
            <a:r>
              <a:rPr lang="en-US" sz="800" dirty="0">
                <a:solidFill>
                  <a:srgbClr val="1E293B"/>
                </a:solidFill>
                <a:latin typeface="Arial" pitchFamily="34" charset="0"/>
                <a:ea typeface="Arial" pitchFamily="34" charset="-122"/>
                <a:cs typeface="Arial" pitchFamily="34" charset="-120"/>
              </a:rPr>
              <a:t>CT=45min是最大瓶颈，建议增加设备或优化装炉量</a:t>
            </a:r>
            <a:endParaRPr lang="en-US" sz="800" dirty="0"/>
          </a:p>
        </p:txBody>
      </p:sp>
      <p:sp>
        <p:nvSpPr>
          <p:cNvPr id="74" name="Shape 72"/>
          <p:cNvSpPr/>
          <p:nvPr/>
        </p:nvSpPr>
        <p:spPr>
          <a:xfrm>
            <a:off x="3474720" y="3931920"/>
            <a:ext cx="2560320" cy="914400"/>
          </a:xfrm>
          <a:prstGeom prst="roundRect">
            <a:avLst>
              <a:gd name="adj" fmla="val 8000"/>
            </a:avLst>
          </a:prstGeom>
          <a:solidFill>
            <a:srgbClr val="FFFFFF"/>
          </a:solidFill>
          <a:ln/>
        </p:spPr>
      </p:sp>
      <p:sp>
        <p:nvSpPr>
          <p:cNvPr id="75" name="Shape 73"/>
          <p:cNvSpPr/>
          <p:nvPr/>
        </p:nvSpPr>
        <p:spPr>
          <a:xfrm>
            <a:off x="3474720" y="3931920"/>
            <a:ext cx="2560320" cy="201168"/>
          </a:xfrm>
          <a:prstGeom prst="rect">
            <a:avLst/>
          </a:prstGeom>
          <a:solidFill>
            <a:srgbClr val="D97706"/>
          </a:solidFill>
          <a:ln w="12700">
            <a:solidFill>
              <a:srgbClr val="D97706"/>
            </a:solidFill>
            <a:prstDash val="solid"/>
          </a:ln>
        </p:spPr>
      </p:sp>
      <p:sp>
        <p:nvSpPr>
          <p:cNvPr id="76" name="Text 74"/>
          <p:cNvSpPr/>
          <p:nvPr/>
        </p:nvSpPr>
        <p:spPr>
          <a:xfrm>
            <a:off x="3566160" y="3950208"/>
            <a:ext cx="2377440" cy="182880"/>
          </a:xfrm>
          <a:prstGeom prst="rect">
            <a:avLst/>
          </a:prstGeom>
          <a:noFill/>
          <a:ln/>
        </p:spPr>
        <p:txBody>
          <a:bodyPr wrap="square" lIns="0" tIns="0" rIns="0" bIns="0" rtlCol="0" anchor="ctr"/>
          <a:lstStyle/>
          <a:p>
            <a:pPr indent="0" marL="0">
              <a:buNone/>
            </a:pPr>
            <a:r>
              <a:rPr lang="en-US" sz="900" b="1" dirty="0">
                <a:solidFill>
                  <a:srgbClr val="FFFFFF"/>
                </a:solidFill>
                <a:latin typeface="Arial Black" pitchFamily="34" charset="0"/>
                <a:ea typeface="Arial Black" pitchFamily="34" charset="-122"/>
                <a:cs typeface="Arial Black" pitchFamily="34" charset="-120"/>
              </a:rPr>
              <a:t>02 换型时间长</a:t>
            </a:r>
            <a:endParaRPr lang="en-US" sz="900" dirty="0"/>
          </a:p>
        </p:txBody>
      </p:sp>
      <p:sp>
        <p:nvSpPr>
          <p:cNvPr id="77" name="Text 75"/>
          <p:cNvSpPr/>
          <p:nvPr/>
        </p:nvSpPr>
        <p:spPr>
          <a:xfrm>
            <a:off x="3566160" y="4187952"/>
            <a:ext cx="2377440" cy="594360"/>
          </a:xfrm>
          <a:prstGeom prst="rect">
            <a:avLst/>
          </a:prstGeom>
          <a:noFill/>
          <a:ln/>
        </p:spPr>
        <p:txBody>
          <a:bodyPr wrap="square" rtlCol="0" anchor="t"/>
          <a:lstStyle/>
          <a:p>
            <a:pPr indent="0" marL="0">
              <a:buNone/>
            </a:pPr>
            <a:r>
              <a:rPr lang="en-US" sz="800" dirty="0">
                <a:solidFill>
                  <a:srgbClr val="1E293B"/>
                </a:solidFill>
                <a:latin typeface="Arial" pitchFamily="34" charset="0"/>
                <a:ea typeface="Arial" pitchFamily="34" charset="-122"/>
                <a:cs typeface="Arial" pitchFamily="34" charset="-120"/>
              </a:rPr>
              <a:t>冷镦换型&gt;60min，实施SMED可降至&lt;10min</a:t>
            </a:r>
            <a:endParaRPr lang="en-US" sz="800" dirty="0"/>
          </a:p>
        </p:txBody>
      </p:sp>
      <p:sp>
        <p:nvSpPr>
          <p:cNvPr id="78" name="Shape 76"/>
          <p:cNvSpPr/>
          <p:nvPr/>
        </p:nvSpPr>
        <p:spPr>
          <a:xfrm>
            <a:off x="6217920" y="3931920"/>
            <a:ext cx="2560320" cy="914400"/>
          </a:xfrm>
          <a:prstGeom prst="roundRect">
            <a:avLst>
              <a:gd name="adj" fmla="val 8000"/>
            </a:avLst>
          </a:prstGeom>
          <a:solidFill>
            <a:srgbClr val="FFFFFF"/>
          </a:solidFill>
          <a:ln/>
        </p:spPr>
      </p:sp>
      <p:sp>
        <p:nvSpPr>
          <p:cNvPr id="79" name="Shape 77"/>
          <p:cNvSpPr/>
          <p:nvPr/>
        </p:nvSpPr>
        <p:spPr>
          <a:xfrm>
            <a:off x="6217920" y="3931920"/>
            <a:ext cx="2560320" cy="201168"/>
          </a:xfrm>
          <a:prstGeom prst="rect">
            <a:avLst/>
          </a:prstGeom>
          <a:solidFill>
            <a:srgbClr val="0D9488"/>
          </a:solidFill>
          <a:ln w="12700">
            <a:solidFill>
              <a:srgbClr val="0D9488"/>
            </a:solidFill>
            <a:prstDash val="solid"/>
          </a:ln>
        </p:spPr>
      </p:sp>
      <p:sp>
        <p:nvSpPr>
          <p:cNvPr id="80" name="Text 78"/>
          <p:cNvSpPr/>
          <p:nvPr/>
        </p:nvSpPr>
        <p:spPr>
          <a:xfrm>
            <a:off x="6309360" y="3950208"/>
            <a:ext cx="2377440" cy="182880"/>
          </a:xfrm>
          <a:prstGeom prst="rect">
            <a:avLst/>
          </a:prstGeom>
          <a:noFill/>
          <a:ln/>
        </p:spPr>
        <p:txBody>
          <a:bodyPr wrap="square" lIns="0" tIns="0" rIns="0" bIns="0" rtlCol="0" anchor="ctr"/>
          <a:lstStyle/>
          <a:p>
            <a:pPr indent="0" marL="0">
              <a:buNone/>
            </a:pPr>
            <a:r>
              <a:rPr lang="en-US" sz="900" b="1" dirty="0">
                <a:solidFill>
                  <a:srgbClr val="FFFFFF"/>
                </a:solidFill>
                <a:latin typeface="Arial Black" pitchFamily="34" charset="0"/>
                <a:ea typeface="Arial Black" pitchFamily="34" charset="-122"/>
                <a:cs typeface="Arial Black" pitchFamily="34" charset="-120"/>
              </a:rPr>
              <a:t>03 在制品积压</a:t>
            </a:r>
            <a:endParaRPr lang="en-US" sz="900" dirty="0"/>
          </a:p>
        </p:txBody>
      </p:sp>
      <p:sp>
        <p:nvSpPr>
          <p:cNvPr id="81" name="Text 79"/>
          <p:cNvSpPr/>
          <p:nvPr/>
        </p:nvSpPr>
        <p:spPr>
          <a:xfrm>
            <a:off x="6309360" y="4187952"/>
            <a:ext cx="2377440" cy="594360"/>
          </a:xfrm>
          <a:prstGeom prst="rect">
            <a:avLst/>
          </a:prstGeom>
          <a:noFill/>
          <a:ln/>
        </p:spPr>
        <p:txBody>
          <a:bodyPr wrap="square" rtlCol="0" anchor="t"/>
          <a:lstStyle/>
          <a:p>
            <a:pPr indent="0" marL="0">
              <a:buNone/>
            </a:pPr>
            <a:r>
              <a:rPr lang="en-US" sz="800" dirty="0">
                <a:solidFill>
                  <a:srgbClr val="1E293B"/>
                </a:solidFill>
                <a:latin typeface="Arial" pitchFamily="34" charset="0"/>
                <a:ea typeface="Arial" pitchFamily="34" charset="-122"/>
                <a:cs typeface="Arial" pitchFamily="34" charset="-120"/>
              </a:rPr>
              <a:t>总WIP达3900件，拉动式可减少60%</a:t>
            </a:r>
            <a:endParaRPr lang="en-US" sz="800" dirty="0"/>
          </a:p>
        </p:txBody>
      </p:sp>
      <p:sp>
        <p:nvSpPr>
          <p:cNvPr id="82" name="Shape 80"/>
          <p:cNvSpPr/>
          <p:nvPr/>
        </p:nvSpPr>
        <p:spPr>
          <a:xfrm>
            <a:off x="8961120" y="3931920"/>
            <a:ext cx="2560320" cy="914400"/>
          </a:xfrm>
          <a:prstGeom prst="roundRect">
            <a:avLst>
              <a:gd name="adj" fmla="val 8000"/>
            </a:avLst>
          </a:prstGeom>
          <a:solidFill>
            <a:srgbClr val="FFFFFF"/>
          </a:solidFill>
          <a:ln/>
        </p:spPr>
      </p:sp>
      <p:sp>
        <p:nvSpPr>
          <p:cNvPr id="83" name="Shape 81"/>
          <p:cNvSpPr/>
          <p:nvPr/>
        </p:nvSpPr>
        <p:spPr>
          <a:xfrm>
            <a:off x="8961120" y="3931920"/>
            <a:ext cx="2560320" cy="201168"/>
          </a:xfrm>
          <a:prstGeom prst="rect">
            <a:avLst/>
          </a:prstGeom>
          <a:solidFill>
            <a:srgbClr val="059669"/>
          </a:solidFill>
          <a:ln w="12700">
            <a:solidFill>
              <a:srgbClr val="059669"/>
            </a:solidFill>
            <a:prstDash val="solid"/>
          </a:ln>
        </p:spPr>
      </p:sp>
      <p:sp>
        <p:nvSpPr>
          <p:cNvPr id="84" name="Text 82"/>
          <p:cNvSpPr/>
          <p:nvPr/>
        </p:nvSpPr>
        <p:spPr>
          <a:xfrm>
            <a:off x="9052560" y="3950208"/>
            <a:ext cx="2377440" cy="182880"/>
          </a:xfrm>
          <a:prstGeom prst="rect">
            <a:avLst/>
          </a:prstGeom>
          <a:noFill/>
          <a:ln/>
        </p:spPr>
        <p:txBody>
          <a:bodyPr wrap="square" lIns="0" tIns="0" rIns="0" bIns="0" rtlCol="0" anchor="ctr"/>
          <a:lstStyle/>
          <a:p>
            <a:pPr indent="0" marL="0">
              <a:buNone/>
            </a:pPr>
            <a:r>
              <a:rPr lang="en-US" sz="900" b="1" dirty="0">
                <a:solidFill>
                  <a:srgbClr val="FFFFFF"/>
                </a:solidFill>
                <a:latin typeface="Arial Black" pitchFamily="34" charset="0"/>
                <a:ea typeface="Arial Black" pitchFamily="34" charset="-122"/>
                <a:cs typeface="Arial Black" pitchFamily="34" charset="-120"/>
              </a:rPr>
              <a:t>04 信息流断裂</a:t>
            </a:r>
            <a:endParaRPr lang="en-US" sz="900" dirty="0"/>
          </a:p>
        </p:txBody>
      </p:sp>
      <p:sp>
        <p:nvSpPr>
          <p:cNvPr id="85" name="Text 83"/>
          <p:cNvSpPr/>
          <p:nvPr/>
        </p:nvSpPr>
        <p:spPr>
          <a:xfrm>
            <a:off x="9052560" y="4187952"/>
            <a:ext cx="2377440" cy="594360"/>
          </a:xfrm>
          <a:prstGeom prst="rect">
            <a:avLst/>
          </a:prstGeom>
          <a:noFill/>
          <a:ln/>
        </p:spPr>
        <p:txBody>
          <a:bodyPr wrap="square" rtlCol="0" anchor="t"/>
          <a:lstStyle/>
          <a:p>
            <a:pPr indent="0" marL="0">
              <a:buNone/>
            </a:pPr>
            <a:r>
              <a:rPr lang="en-US" sz="800" dirty="0">
                <a:solidFill>
                  <a:srgbClr val="1E293B"/>
                </a:solidFill>
                <a:latin typeface="Arial" pitchFamily="34" charset="0"/>
                <a:ea typeface="Arial" pitchFamily="34" charset="-122"/>
                <a:cs typeface="Arial" pitchFamily="34" charset="-120"/>
              </a:rPr>
              <a:t>计划到现场信息传递滞后，建议电子看板</a:t>
            </a:r>
            <a:endParaRPr lang="en-US" sz="800" dirty="0"/>
          </a:p>
        </p:txBody>
      </p:sp>
      <p:sp>
        <p:nvSpPr>
          <p:cNvPr id="86" name="Shape 84"/>
          <p:cNvSpPr/>
          <p:nvPr/>
        </p:nvSpPr>
        <p:spPr>
          <a:xfrm>
            <a:off x="0" y="6565392"/>
            <a:ext cx="12188952" cy="292608"/>
          </a:xfrm>
          <a:prstGeom prst="rect">
            <a:avLst/>
          </a:prstGeom>
          <a:solidFill>
            <a:srgbClr val="1E2761"/>
          </a:solidFill>
          <a:ln w="12700">
            <a:solidFill>
              <a:srgbClr val="1E2761"/>
            </a:solidFill>
            <a:prstDash val="solid"/>
          </a:ln>
        </p:spPr>
      </p:sp>
      <p:sp>
        <p:nvSpPr>
          <p:cNvPr id="87" name="Text 85"/>
          <p:cNvSpPr/>
          <p:nvPr/>
        </p:nvSpPr>
        <p:spPr>
          <a:xfrm>
            <a:off x="0" y="6565392"/>
            <a:ext cx="12188952" cy="292608"/>
          </a:xfrm>
          <a:prstGeom prst="rect">
            <a:avLst/>
          </a:prstGeom>
          <a:noFill/>
          <a:ln/>
        </p:spPr>
        <p:txBody>
          <a:bodyPr wrap="square" rtlCol="0" anchor="ctr"/>
          <a:lstStyle/>
          <a:p>
            <a:pPr algn="ctr" indent="0" marL="0">
              <a:buNone/>
            </a:pPr>
            <a:r>
              <a:rPr lang="en-US" sz="1100" dirty="0">
                <a:solidFill>
                  <a:srgbClr val="CADCFC"/>
                </a:solidFill>
                <a:latin typeface="Arial" pitchFamily="34" charset="0"/>
                <a:ea typeface="Arial" pitchFamily="34" charset="-122"/>
                <a:cs typeface="Arial" pitchFamily="34" charset="-120"/>
              </a:rPr>
              <a:t>紧固件行业VSM核心：减少热处理瓶颈和换型时间 | 建立拉动式生产体系</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73152"/>
            <a:ext cx="12188952" cy="6784848"/>
          </a:xfrm>
          <a:prstGeom prst="rect">
            <a:avLst/>
          </a:prstGeom>
          <a:solidFill>
            <a:srgbClr val="F8FAFC"/>
          </a:solidFill>
          <a:ln w="12700">
            <a:solidFill>
              <a:srgbClr val="F8FAFC"/>
            </a:solidFill>
            <a:prstDash val="solid"/>
          </a:ln>
        </p:spPr>
      </p:sp>
      <p:sp>
        <p:nvSpPr>
          <p:cNvPr id="3" name="Shape 1"/>
          <p:cNvSpPr/>
          <p:nvPr/>
        </p:nvSpPr>
        <p:spPr>
          <a:xfrm>
            <a:off x="0" y="0"/>
            <a:ext cx="12188952" cy="73152"/>
          </a:xfrm>
          <a:prstGeom prst="rect">
            <a:avLst/>
          </a:prstGeom>
          <a:solidFill>
            <a:srgbClr val="0D9488"/>
          </a:solidFill>
          <a:ln w="12700">
            <a:solidFill>
              <a:srgbClr val="0D9488"/>
            </a:solidFill>
            <a:prstDash val="solid"/>
          </a:ln>
        </p:spPr>
      </p:sp>
      <p:sp>
        <p:nvSpPr>
          <p:cNvPr id="4" name="Shape 2"/>
          <p:cNvSpPr/>
          <p:nvPr/>
        </p:nvSpPr>
        <p:spPr>
          <a:xfrm>
            <a:off x="0" y="73152"/>
            <a:ext cx="12188952" cy="841248"/>
          </a:xfrm>
          <a:prstGeom prst="rect">
            <a:avLst/>
          </a:prstGeom>
          <a:solidFill>
            <a:srgbClr val="1E2761"/>
          </a:solidFill>
          <a:ln w="12700">
            <a:solidFill>
              <a:srgbClr val="1E2761"/>
            </a:solidFill>
            <a:prstDash val="solid"/>
          </a:ln>
        </p:spPr>
      </p:sp>
      <p:sp>
        <p:nvSpPr>
          <p:cNvPr id="5" name="Text 3"/>
          <p:cNvSpPr/>
          <p:nvPr/>
        </p:nvSpPr>
        <p:spPr>
          <a:xfrm>
            <a:off x="457200" y="109728"/>
            <a:ext cx="11274552" cy="475488"/>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VSM 关键指标与KPI</a:t>
            </a:r>
            <a:endParaRPr lang="en-US" sz="2800" dirty="0"/>
          </a:p>
        </p:txBody>
      </p:sp>
      <p:sp>
        <p:nvSpPr>
          <p:cNvPr id="6" name="Text 4"/>
          <p:cNvSpPr/>
          <p:nvPr/>
        </p:nvSpPr>
        <p:spPr>
          <a:xfrm>
            <a:off x="457200" y="493776"/>
            <a:ext cx="11274552" cy="320040"/>
          </a:xfrm>
          <a:prstGeom prst="rect">
            <a:avLst/>
          </a:prstGeom>
          <a:noFill/>
          <a:ln/>
        </p:spPr>
        <p:txBody>
          <a:bodyPr wrap="square" rtlCol="0" anchor="ctr"/>
          <a:lstStyle/>
          <a:p>
            <a:pPr indent="0" marL="0">
              <a:buNone/>
            </a:pPr>
            <a:r>
              <a:rPr lang="en-US" sz="1400" dirty="0">
                <a:solidFill>
                  <a:srgbClr val="CADCFC"/>
                </a:solidFill>
                <a:latin typeface="Arial" pitchFamily="34" charset="0"/>
                <a:ea typeface="Arial" pitchFamily="34" charset="-122"/>
                <a:cs typeface="Arial" pitchFamily="34" charset="-120"/>
              </a:rPr>
              <a:t>Key Performance Indicators</a:t>
            </a:r>
            <a:endParaRPr lang="en-US" sz="1400" dirty="0"/>
          </a:p>
        </p:txBody>
      </p:sp>
      <p:sp>
        <p:nvSpPr>
          <p:cNvPr id="7" name="Text 5"/>
          <p:cNvSpPr/>
          <p:nvPr/>
        </p:nvSpPr>
        <p:spPr>
          <a:xfrm>
            <a:off x="457200" y="1051560"/>
            <a:ext cx="11274552" cy="365760"/>
          </a:xfrm>
          <a:prstGeom prst="rect">
            <a:avLst/>
          </a:prstGeom>
          <a:noFill/>
          <a:ln/>
        </p:spPr>
        <p:txBody>
          <a:bodyPr wrap="square" rtlCol="0" anchor="ctr"/>
          <a:lstStyle/>
          <a:p>
            <a:pPr indent="0" marL="0">
              <a:buNone/>
            </a:pPr>
            <a:r>
              <a:rPr lang="en-US" sz="1600" b="1" dirty="0">
                <a:solidFill>
                  <a:srgbClr val="1E2761"/>
                </a:solidFill>
                <a:latin typeface="Arial Black" pitchFamily="34" charset="0"/>
                <a:ea typeface="Arial Black" pitchFamily="34" charset="-122"/>
                <a:cs typeface="Arial Black" pitchFamily="34" charset="-120"/>
              </a:rPr>
              <a:t>VSM核心KPI追踪表</a:t>
            </a:r>
            <a:endParaRPr lang="en-US" sz="1600" dirty="0"/>
          </a:p>
        </p:txBody>
      </p:sp>
      <p:sp>
        <p:nvSpPr>
          <p:cNvPr id="8" name="Shape 6"/>
          <p:cNvSpPr/>
          <p:nvPr/>
        </p:nvSpPr>
        <p:spPr>
          <a:xfrm>
            <a:off x="365760" y="1554480"/>
            <a:ext cx="1965960" cy="347472"/>
          </a:xfrm>
          <a:prstGeom prst="rect">
            <a:avLst/>
          </a:prstGeom>
          <a:solidFill>
            <a:srgbClr val="1E2761"/>
          </a:solidFill>
          <a:ln/>
        </p:spPr>
      </p:sp>
      <p:sp>
        <p:nvSpPr>
          <p:cNvPr id="9" name="Text 7"/>
          <p:cNvSpPr/>
          <p:nvPr/>
        </p:nvSpPr>
        <p:spPr>
          <a:xfrm>
            <a:off x="438912" y="1591056"/>
            <a:ext cx="1865376" cy="274320"/>
          </a:xfrm>
          <a:prstGeom prst="rect">
            <a:avLst/>
          </a:prstGeom>
          <a:noFill/>
          <a:ln/>
        </p:spPr>
        <p:txBody>
          <a:bodyPr wrap="square" lIns="0" tIns="0" rIns="0" bIns="0" rtlCol="0" anchor="ctr"/>
          <a:lstStyle/>
          <a:p>
            <a:pPr algn="l" indent="0" marL="0">
              <a:buNone/>
            </a:pPr>
            <a:r>
              <a:rPr lang="en-US" sz="900" dirty="0">
                <a:solidFill>
                  <a:srgbClr val="FFFFFF"/>
                </a:solidFill>
                <a:latin typeface="Arial Black" pitchFamily="34" charset="0"/>
                <a:ea typeface="Arial Black" pitchFamily="34" charset="-122"/>
                <a:cs typeface="Arial Black" pitchFamily="34" charset="-120"/>
              </a:rPr>
              <a:t>KPI指标</a:t>
            </a:r>
            <a:endParaRPr lang="en-US" sz="900" dirty="0"/>
          </a:p>
        </p:txBody>
      </p:sp>
      <p:sp>
        <p:nvSpPr>
          <p:cNvPr id="10" name="Shape 8"/>
          <p:cNvSpPr/>
          <p:nvPr/>
        </p:nvSpPr>
        <p:spPr>
          <a:xfrm>
            <a:off x="2377440" y="1554480"/>
            <a:ext cx="1783080" cy="347472"/>
          </a:xfrm>
          <a:prstGeom prst="rect">
            <a:avLst/>
          </a:prstGeom>
          <a:solidFill>
            <a:srgbClr val="1E2761"/>
          </a:solidFill>
          <a:ln/>
        </p:spPr>
      </p:sp>
      <p:sp>
        <p:nvSpPr>
          <p:cNvPr id="11" name="Text 9"/>
          <p:cNvSpPr/>
          <p:nvPr/>
        </p:nvSpPr>
        <p:spPr>
          <a:xfrm>
            <a:off x="2450592" y="1591056"/>
            <a:ext cx="1682496"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Black" pitchFamily="34" charset="0"/>
                <a:ea typeface="Arial Black" pitchFamily="34" charset="-122"/>
                <a:cs typeface="Arial Black" pitchFamily="34" charset="-120"/>
              </a:rPr>
              <a:t>当前状态</a:t>
            </a:r>
            <a:endParaRPr lang="en-US" sz="900" dirty="0"/>
          </a:p>
        </p:txBody>
      </p:sp>
      <p:sp>
        <p:nvSpPr>
          <p:cNvPr id="12" name="Shape 10"/>
          <p:cNvSpPr/>
          <p:nvPr/>
        </p:nvSpPr>
        <p:spPr>
          <a:xfrm>
            <a:off x="4206240" y="1554480"/>
            <a:ext cx="1783080" cy="347472"/>
          </a:xfrm>
          <a:prstGeom prst="rect">
            <a:avLst/>
          </a:prstGeom>
          <a:solidFill>
            <a:srgbClr val="1E2761"/>
          </a:solidFill>
          <a:ln/>
        </p:spPr>
      </p:sp>
      <p:sp>
        <p:nvSpPr>
          <p:cNvPr id="13" name="Text 11"/>
          <p:cNvSpPr/>
          <p:nvPr/>
        </p:nvSpPr>
        <p:spPr>
          <a:xfrm>
            <a:off x="4279392" y="1591056"/>
            <a:ext cx="1682496"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Black" pitchFamily="34" charset="0"/>
                <a:ea typeface="Arial Black" pitchFamily="34" charset="-122"/>
                <a:cs typeface="Arial Black" pitchFamily="34" charset="-120"/>
              </a:rPr>
              <a:t>改善目标</a:t>
            </a:r>
            <a:endParaRPr lang="en-US" sz="900" dirty="0"/>
          </a:p>
        </p:txBody>
      </p:sp>
      <p:sp>
        <p:nvSpPr>
          <p:cNvPr id="14" name="Shape 12"/>
          <p:cNvSpPr/>
          <p:nvPr/>
        </p:nvSpPr>
        <p:spPr>
          <a:xfrm>
            <a:off x="6035040" y="1554480"/>
            <a:ext cx="1783080" cy="347472"/>
          </a:xfrm>
          <a:prstGeom prst="rect">
            <a:avLst/>
          </a:prstGeom>
          <a:solidFill>
            <a:srgbClr val="1E2761"/>
          </a:solidFill>
          <a:ln/>
        </p:spPr>
      </p:sp>
      <p:sp>
        <p:nvSpPr>
          <p:cNvPr id="15" name="Text 13"/>
          <p:cNvSpPr/>
          <p:nvPr/>
        </p:nvSpPr>
        <p:spPr>
          <a:xfrm>
            <a:off x="6108192" y="1591056"/>
            <a:ext cx="1682496"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Black" pitchFamily="34" charset="0"/>
                <a:ea typeface="Arial Black" pitchFamily="34" charset="-122"/>
                <a:cs typeface="Arial Black" pitchFamily="34" charset="-120"/>
              </a:rPr>
              <a:t>6个月后</a:t>
            </a:r>
            <a:endParaRPr lang="en-US" sz="900" dirty="0"/>
          </a:p>
        </p:txBody>
      </p:sp>
      <p:sp>
        <p:nvSpPr>
          <p:cNvPr id="16" name="Shape 14"/>
          <p:cNvSpPr/>
          <p:nvPr/>
        </p:nvSpPr>
        <p:spPr>
          <a:xfrm>
            <a:off x="7863840" y="1554480"/>
            <a:ext cx="1783080" cy="347472"/>
          </a:xfrm>
          <a:prstGeom prst="rect">
            <a:avLst/>
          </a:prstGeom>
          <a:solidFill>
            <a:srgbClr val="1E2761"/>
          </a:solidFill>
          <a:ln/>
        </p:spPr>
      </p:sp>
      <p:sp>
        <p:nvSpPr>
          <p:cNvPr id="17" name="Text 15"/>
          <p:cNvSpPr/>
          <p:nvPr/>
        </p:nvSpPr>
        <p:spPr>
          <a:xfrm>
            <a:off x="7936992" y="1591056"/>
            <a:ext cx="1682496"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Black" pitchFamily="34" charset="0"/>
                <a:ea typeface="Arial Black" pitchFamily="34" charset="-122"/>
                <a:cs typeface="Arial Black" pitchFamily="34" charset="-120"/>
              </a:rPr>
              <a:t>12个月后</a:t>
            </a:r>
            <a:endParaRPr lang="en-US" sz="900" dirty="0"/>
          </a:p>
        </p:txBody>
      </p:sp>
      <p:sp>
        <p:nvSpPr>
          <p:cNvPr id="18" name="Shape 16"/>
          <p:cNvSpPr/>
          <p:nvPr/>
        </p:nvSpPr>
        <p:spPr>
          <a:xfrm>
            <a:off x="9692640" y="1554480"/>
            <a:ext cx="1600200" cy="347472"/>
          </a:xfrm>
          <a:prstGeom prst="rect">
            <a:avLst/>
          </a:prstGeom>
          <a:solidFill>
            <a:srgbClr val="1E2761"/>
          </a:solidFill>
          <a:ln/>
        </p:spPr>
      </p:sp>
      <p:sp>
        <p:nvSpPr>
          <p:cNvPr id="19" name="Text 17"/>
          <p:cNvSpPr/>
          <p:nvPr/>
        </p:nvSpPr>
        <p:spPr>
          <a:xfrm>
            <a:off x="9765792" y="1591056"/>
            <a:ext cx="1499616"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Black" pitchFamily="34" charset="0"/>
                <a:ea typeface="Arial Black" pitchFamily="34" charset="-122"/>
                <a:cs typeface="Arial Black" pitchFamily="34" charset="-120"/>
              </a:rPr>
              <a:t>状态</a:t>
            </a:r>
            <a:endParaRPr lang="en-US" sz="900" dirty="0"/>
          </a:p>
        </p:txBody>
      </p:sp>
      <p:sp>
        <p:nvSpPr>
          <p:cNvPr id="20" name="Shape 18"/>
          <p:cNvSpPr/>
          <p:nvPr/>
        </p:nvSpPr>
        <p:spPr>
          <a:xfrm>
            <a:off x="365760" y="1938528"/>
            <a:ext cx="1965960" cy="347472"/>
          </a:xfrm>
          <a:prstGeom prst="rect">
            <a:avLst/>
          </a:prstGeom>
          <a:solidFill>
            <a:srgbClr val="FFFFFF"/>
          </a:solidFill>
          <a:ln/>
        </p:spPr>
      </p:sp>
      <p:sp>
        <p:nvSpPr>
          <p:cNvPr id="21" name="Text 19"/>
          <p:cNvSpPr/>
          <p:nvPr/>
        </p:nvSpPr>
        <p:spPr>
          <a:xfrm>
            <a:off x="438912" y="1975104"/>
            <a:ext cx="1865376" cy="274320"/>
          </a:xfrm>
          <a:prstGeom prst="rect">
            <a:avLst/>
          </a:prstGeom>
          <a:noFill/>
          <a:ln/>
        </p:spPr>
        <p:txBody>
          <a:bodyPr wrap="square" lIns="0" tIns="0" rIns="0" bIns="0" rtlCol="0" anchor="ctr"/>
          <a:lstStyle/>
          <a:p>
            <a:pPr algn="l" indent="0" marL="0">
              <a:buNone/>
            </a:pPr>
            <a:r>
              <a:rPr lang="en-US" sz="900" dirty="0">
                <a:solidFill>
                  <a:srgbClr val="1E293B"/>
                </a:solidFill>
                <a:latin typeface="Arial" pitchFamily="34" charset="0"/>
                <a:ea typeface="Arial" pitchFamily="34" charset="-122"/>
                <a:cs typeface="Arial" pitchFamily="34" charset="-120"/>
              </a:rPr>
              <a:t>交付周期 Lead Time</a:t>
            </a:r>
            <a:endParaRPr lang="en-US" sz="900" dirty="0"/>
          </a:p>
        </p:txBody>
      </p:sp>
      <p:sp>
        <p:nvSpPr>
          <p:cNvPr id="22" name="Shape 20"/>
          <p:cNvSpPr/>
          <p:nvPr/>
        </p:nvSpPr>
        <p:spPr>
          <a:xfrm>
            <a:off x="2377440" y="1938528"/>
            <a:ext cx="1783080" cy="347472"/>
          </a:xfrm>
          <a:prstGeom prst="rect">
            <a:avLst/>
          </a:prstGeom>
          <a:solidFill>
            <a:srgbClr val="FFFFFF"/>
          </a:solidFill>
          <a:ln/>
        </p:spPr>
      </p:sp>
      <p:sp>
        <p:nvSpPr>
          <p:cNvPr id="23" name="Text 21"/>
          <p:cNvSpPr/>
          <p:nvPr/>
        </p:nvSpPr>
        <p:spPr>
          <a:xfrm>
            <a:off x="2450592" y="1975104"/>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75h</a:t>
            </a:r>
            <a:endParaRPr lang="en-US" sz="900" dirty="0"/>
          </a:p>
        </p:txBody>
      </p:sp>
      <p:sp>
        <p:nvSpPr>
          <p:cNvPr id="24" name="Shape 22"/>
          <p:cNvSpPr/>
          <p:nvPr/>
        </p:nvSpPr>
        <p:spPr>
          <a:xfrm>
            <a:off x="4206240" y="1938528"/>
            <a:ext cx="1783080" cy="347472"/>
          </a:xfrm>
          <a:prstGeom prst="rect">
            <a:avLst/>
          </a:prstGeom>
          <a:solidFill>
            <a:srgbClr val="FFFFFF"/>
          </a:solidFill>
          <a:ln/>
        </p:spPr>
      </p:sp>
      <p:sp>
        <p:nvSpPr>
          <p:cNvPr id="25" name="Text 23"/>
          <p:cNvSpPr/>
          <p:nvPr/>
        </p:nvSpPr>
        <p:spPr>
          <a:xfrm>
            <a:off x="4279392" y="1975104"/>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38h</a:t>
            </a:r>
            <a:endParaRPr lang="en-US" sz="900" dirty="0"/>
          </a:p>
        </p:txBody>
      </p:sp>
      <p:sp>
        <p:nvSpPr>
          <p:cNvPr id="26" name="Shape 24"/>
          <p:cNvSpPr/>
          <p:nvPr/>
        </p:nvSpPr>
        <p:spPr>
          <a:xfrm>
            <a:off x="6035040" y="1938528"/>
            <a:ext cx="1783080" cy="347472"/>
          </a:xfrm>
          <a:prstGeom prst="rect">
            <a:avLst/>
          </a:prstGeom>
          <a:solidFill>
            <a:srgbClr val="FFFFFF"/>
          </a:solidFill>
          <a:ln/>
        </p:spPr>
      </p:sp>
      <p:sp>
        <p:nvSpPr>
          <p:cNvPr id="27" name="Text 25"/>
          <p:cNvSpPr/>
          <p:nvPr/>
        </p:nvSpPr>
        <p:spPr>
          <a:xfrm>
            <a:off x="6108192" y="1975104"/>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55h</a:t>
            </a:r>
            <a:endParaRPr lang="en-US" sz="900" dirty="0"/>
          </a:p>
        </p:txBody>
      </p:sp>
      <p:sp>
        <p:nvSpPr>
          <p:cNvPr id="28" name="Shape 26"/>
          <p:cNvSpPr/>
          <p:nvPr/>
        </p:nvSpPr>
        <p:spPr>
          <a:xfrm>
            <a:off x="7863840" y="1938528"/>
            <a:ext cx="1783080" cy="347472"/>
          </a:xfrm>
          <a:prstGeom prst="rect">
            <a:avLst/>
          </a:prstGeom>
          <a:solidFill>
            <a:srgbClr val="FFFFFF"/>
          </a:solidFill>
          <a:ln/>
        </p:spPr>
      </p:sp>
      <p:sp>
        <p:nvSpPr>
          <p:cNvPr id="29" name="Text 27"/>
          <p:cNvSpPr/>
          <p:nvPr/>
        </p:nvSpPr>
        <p:spPr>
          <a:xfrm>
            <a:off x="7936992" y="1975104"/>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35h</a:t>
            </a:r>
            <a:endParaRPr lang="en-US" sz="900" dirty="0"/>
          </a:p>
        </p:txBody>
      </p:sp>
      <p:sp>
        <p:nvSpPr>
          <p:cNvPr id="30" name="Shape 28"/>
          <p:cNvSpPr/>
          <p:nvPr/>
        </p:nvSpPr>
        <p:spPr>
          <a:xfrm>
            <a:off x="9692640" y="1938528"/>
            <a:ext cx="1600200" cy="347472"/>
          </a:xfrm>
          <a:prstGeom prst="rect">
            <a:avLst/>
          </a:prstGeom>
          <a:solidFill>
            <a:srgbClr val="D97706"/>
          </a:solidFill>
          <a:ln/>
        </p:spPr>
      </p:sp>
      <p:sp>
        <p:nvSpPr>
          <p:cNvPr id="31" name="Text 29"/>
          <p:cNvSpPr/>
          <p:nvPr/>
        </p:nvSpPr>
        <p:spPr>
          <a:xfrm>
            <a:off x="9765792" y="1975104"/>
            <a:ext cx="1499616"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改善中</a:t>
            </a:r>
            <a:endParaRPr lang="en-US" sz="900" dirty="0"/>
          </a:p>
        </p:txBody>
      </p:sp>
      <p:sp>
        <p:nvSpPr>
          <p:cNvPr id="32" name="Shape 30"/>
          <p:cNvSpPr/>
          <p:nvPr/>
        </p:nvSpPr>
        <p:spPr>
          <a:xfrm>
            <a:off x="365760" y="2322576"/>
            <a:ext cx="1965960" cy="347472"/>
          </a:xfrm>
          <a:prstGeom prst="rect">
            <a:avLst/>
          </a:prstGeom>
          <a:solidFill>
            <a:srgbClr val="F8FAFC"/>
          </a:solidFill>
          <a:ln/>
        </p:spPr>
      </p:sp>
      <p:sp>
        <p:nvSpPr>
          <p:cNvPr id="33" name="Text 31"/>
          <p:cNvSpPr/>
          <p:nvPr/>
        </p:nvSpPr>
        <p:spPr>
          <a:xfrm>
            <a:off x="438912" y="2359152"/>
            <a:ext cx="1865376" cy="274320"/>
          </a:xfrm>
          <a:prstGeom prst="rect">
            <a:avLst/>
          </a:prstGeom>
          <a:noFill/>
          <a:ln/>
        </p:spPr>
        <p:txBody>
          <a:bodyPr wrap="square" lIns="0" tIns="0" rIns="0" bIns="0" rtlCol="0" anchor="ctr"/>
          <a:lstStyle/>
          <a:p>
            <a:pPr algn="l" indent="0" marL="0">
              <a:buNone/>
            </a:pPr>
            <a:r>
              <a:rPr lang="en-US" sz="900" dirty="0">
                <a:solidFill>
                  <a:srgbClr val="1E293B"/>
                </a:solidFill>
                <a:latin typeface="Arial" pitchFamily="34" charset="0"/>
                <a:ea typeface="Arial" pitchFamily="34" charset="-122"/>
                <a:cs typeface="Arial" pitchFamily="34" charset="-120"/>
              </a:rPr>
              <a:t>在制品库存 WIP</a:t>
            </a:r>
            <a:endParaRPr lang="en-US" sz="900" dirty="0"/>
          </a:p>
        </p:txBody>
      </p:sp>
      <p:sp>
        <p:nvSpPr>
          <p:cNvPr id="34" name="Shape 32"/>
          <p:cNvSpPr/>
          <p:nvPr/>
        </p:nvSpPr>
        <p:spPr>
          <a:xfrm>
            <a:off x="2377440" y="2322576"/>
            <a:ext cx="1783080" cy="347472"/>
          </a:xfrm>
          <a:prstGeom prst="rect">
            <a:avLst/>
          </a:prstGeom>
          <a:solidFill>
            <a:srgbClr val="F8FAFC"/>
          </a:solidFill>
          <a:ln/>
        </p:spPr>
      </p:sp>
      <p:sp>
        <p:nvSpPr>
          <p:cNvPr id="35" name="Text 33"/>
          <p:cNvSpPr/>
          <p:nvPr/>
        </p:nvSpPr>
        <p:spPr>
          <a:xfrm>
            <a:off x="2450592" y="2359152"/>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3900件</a:t>
            </a:r>
            <a:endParaRPr lang="en-US" sz="900" dirty="0"/>
          </a:p>
        </p:txBody>
      </p:sp>
      <p:sp>
        <p:nvSpPr>
          <p:cNvPr id="36" name="Shape 34"/>
          <p:cNvSpPr/>
          <p:nvPr/>
        </p:nvSpPr>
        <p:spPr>
          <a:xfrm>
            <a:off x="4206240" y="2322576"/>
            <a:ext cx="1783080" cy="347472"/>
          </a:xfrm>
          <a:prstGeom prst="rect">
            <a:avLst/>
          </a:prstGeom>
          <a:solidFill>
            <a:srgbClr val="F8FAFC"/>
          </a:solidFill>
          <a:ln/>
        </p:spPr>
      </p:sp>
      <p:sp>
        <p:nvSpPr>
          <p:cNvPr id="37" name="Text 35"/>
          <p:cNvSpPr/>
          <p:nvPr/>
        </p:nvSpPr>
        <p:spPr>
          <a:xfrm>
            <a:off x="4279392" y="2359152"/>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1560件</a:t>
            </a:r>
            <a:endParaRPr lang="en-US" sz="900" dirty="0"/>
          </a:p>
        </p:txBody>
      </p:sp>
      <p:sp>
        <p:nvSpPr>
          <p:cNvPr id="38" name="Shape 36"/>
          <p:cNvSpPr/>
          <p:nvPr/>
        </p:nvSpPr>
        <p:spPr>
          <a:xfrm>
            <a:off x="6035040" y="2322576"/>
            <a:ext cx="1783080" cy="347472"/>
          </a:xfrm>
          <a:prstGeom prst="rect">
            <a:avLst/>
          </a:prstGeom>
          <a:solidFill>
            <a:srgbClr val="F8FAFC"/>
          </a:solidFill>
          <a:ln/>
        </p:spPr>
      </p:sp>
      <p:sp>
        <p:nvSpPr>
          <p:cNvPr id="39" name="Text 37"/>
          <p:cNvSpPr/>
          <p:nvPr/>
        </p:nvSpPr>
        <p:spPr>
          <a:xfrm>
            <a:off x="6108192" y="2359152"/>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2500件</a:t>
            </a:r>
            <a:endParaRPr lang="en-US" sz="900" dirty="0"/>
          </a:p>
        </p:txBody>
      </p:sp>
      <p:sp>
        <p:nvSpPr>
          <p:cNvPr id="40" name="Shape 38"/>
          <p:cNvSpPr/>
          <p:nvPr/>
        </p:nvSpPr>
        <p:spPr>
          <a:xfrm>
            <a:off x="7863840" y="2322576"/>
            <a:ext cx="1783080" cy="347472"/>
          </a:xfrm>
          <a:prstGeom prst="rect">
            <a:avLst/>
          </a:prstGeom>
          <a:solidFill>
            <a:srgbClr val="F8FAFC"/>
          </a:solidFill>
          <a:ln/>
        </p:spPr>
      </p:sp>
      <p:sp>
        <p:nvSpPr>
          <p:cNvPr id="41" name="Text 39"/>
          <p:cNvSpPr/>
          <p:nvPr/>
        </p:nvSpPr>
        <p:spPr>
          <a:xfrm>
            <a:off x="7936992" y="2359152"/>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1400件</a:t>
            </a:r>
            <a:endParaRPr lang="en-US" sz="900" dirty="0"/>
          </a:p>
        </p:txBody>
      </p:sp>
      <p:sp>
        <p:nvSpPr>
          <p:cNvPr id="42" name="Shape 40"/>
          <p:cNvSpPr/>
          <p:nvPr/>
        </p:nvSpPr>
        <p:spPr>
          <a:xfrm>
            <a:off x="9692640" y="2322576"/>
            <a:ext cx="1600200" cy="347472"/>
          </a:xfrm>
          <a:prstGeom prst="rect">
            <a:avLst/>
          </a:prstGeom>
          <a:solidFill>
            <a:srgbClr val="D97706"/>
          </a:solidFill>
          <a:ln/>
        </p:spPr>
      </p:sp>
      <p:sp>
        <p:nvSpPr>
          <p:cNvPr id="43" name="Text 41"/>
          <p:cNvSpPr/>
          <p:nvPr/>
        </p:nvSpPr>
        <p:spPr>
          <a:xfrm>
            <a:off x="9765792" y="2359152"/>
            <a:ext cx="1499616"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改善中</a:t>
            </a:r>
            <a:endParaRPr lang="en-US" sz="900" dirty="0"/>
          </a:p>
        </p:txBody>
      </p:sp>
      <p:sp>
        <p:nvSpPr>
          <p:cNvPr id="44" name="Shape 42"/>
          <p:cNvSpPr/>
          <p:nvPr/>
        </p:nvSpPr>
        <p:spPr>
          <a:xfrm>
            <a:off x="365760" y="2706624"/>
            <a:ext cx="1965960" cy="347472"/>
          </a:xfrm>
          <a:prstGeom prst="rect">
            <a:avLst/>
          </a:prstGeom>
          <a:solidFill>
            <a:srgbClr val="FFFFFF"/>
          </a:solidFill>
          <a:ln/>
        </p:spPr>
      </p:sp>
      <p:sp>
        <p:nvSpPr>
          <p:cNvPr id="45" name="Text 43"/>
          <p:cNvSpPr/>
          <p:nvPr/>
        </p:nvSpPr>
        <p:spPr>
          <a:xfrm>
            <a:off x="438912" y="2743200"/>
            <a:ext cx="1865376" cy="274320"/>
          </a:xfrm>
          <a:prstGeom prst="rect">
            <a:avLst/>
          </a:prstGeom>
          <a:noFill/>
          <a:ln/>
        </p:spPr>
        <p:txBody>
          <a:bodyPr wrap="square" lIns="0" tIns="0" rIns="0" bIns="0" rtlCol="0" anchor="ctr"/>
          <a:lstStyle/>
          <a:p>
            <a:pPr algn="l" indent="0" marL="0">
              <a:buNone/>
            </a:pPr>
            <a:r>
              <a:rPr lang="en-US" sz="900" dirty="0">
                <a:solidFill>
                  <a:srgbClr val="1E293B"/>
                </a:solidFill>
                <a:latin typeface="Arial" pitchFamily="34" charset="0"/>
                <a:ea typeface="Arial" pitchFamily="34" charset="-122"/>
                <a:cs typeface="Arial" pitchFamily="34" charset="-120"/>
              </a:rPr>
              <a:t>设备综合效率 OEE</a:t>
            </a:r>
            <a:endParaRPr lang="en-US" sz="900" dirty="0"/>
          </a:p>
        </p:txBody>
      </p:sp>
      <p:sp>
        <p:nvSpPr>
          <p:cNvPr id="46" name="Shape 44"/>
          <p:cNvSpPr/>
          <p:nvPr/>
        </p:nvSpPr>
        <p:spPr>
          <a:xfrm>
            <a:off x="2377440" y="2706624"/>
            <a:ext cx="1783080" cy="347472"/>
          </a:xfrm>
          <a:prstGeom prst="rect">
            <a:avLst/>
          </a:prstGeom>
          <a:solidFill>
            <a:srgbClr val="FFFFFF"/>
          </a:solidFill>
          <a:ln/>
        </p:spPr>
      </p:sp>
      <p:sp>
        <p:nvSpPr>
          <p:cNvPr id="47" name="Text 45"/>
          <p:cNvSpPr/>
          <p:nvPr/>
        </p:nvSpPr>
        <p:spPr>
          <a:xfrm>
            <a:off x="2450592" y="2743200"/>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72%</a:t>
            </a:r>
            <a:endParaRPr lang="en-US" sz="900" dirty="0"/>
          </a:p>
        </p:txBody>
      </p:sp>
      <p:sp>
        <p:nvSpPr>
          <p:cNvPr id="48" name="Shape 46"/>
          <p:cNvSpPr/>
          <p:nvPr/>
        </p:nvSpPr>
        <p:spPr>
          <a:xfrm>
            <a:off x="4206240" y="2706624"/>
            <a:ext cx="1783080" cy="347472"/>
          </a:xfrm>
          <a:prstGeom prst="rect">
            <a:avLst/>
          </a:prstGeom>
          <a:solidFill>
            <a:srgbClr val="FFFFFF"/>
          </a:solidFill>
          <a:ln/>
        </p:spPr>
      </p:sp>
      <p:sp>
        <p:nvSpPr>
          <p:cNvPr id="49" name="Text 47"/>
          <p:cNvSpPr/>
          <p:nvPr/>
        </p:nvSpPr>
        <p:spPr>
          <a:xfrm>
            <a:off x="4279392" y="2743200"/>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85%</a:t>
            </a:r>
            <a:endParaRPr lang="en-US" sz="900" dirty="0"/>
          </a:p>
        </p:txBody>
      </p:sp>
      <p:sp>
        <p:nvSpPr>
          <p:cNvPr id="50" name="Shape 48"/>
          <p:cNvSpPr/>
          <p:nvPr/>
        </p:nvSpPr>
        <p:spPr>
          <a:xfrm>
            <a:off x="6035040" y="2706624"/>
            <a:ext cx="1783080" cy="347472"/>
          </a:xfrm>
          <a:prstGeom prst="rect">
            <a:avLst/>
          </a:prstGeom>
          <a:solidFill>
            <a:srgbClr val="FFFFFF"/>
          </a:solidFill>
          <a:ln/>
        </p:spPr>
      </p:sp>
      <p:sp>
        <p:nvSpPr>
          <p:cNvPr id="51" name="Text 49"/>
          <p:cNvSpPr/>
          <p:nvPr/>
        </p:nvSpPr>
        <p:spPr>
          <a:xfrm>
            <a:off x="6108192" y="2743200"/>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78%</a:t>
            </a:r>
            <a:endParaRPr lang="en-US" sz="900" dirty="0"/>
          </a:p>
        </p:txBody>
      </p:sp>
      <p:sp>
        <p:nvSpPr>
          <p:cNvPr id="52" name="Shape 50"/>
          <p:cNvSpPr/>
          <p:nvPr/>
        </p:nvSpPr>
        <p:spPr>
          <a:xfrm>
            <a:off x="7863840" y="2706624"/>
            <a:ext cx="1783080" cy="347472"/>
          </a:xfrm>
          <a:prstGeom prst="rect">
            <a:avLst/>
          </a:prstGeom>
          <a:solidFill>
            <a:srgbClr val="FFFFFF"/>
          </a:solidFill>
          <a:ln/>
        </p:spPr>
      </p:sp>
      <p:sp>
        <p:nvSpPr>
          <p:cNvPr id="53" name="Text 51"/>
          <p:cNvSpPr/>
          <p:nvPr/>
        </p:nvSpPr>
        <p:spPr>
          <a:xfrm>
            <a:off x="7936992" y="2743200"/>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87%</a:t>
            </a:r>
            <a:endParaRPr lang="en-US" sz="900" dirty="0"/>
          </a:p>
        </p:txBody>
      </p:sp>
      <p:sp>
        <p:nvSpPr>
          <p:cNvPr id="54" name="Shape 52"/>
          <p:cNvSpPr/>
          <p:nvPr/>
        </p:nvSpPr>
        <p:spPr>
          <a:xfrm>
            <a:off x="9692640" y="2706624"/>
            <a:ext cx="1600200" cy="347472"/>
          </a:xfrm>
          <a:prstGeom prst="rect">
            <a:avLst/>
          </a:prstGeom>
          <a:solidFill>
            <a:srgbClr val="D97706"/>
          </a:solidFill>
          <a:ln/>
        </p:spPr>
      </p:sp>
      <p:sp>
        <p:nvSpPr>
          <p:cNvPr id="55" name="Text 53"/>
          <p:cNvSpPr/>
          <p:nvPr/>
        </p:nvSpPr>
        <p:spPr>
          <a:xfrm>
            <a:off x="9765792" y="2743200"/>
            <a:ext cx="1499616"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进行中</a:t>
            </a:r>
            <a:endParaRPr lang="en-US" sz="900" dirty="0"/>
          </a:p>
        </p:txBody>
      </p:sp>
      <p:sp>
        <p:nvSpPr>
          <p:cNvPr id="56" name="Shape 54"/>
          <p:cNvSpPr/>
          <p:nvPr/>
        </p:nvSpPr>
        <p:spPr>
          <a:xfrm>
            <a:off x="365760" y="3090672"/>
            <a:ext cx="1965960" cy="347472"/>
          </a:xfrm>
          <a:prstGeom prst="rect">
            <a:avLst/>
          </a:prstGeom>
          <a:solidFill>
            <a:srgbClr val="F8FAFC"/>
          </a:solidFill>
          <a:ln/>
        </p:spPr>
      </p:sp>
      <p:sp>
        <p:nvSpPr>
          <p:cNvPr id="57" name="Text 55"/>
          <p:cNvSpPr/>
          <p:nvPr/>
        </p:nvSpPr>
        <p:spPr>
          <a:xfrm>
            <a:off x="438912" y="3127248"/>
            <a:ext cx="1865376" cy="274320"/>
          </a:xfrm>
          <a:prstGeom prst="rect">
            <a:avLst/>
          </a:prstGeom>
          <a:noFill/>
          <a:ln/>
        </p:spPr>
        <p:txBody>
          <a:bodyPr wrap="square" lIns="0" tIns="0" rIns="0" bIns="0" rtlCol="0" anchor="ctr"/>
          <a:lstStyle/>
          <a:p>
            <a:pPr algn="l" indent="0" marL="0">
              <a:buNone/>
            </a:pPr>
            <a:r>
              <a:rPr lang="en-US" sz="900" dirty="0">
                <a:solidFill>
                  <a:srgbClr val="1E293B"/>
                </a:solidFill>
                <a:latin typeface="Arial" pitchFamily="34" charset="0"/>
                <a:ea typeface="Arial" pitchFamily="34" charset="-122"/>
                <a:cs typeface="Arial" pitchFamily="34" charset="-120"/>
              </a:rPr>
              <a:t>增值比 VA Ratio</a:t>
            </a:r>
            <a:endParaRPr lang="en-US" sz="900" dirty="0"/>
          </a:p>
        </p:txBody>
      </p:sp>
      <p:sp>
        <p:nvSpPr>
          <p:cNvPr id="58" name="Shape 56"/>
          <p:cNvSpPr/>
          <p:nvPr/>
        </p:nvSpPr>
        <p:spPr>
          <a:xfrm>
            <a:off x="2377440" y="3090672"/>
            <a:ext cx="1783080" cy="347472"/>
          </a:xfrm>
          <a:prstGeom prst="rect">
            <a:avLst/>
          </a:prstGeom>
          <a:solidFill>
            <a:srgbClr val="F8FAFC"/>
          </a:solidFill>
          <a:ln/>
        </p:spPr>
      </p:sp>
      <p:sp>
        <p:nvSpPr>
          <p:cNvPr id="59" name="Text 57"/>
          <p:cNvSpPr/>
          <p:nvPr/>
        </p:nvSpPr>
        <p:spPr>
          <a:xfrm>
            <a:off x="2450592" y="3127248"/>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1.1%</a:t>
            </a:r>
            <a:endParaRPr lang="en-US" sz="900" dirty="0"/>
          </a:p>
        </p:txBody>
      </p:sp>
      <p:sp>
        <p:nvSpPr>
          <p:cNvPr id="60" name="Shape 58"/>
          <p:cNvSpPr/>
          <p:nvPr/>
        </p:nvSpPr>
        <p:spPr>
          <a:xfrm>
            <a:off x="4206240" y="3090672"/>
            <a:ext cx="1783080" cy="347472"/>
          </a:xfrm>
          <a:prstGeom prst="rect">
            <a:avLst/>
          </a:prstGeom>
          <a:solidFill>
            <a:srgbClr val="F8FAFC"/>
          </a:solidFill>
          <a:ln/>
        </p:spPr>
      </p:sp>
      <p:sp>
        <p:nvSpPr>
          <p:cNvPr id="61" name="Text 59"/>
          <p:cNvSpPr/>
          <p:nvPr/>
        </p:nvSpPr>
        <p:spPr>
          <a:xfrm>
            <a:off x="4279392" y="3127248"/>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5%</a:t>
            </a:r>
            <a:endParaRPr lang="en-US" sz="900" dirty="0"/>
          </a:p>
        </p:txBody>
      </p:sp>
      <p:sp>
        <p:nvSpPr>
          <p:cNvPr id="62" name="Shape 60"/>
          <p:cNvSpPr/>
          <p:nvPr/>
        </p:nvSpPr>
        <p:spPr>
          <a:xfrm>
            <a:off x="6035040" y="3090672"/>
            <a:ext cx="1783080" cy="347472"/>
          </a:xfrm>
          <a:prstGeom prst="rect">
            <a:avLst/>
          </a:prstGeom>
          <a:solidFill>
            <a:srgbClr val="F8FAFC"/>
          </a:solidFill>
          <a:ln/>
        </p:spPr>
      </p:sp>
      <p:sp>
        <p:nvSpPr>
          <p:cNvPr id="63" name="Text 61"/>
          <p:cNvSpPr/>
          <p:nvPr/>
        </p:nvSpPr>
        <p:spPr>
          <a:xfrm>
            <a:off x="6108192" y="3127248"/>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3.2%</a:t>
            </a:r>
            <a:endParaRPr lang="en-US" sz="900" dirty="0"/>
          </a:p>
        </p:txBody>
      </p:sp>
      <p:sp>
        <p:nvSpPr>
          <p:cNvPr id="64" name="Shape 62"/>
          <p:cNvSpPr/>
          <p:nvPr/>
        </p:nvSpPr>
        <p:spPr>
          <a:xfrm>
            <a:off x="7863840" y="3090672"/>
            <a:ext cx="1783080" cy="347472"/>
          </a:xfrm>
          <a:prstGeom prst="rect">
            <a:avLst/>
          </a:prstGeom>
          <a:solidFill>
            <a:srgbClr val="F8FAFC"/>
          </a:solidFill>
          <a:ln/>
        </p:spPr>
      </p:sp>
      <p:sp>
        <p:nvSpPr>
          <p:cNvPr id="65" name="Text 63"/>
          <p:cNvSpPr/>
          <p:nvPr/>
        </p:nvSpPr>
        <p:spPr>
          <a:xfrm>
            <a:off x="7936992" y="3127248"/>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6%</a:t>
            </a:r>
            <a:endParaRPr lang="en-US" sz="900" dirty="0"/>
          </a:p>
        </p:txBody>
      </p:sp>
      <p:sp>
        <p:nvSpPr>
          <p:cNvPr id="66" name="Shape 64"/>
          <p:cNvSpPr/>
          <p:nvPr/>
        </p:nvSpPr>
        <p:spPr>
          <a:xfrm>
            <a:off x="9692640" y="3090672"/>
            <a:ext cx="1600200" cy="347472"/>
          </a:xfrm>
          <a:prstGeom prst="rect">
            <a:avLst/>
          </a:prstGeom>
          <a:solidFill>
            <a:srgbClr val="D97706"/>
          </a:solidFill>
          <a:ln/>
        </p:spPr>
      </p:sp>
      <p:sp>
        <p:nvSpPr>
          <p:cNvPr id="67" name="Text 65"/>
          <p:cNvSpPr/>
          <p:nvPr/>
        </p:nvSpPr>
        <p:spPr>
          <a:xfrm>
            <a:off x="9765792" y="3127248"/>
            <a:ext cx="1499616"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改善中</a:t>
            </a:r>
            <a:endParaRPr lang="en-US" sz="900" dirty="0"/>
          </a:p>
        </p:txBody>
      </p:sp>
      <p:sp>
        <p:nvSpPr>
          <p:cNvPr id="68" name="Shape 66"/>
          <p:cNvSpPr/>
          <p:nvPr/>
        </p:nvSpPr>
        <p:spPr>
          <a:xfrm>
            <a:off x="365760" y="3474720"/>
            <a:ext cx="1965960" cy="347472"/>
          </a:xfrm>
          <a:prstGeom prst="rect">
            <a:avLst/>
          </a:prstGeom>
          <a:solidFill>
            <a:srgbClr val="FFFFFF"/>
          </a:solidFill>
          <a:ln/>
        </p:spPr>
      </p:sp>
      <p:sp>
        <p:nvSpPr>
          <p:cNvPr id="69" name="Text 67"/>
          <p:cNvSpPr/>
          <p:nvPr/>
        </p:nvSpPr>
        <p:spPr>
          <a:xfrm>
            <a:off x="438912" y="3511296"/>
            <a:ext cx="1865376" cy="274320"/>
          </a:xfrm>
          <a:prstGeom prst="rect">
            <a:avLst/>
          </a:prstGeom>
          <a:noFill/>
          <a:ln/>
        </p:spPr>
        <p:txBody>
          <a:bodyPr wrap="square" lIns="0" tIns="0" rIns="0" bIns="0" rtlCol="0" anchor="ctr"/>
          <a:lstStyle/>
          <a:p>
            <a:pPr algn="l" indent="0" marL="0">
              <a:buNone/>
            </a:pPr>
            <a:r>
              <a:rPr lang="en-US" sz="900" dirty="0">
                <a:solidFill>
                  <a:srgbClr val="1E293B"/>
                </a:solidFill>
                <a:latin typeface="Arial" pitchFamily="34" charset="0"/>
                <a:ea typeface="Arial" pitchFamily="34" charset="-122"/>
                <a:cs typeface="Arial" pitchFamily="34" charset="-120"/>
              </a:rPr>
              <a:t>换型时间 Changeover</a:t>
            </a:r>
            <a:endParaRPr lang="en-US" sz="900" dirty="0"/>
          </a:p>
        </p:txBody>
      </p:sp>
      <p:sp>
        <p:nvSpPr>
          <p:cNvPr id="70" name="Shape 68"/>
          <p:cNvSpPr/>
          <p:nvPr/>
        </p:nvSpPr>
        <p:spPr>
          <a:xfrm>
            <a:off x="2377440" y="3474720"/>
            <a:ext cx="1783080" cy="347472"/>
          </a:xfrm>
          <a:prstGeom prst="rect">
            <a:avLst/>
          </a:prstGeom>
          <a:solidFill>
            <a:srgbClr val="FFFFFF"/>
          </a:solidFill>
          <a:ln/>
        </p:spPr>
      </p:sp>
      <p:sp>
        <p:nvSpPr>
          <p:cNvPr id="71" name="Text 69"/>
          <p:cNvSpPr/>
          <p:nvPr/>
        </p:nvSpPr>
        <p:spPr>
          <a:xfrm>
            <a:off x="2450592" y="3511296"/>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60min</a:t>
            </a:r>
            <a:endParaRPr lang="en-US" sz="900" dirty="0"/>
          </a:p>
        </p:txBody>
      </p:sp>
      <p:sp>
        <p:nvSpPr>
          <p:cNvPr id="72" name="Shape 70"/>
          <p:cNvSpPr/>
          <p:nvPr/>
        </p:nvSpPr>
        <p:spPr>
          <a:xfrm>
            <a:off x="4206240" y="3474720"/>
            <a:ext cx="1783080" cy="347472"/>
          </a:xfrm>
          <a:prstGeom prst="rect">
            <a:avLst/>
          </a:prstGeom>
          <a:solidFill>
            <a:srgbClr val="FFFFFF"/>
          </a:solidFill>
          <a:ln/>
        </p:spPr>
      </p:sp>
      <p:sp>
        <p:nvSpPr>
          <p:cNvPr id="73" name="Text 71"/>
          <p:cNvSpPr/>
          <p:nvPr/>
        </p:nvSpPr>
        <p:spPr>
          <a:xfrm>
            <a:off x="4279392" y="3511296"/>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&lt;10min</a:t>
            </a:r>
            <a:endParaRPr lang="en-US" sz="900" dirty="0"/>
          </a:p>
        </p:txBody>
      </p:sp>
      <p:sp>
        <p:nvSpPr>
          <p:cNvPr id="74" name="Shape 72"/>
          <p:cNvSpPr/>
          <p:nvPr/>
        </p:nvSpPr>
        <p:spPr>
          <a:xfrm>
            <a:off x="6035040" y="3474720"/>
            <a:ext cx="1783080" cy="347472"/>
          </a:xfrm>
          <a:prstGeom prst="rect">
            <a:avLst/>
          </a:prstGeom>
          <a:solidFill>
            <a:srgbClr val="FFFFFF"/>
          </a:solidFill>
          <a:ln/>
        </p:spPr>
      </p:sp>
      <p:sp>
        <p:nvSpPr>
          <p:cNvPr id="75" name="Text 73"/>
          <p:cNvSpPr/>
          <p:nvPr/>
        </p:nvSpPr>
        <p:spPr>
          <a:xfrm>
            <a:off x="6108192" y="3511296"/>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25min</a:t>
            </a:r>
            <a:endParaRPr lang="en-US" sz="900" dirty="0"/>
          </a:p>
        </p:txBody>
      </p:sp>
      <p:sp>
        <p:nvSpPr>
          <p:cNvPr id="76" name="Shape 74"/>
          <p:cNvSpPr/>
          <p:nvPr/>
        </p:nvSpPr>
        <p:spPr>
          <a:xfrm>
            <a:off x="7863840" y="3474720"/>
            <a:ext cx="1783080" cy="347472"/>
          </a:xfrm>
          <a:prstGeom prst="rect">
            <a:avLst/>
          </a:prstGeom>
          <a:solidFill>
            <a:srgbClr val="FFFFFF"/>
          </a:solidFill>
          <a:ln/>
        </p:spPr>
      </p:sp>
      <p:sp>
        <p:nvSpPr>
          <p:cNvPr id="77" name="Text 75"/>
          <p:cNvSpPr/>
          <p:nvPr/>
        </p:nvSpPr>
        <p:spPr>
          <a:xfrm>
            <a:off x="7936992" y="3511296"/>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&lt;8min</a:t>
            </a:r>
            <a:endParaRPr lang="en-US" sz="900" dirty="0"/>
          </a:p>
        </p:txBody>
      </p:sp>
      <p:sp>
        <p:nvSpPr>
          <p:cNvPr id="78" name="Shape 76"/>
          <p:cNvSpPr/>
          <p:nvPr/>
        </p:nvSpPr>
        <p:spPr>
          <a:xfrm>
            <a:off x="9692640" y="3474720"/>
            <a:ext cx="1600200" cy="347472"/>
          </a:xfrm>
          <a:prstGeom prst="rect">
            <a:avLst/>
          </a:prstGeom>
          <a:solidFill>
            <a:srgbClr val="D97706"/>
          </a:solidFill>
          <a:ln/>
        </p:spPr>
      </p:sp>
      <p:sp>
        <p:nvSpPr>
          <p:cNvPr id="79" name="Text 77"/>
          <p:cNvSpPr/>
          <p:nvPr/>
        </p:nvSpPr>
        <p:spPr>
          <a:xfrm>
            <a:off x="9765792" y="3511296"/>
            <a:ext cx="1499616"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快速改善</a:t>
            </a:r>
            <a:endParaRPr lang="en-US" sz="900" dirty="0"/>
          </a:p>
        </p:txBody>
      </p:sp>
      <p:sp>
        <p:nvSpPr>
          <p:cNvPr id="80" name="Shape 78"/>
          <p:cNvSpPr/>
          <p:nvPr/>
        </p:nvSpPr>
        <p:spPr>
          <a:xfrm>
            <a:off x="365760" y="3858768"/>
            <a:ext cx="1965960" cy="347472"/>
          </a:xfrm>
          <a:prstGeom prst="rect">
            <a:avLst/>
          </a:prstGeom>
          <a:solidFill>
            <a:srgbClr val="F8FAFC"/>
          </a:solidFill>
          <a:ln/>
        </p:spPr>
      </p:sp>
      <p:sp>
        <p:nvSpPr>
          <p:cNvPr id="81" name="Text 79"/>
          <p:cNvSpPr/>
          <p:nvPr/>
        </p:nvSpPr>
        <p:spPr>
          <a:xfrm>
            <a:off x="438912" y="3895344"/>
            <a:ext cx="1865376" cy="274320"/>
          </a:xfrm>
          <a:prstGeom prst="rect">
            <a:avLst/>
          </a:prstGeom>
          <a:noFill/>
          <a:ln/>
        </p:spPr>
        <p:txBody>
          <a:bodyPr wrap="square" lIns="0" tIns="0" rIns="0" bIns="0" rtlCol="0" anchor="ctr"/>
          <a:lstStyle/>
          <a:p>
            <a:pPr algn="l" indent="0" marL="0">
              <a:buNone/>
            </a:pPr>
            <a:r>
              <a:rPr lang="en-US" sz="900" dirty="0">
                <a:solidFill>
                  <a:srgbClr val="1E293B"/>
                </a:solidFill>
                <a:latin typeface="Arial" pitchFamily="34" charset="0"/>
                <a:ea typeface="Arial" pitchFamily="34" charset="-122"/>
                <a:cs typeface="Arial" pitchFamily="34" charset="-120"/>
              </a:rPr>
              <a:t>不良率 Defect Rate</a:t>
            </a:r>
            <a:endParaRPr lang="en-US" sz="900" dirty="0"/>
          </a:p>
        </p:txBody>
      </p:sp>
      <p:sp>
        <p:nvSpPr>
          <p:cNvPr id="82" name="Shape 80"/>
          <p:cNvSpPr/>
          <p:nvPr/>
        </p:nvSpPr>
        <p:spPr>
          <a:xfrm>
            <a:off x="2377440" y="3858768"/>
            <a:ext cx="1783080" cy="347472"/>
          </a:xfrm>
          <a:prstGeom prst="rect">
            <a:avLst/>
          </a:prstGeom>
          <a:solidFill>
            <a:srgbClr val="F8FAFC"/>
          </a:solidFill>
          <a:ln/>
        </p:spPr>
      </p:sp>
      <p:sp>
        <p:nvSpPr>
          <p:cNvPr id="83" name="Text 81"/>
          <p:cNvSpPr/>
          <p:nvPr/>
        </p:nvSpPr>
        <p:spPr>
          <a:xfrm>
            <a:off x="2450592" y="3895344"/>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2.5%</a:t>
            </a:r>
            <a:endParaRPr lang="en-US" sz="900" dirty="0"/>
          </a:p>
        </p:txBody>
      </p:sp>
      <p:sp>
        <p:nvSpPr>
          <p:cNvPr id="84" name="Shape 82"/>
          <p:cNvSpPr/>
          <p:nvPr/>
        </p:nvSpPr>
        <p:spPr>
          <a:xfrm>
            <a:off x="4206240" y="3858768"/>
            <a:ext cx="1783080" cy="347472"/>
          </a:xfrm>
          <a:prstGeom prst="rect">
            <a:avLst/>
          </a:prstGeom>
          <a:solidFill>
            <a:srgbClr val="F8FAFC"/>
          </a:solidFill>
          <a:ln/>
        </p:spPr>
      </p:sp>
      <p:sp>
        <p:nvSpPr>
          <p:cNvPr id="85" name="Text 83"/>
          <p:cNvSpPr/>
          <p:nvPr/>
        </p:nvSpPr>
        <p:spPr>
          <a:xfrm>
            <a:off x="4279392" y="3895344"/>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0.5%</a:t>
            </a:r>
            <a:endParaRPr lang="en-US" sz="900" dirty="0"/>
          </a:p>
        </p:txBody>
      </p:sp>
      <p:sp>
        <p:nvSpPr>
          <p:cNvPr id="86" name="Shape 84"/>
          <p:cNvSpPr/>
          <p:nvPr/>
        </p:nvSpPr>
        <p:spPr>
          <a:xfrm>
            <a:off x="6035040" y="3858768"/>
            <a:ext cx="1783080" cy="347472"/>
          </a:xfrm>
          <a:prstGeom prst="rect">
            <a:avLst/>
          </a:prstGeom>
          <a:solidFill>
            <a:srgbClr val="F8FAFC"/>
          </a:solidFill>
          <a:ln/>
        </p:spPr>
      </p:sp>
      <p:sp>
        <p:nvSpPr>
          <p:cNvPr id="87" name="Text 85"/>
          <p:cNvSpPr/>
          <p:nvPr/>
        </p:nvSpPr>
        <p:spPr>
          <a:xfrm>
            <a:off x="6108192" y="3895344"/>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1.2%</a:t>
            </a:r>
            <a:endParaRPr lang="en-US" sz="900" dirty="0"/>
          </a:p>
        </p:txBody>
      </p:sp>
      <p:sp>
        <p:nvSpPr>
          <p:cNvPr id="88" name="Shape 86"/>
          <p:cNvSpPr/>
          <p:nvPr/>
        </p:nvSpPr>
        <p:spPr>
          <a:xfrm>
            <a:off x="7863840" y="3858768"/>
            <a:ext cx="1783080" cy="347472"/>
          </a:xfrm>
          <a:prstGeom prst="rect">
            <a:avLst/>
          </a:prstGeom>
          <a:solidFill>
            <a:srgbClr val="F8FAFC"/>
          </a:solidFill>
          <a:ln/>
        </p:spPr>
      </p:sp>
      <p:sp>
        <p:nvSpPr>
          <p:cNvPr id="89" name="Text 87"/>
          <p:cNvSpPr/>
          <p:nvPr/>
        </p:nvSpPr>
        <p:spPr>
          <a:xfrm>
            <a:off x="7936992" y="3895344"/>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0.4%</a:t>
            </a:r>
            <a:endParaRPr lang="en-US" sz="900" dirty="0"/>
          </a:p>
        </p:txBody>
      </p:sp>
      <p:sp>
        <p:nvSpPr>
          <p:cNvPr id="90" name="Shape 88"/>
          <p:cNvSpPr/>
          <p:nvPr/>
        </p:nvSpPr>
        <p:spPr>
          <a:xfrm>
            <a:off x="9692640" y="3858768"/>
            <a:ext cx="1600200" cy="347472"/>
          </a:xfrm>
          <a:prstGeom prst="rect">
            <a:avLst/>
          </a:prstGeom>
          <a:solidFill>
            <a:srgbClr val="D97706"/>
          </a:solidFill>
          <a:ln/>
        </p:spPr>
      </p:sp>
      <p:sp>
        <p:nvSpPr>
          <p:cNvPr id="91" name="Text 89"/>
          <p:cNvSpPr/>
          <p:nvPr/>
        </p:nvSpPr>
        <p:spPr>
          <a:xfrm>
            <a:off x="9765792" y="3895344"/>
            <a:ext cx="1499616"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改善中</a:t>
            </a:r>
            <a:endParaRPr lang="en-US" sz="900" dirty="0"/>
          </a:p>
        </p:txBody>
      </p:sp>
      <p:sp>
        <p:nvSpPr>
          <p:cNvPr id="92" name="Shape 90"/>
          <p:cNvSpPr/>
          <p:nvPr/>
        </p:nvSpPr>
        <p:spPr>
          <a:xfrm>
            <a:off x="365760" y="4242816"/>
            <a:ext cx="1965960" cy="347472"/>
          </a:xfrm>
          <a:prstGeom prst="rect">
            <a:avLst/>
          </a:prstGeom>
          <a:solidFill>
            <a:srgbClr val="FFFFFF"/>
          </a:solidFill>
          <a:ln/>
        </p:spPr>
      </p:sp>
      <p:sp>
        <p:nvSpPr>
          <p:cNvPr id="93" name="Text 91"/>
          <p:cNvSpPr/>
          <p:nvPr/>
        </p:nvSpPr>
        <p:spPr>
          <a:xfrm>
            <a:off x="438912" y="4279392"/>
            <a:ext cx="1865376" cy="274320"/>
          </a:xfrm>
          <a:prstGeom prst="rect">
            <a:avLst/>
          </a:prstGeom>
          <a:noFill/>
          <a:ln/>
        </p:spPr>
        <p:txBody>
          <a:bodyPr wrap="square" lIns="0" tIns="0" rIns="0" bIns="0" rtlCol="0" anchor="ctr"/>
          <a:lstStyle/>
          <a:p>
            <a:pPr algn="l" indent="0" marL="0">
              <a:buNone/>
            </a:pPr>
            <a:r>
              <a:rPr lang="en-US" sz="900" dirty="0">
                <a:solidFill>
                  <a:srgbClr val="1E293B"/>
                </a:solidFill>
                <a:latin typeface="Arial" pitchFamily="34" charset="0"/>
                <a:ea typeface="Arial" pitchFamily="34" charset="-122"/>
                <a:cs typeface="Arial" pitchFamily="34" charset="-120"/>
              </a:rPr>
              <a:t>交付准时率 OTD</a:t>
            </a:r>
            <a:endParaRPr lang="en-US" sz="900" dirty="0"/>
          </a:p>
        </p:txBody>
      </p:sp>
      <p:sp>
        <p:nvSpPr>
          <p:cNvPr id="94" name="Shape 92"/>
          <p:cNvSpPr/>
          <p:nvPr/>
        </p:nvSpPr>
        <p:spPr>
          <a:xfrm>
            <a:off x="2377440" y="4242816"/>
            <a:ext cx="1783080" cy="347472"/>
          </a:xfrm>
          <a:prstGeom prst="rect">
            <a:avLst/>
          </a:prstGeom>
          <a:solidFill>
            <a:srgbClr val="FFFFFF"/>
          </a:solidFill>
          <a:ln/>
        </p:spPr>
      </p:sp>
      <p:sp>
        <p:nvSpPr>
          <p:cNvPr id="95" name="Text 93"/>
          <p:cNvSpPr/>
          <p:nvPr/>
        </p:nvSpPr>
        <p:spPr>
          <a:xfrm>
            <a:off x="2450592" y="4279392"/>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88%</a:t>
            </a:r>
            <a:endParaRPr lang="en-US" sz="900" dirty="0"/>
          </a:p>
        </p:txBody>
      </p:sp>
      <p:sp>
        <p:nvSpPr>
          <p:cNvPr id="96" name="Shape 94"/>
          <p:cNvSpPr/>
          <p:nvPr/>
        </p:nvSpPr>
        <p:spPr>
          <a:xfrm>
            <a:off x="4206240" y="4242816"/>
            <a:ext cx="1783080" cy="347472"/>
          </a:xfrm>
          <a:prstGeom prst="rect">
            <a:avLst/>
          </a:prstGeom>
          <a:solidFill>
            <a:srgbClr val="FFFFFF"/>
          </a:solidFill>
          <a:ln/>
        </p:spPr>
      </p:sp>
      <p:sp>
        <p:nvSpPr>
          <p:cNvPr id="97" name="Text 95"/>
          <p:cNvSpPr/>
          <p:nvPr/>
        </p:nvSpPr>
        <p:spPr>
          <a:xfrm>
            <a:off x="4279392" y="4279392"/>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98%</a:t>
            </a:r>
            <a:endParaRPr lang="en-US" sz="900" dirty="0"/>
          </a:p>
        </p:txBody>
      </p:sp>
      <p:sp>
        <p:nvSpPr>
          <p:cNvPr id="98" name="Shape 96"/>
          <p:cNvSpPr/>
          <p:nvPr/>
        </p:nvSpPr>
        <p:spPr>
          <a:xfrm>
            <a:off x="6035040" y="4242816"/>
            <a:ext cx="1783080" cy="347472"/>
          </a:xfrm>
          <a:prstGeom prst="rect">
            <a:avLst/>
          </a:prstGeom>
          <a:solidFill>
            <a:srgbClr val="FFFFFF"/>
          </a:solidFill>
          <a:ln/>
        </p:spPr>
      </p:sp>
      <p:sp>
        <p:nvSpPr>
          <p:cNvPr id="99" name="Text 97"/>
          <p:cNvSpPr/>
          <p:nvPr/>
        </p:nvSpPr>
        <p:spPr>
          <a:xfrm>
            <a:off x="6108192" y="4279392"/>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93%</a:t>
            </a:r>
            <a:endParaRPr lang="en-US" sz="900" dirty="0"/>
          </a:p>
        </p:txBody>
      </p:sp>
      <p:sp>
        <p:nvSpPr>
          <p:cNvPr id="100" name="Shape 98"/>
          <p:cNvSpPr/>
          <p:nvPr/>
        </p:nvSpPr>
        <p:spPr>
          <a:xfrm>
            <a:off x="7863840" y="4242816"/>
            <a:ext cx="1783080" cy="347472"/>
          </a:xfrm>
          <a:prstGeom prst="rect">
            <a:avLst/>
          </a:prstGeom>
          <a:solidFill>
            <a:srgbClr val="FFFFFF"/>
          </a:solidFill>
          <a:ln/>
        </p:spPr>
      </p:sp>
      <p:sp>
        <p:nvSpPr>
          <p:cNvPr id="101" name="Text 99"/>
          <p:cNvSpPr/>
          <p:nvPr/>
        </p:nvSpPr>
        <p:spPr>
          <a:xfrm>
            <a:off x="7936992" y="4279392"/>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99%</a:t>
            </a:r>
            <a:endParaRPr lang="en-US" sz="900" dirty="0"/>
          </a:p>
        </p:txBody>
      </p:sp>
      <p:sp>
        <p:nvSpPr>
          <p:cNvPr id="102" name="Shape 100"/>
          <p:cNvSpPr/>
          <p:nvPr/>
        </p:nvSpPr>
        <p:spPr>
          <a:xfrm>
            <a:off x="9692640" y="4242816"/>
            <a:ext cx="1600200" cy="347472"/>
          </a:xfrm>
          <a:prstGeom prst="rect">
            <a:avLst/>
          </a:prstGeom>
          <a:solidFill>
            <a:srgbClr val="059669"/>
          </a:solidFill>
          <a:ln/>
        </p:spPr>
      </p:sp>
      <p:sp>
        <p:nvSpPr>
          <p:cNvPr id="103" name="Text 101"/>
          <p:cNvSpPr/>
          <p:nvPr/>
        </p:nvSpPr>
        <p:spPr>
          <a:xfrm>
            <a:off x="9765792" y="4279392"/>
            <a:ext cx="1499616"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接近目标</a:t>
            </a:r>
            <a:endParaRPr lang="en-US" sz="900" dirty="0"/>
          </a:p>
        </p:txBody>
      </p:sp>
      <p:sp>
        <p:nvSpPr>
          <p:cNvPr id="104" name="Shape 102"/>
          <p:cNvSpPr/>
          <p:nvPr/>
        </p:nvSpPr>
        <p:spPr>
          <a:xfrm>
            <a:off x="365760" y="4626864"/>
            <a:ext cx="1965960" cy="347472"/>
          </a:xfrm>
          <a:prstGeom prst="rect">
            <a:avLst/>
          </a:prstGeom>
          <a:solidFill>
            <a:srgbClr val="F8FAFC"/>
          </a:solidFill>
          <a:ln/>
        </p:spPr>
      </p:sp>
      <p:sp>
        <p:nvSpPr>
          <p:cNvPr id="105" name="Text 103"/>
          <p:cNvSpPr/>
          <p:nvPr/>
        </p:nvSpPr>
        <p:spPr>
          <a:xfrm>
            <a:off x="438912" y="4663440"/>
            <a:ext cx="1865376" cy="274320"/>
          </a:xfrm>
          <a:prstGeom prst="rect">
            <a:avLst/>
          </a:prstGeom>
          <a:noFill/>
          <a:ln/>
        </p:spPr>
        <p:txBody>
          <a:bodyPr wrap="square" lIns="0" tIns="0" rIns="0" bIns="0" rtlCol="0" anchor="ctr"/>
          <a:lstStyle/>
          <a:p>
            <a:pPr algn="l" indent="0" marL="0">
              <a:buNone/>
            </a:pPr>
            <a:r>
              <a:rPr lang="en-US" sz="900" dirty="0">
                <a:solidFill>
                  <a:srgbClr val="1E293B"/>
                </a:solidFill>
                <a:latin typeface="Arial" pitchFamily="34" charset="0"/>
                <a:ea typeface="Arial" pitchFamily="34" charset="-122"/>
                <a:cs typeface="Arial" pitchFamily="34" charset="-120"/>
              </a:rPr>
              <a:t>库存周转天数</a:t>
            </a:r>
            <a:endParaRPr lang="en-US" sz="900" dirty="0"/>
          </a:p>
        </p:txBody>
      </p:sp>
      <p:sp>
        <p:nvSpPr>
          <p:cNvPr id="106" name="Shape 104"/>
          <p:cNvSpPr/>
          <p:nvPr/>
        </p:nvSpPr>
        <p:spPr>
          <a:xfrm>
            <a:off x="2377440" y="4626864"/>
            <a:ext cx="1783080" cy="347472"/>
          </a:xfrm>
          <a:prstGeom prst="rect">
            <a:avLst/>
          </a:prstGeom>
          <a:solidFill>
            <a:srgbClr val="F8FAFC"/>
          </a:solidFill>
          <a:ln/>
        </p:spPr>
      </p:sp>
      <p:sp>
        <p:nvSpPr>
          <p:cNvPr id="107" name="Text 105"/>
          <p:cNvSpPr/>
          <p:nvPr/>
        </p:nvSpPr>
        <p:spPr>
          <a:xfrm>
            <a:off x="2450592" y="4663440"/>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14天</a:t>
            </a:r>
            <a:endParaRPr lang="en-US" sz="900" dirty="0"/>
          </a:p>
        </p:txBody>
      </p:sp>
      <p:sp>
        <p:nvSpPr>
          <p:cNvPr id="108" name="Shape 106"/>
          <p:cNvSpPr/>
          <p:nvPr/>
        </p:nvSpPr>
        <p:spPr>
          <a:xfrm>
            <a:off x="4206240" y="4626864"/>
            <a:ext cx="1783080" cy="347472"/>
          </a:xfrm>
          <a:prstGeom prst="rect">
            <a:avLst/>
          </a:prstGeom>
          <a:solidFill>
            <a:srgbClr val="F8FAFC"/>
          </a:solidFill>
          <a:ln/>
        </p:spPr>
      </p:sp>
      <p:sp>
        <p:nvSpPr>
          <p:cNvPr id="109" name="Text 107"/>
          <p:cNvSpPr/>
          <p:nvPr/>
        </p:nvSpPr>
        <p:spPr>
          <a:xfrm>
            <a:off x="4279392" y="4663440"/>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5天</a:t>
            </a:r>
            <a:endParaRPr lang="en-US" sz="900" dirty="0"/>
          </a:p>
        </p:txBody>
      </p:sp>
      <p:sp>
        <p:nvSpPr>
          <p:cNvPr id="110" name="Shape 108"/>
          <p:cNvSpPr/>
          <p:nvPr/>
        </p:nvSpPr>
        <p:spPr>
          <a:xfrm>
            <a:off x="6035040" y="4626864"/>
            <a:ext cx="1783080" cy="347472"/>
          </a:xfrm>
          <a:prstGeom prst="rect">
            <a:avLst/>
          </a:prstGeom>
          <a:solidFill>
            <a:srgbClr val="F8FAFC"/>
          </a:solidFill>
          <a:ln/>
        </p:spPr>
      </p:sp>
      <p:sp>
        <p:nvSpPr>
          <p:cNvPr id="111" name="Text 109"/>
          <p:cNvSpPr/>
          <p:nvPr/>
        </p:nvSpPr>
        <p:spPr>
          <a:xfrm>
            <a:off x="6108192" y="4663440"/>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9天</a:t>
            </a:r>
            <a:endParaRPr lang="en-US" sz="900" dirty="0"/>
          </a:p>
        </p:txBody>
      </p:sp>
      <p:sp>
        <p:nvSpPr>
          <p:cNvPr id="112" name="Shape 110"/>
          <p:cNvSpPr/>
          <p:nvPr/>
        </p:nvSpPr>
        <p:spPr>
          <a:xfrm>
            <a:off x="7863840" y="4626864"/>
            <a:ext cx="1783080" cy="347472"/>
          </a:xfrm>
          <a:prstGeom prst="rect">
            <a:avLst/>
          </a:prstGeom>
          <a:solidFill>
            <a:srgbClr val="F8FAFC"/>
          </a:solidFill>
          <a:ln/>
        </p:spPr>
      </p:sp>
      <p:sp>
        <p:nvSpPr>
          <p:cNvPr id="113" name="Text 111"/>
          <p:cNvSpPr/>
          <p:nvPr/>
        </p:nvSpPr>
        <p:spPr>
          <a:xfrm>
            <a:off x="7936992" y="4663440"/>
            <a:ext cx="1682496" cy="274320"/>
          </a:xfrm>
          <a:prstGeom prst="rect">
            <a:avLst/>
          </a:prstGeom>
          <a:noFill/>
          <a:ln/>
        </p:spPr>
        <p:txBody>
          <a:bodyPr wrap="square" lIns="0" tIns="0" rIns="0" bIns="0" rtlCol="0" anchor="ctr"/>
          <a:lstStyle/>
          <a:p>
            <a:pPr algn="ctr" indent="0" marL="0">
              <a:buNone/>
            </a:pPr>
            <a:r>
              <a:rPr lang="en-US" sz="900" dirty="0">
                <a:solidFill>
                  <a:srgbClr val="1E293B"/>
                </a:solidFill>
                <a:latin typeface="Arial" pitchFamily="34" charset="0"/>
                <a:ea typeface="Arial" pitchFamily="34" charset="-122"/>
                <a:cs typeface="Arial" pitchFamily="34" charset="-120"/>
              </a:rPr>
              <a:t>4天</a:t>
            </a:r>
            <a:endParaRPr lang="en-US" sz="900" dirty="0"/>
          </a:p>
        </p:txBody>
      </p:sp>
      <p:sp>
        <p:nvSpPr>
          <p:cNvPr id="114" name="Shape 112"/>
          <p:cNvSpPr/>
          <p:nvPr/>
        </p:nvSpPr>
        <p:spPr>
          <a:xfrm>
            <a:off x="9692640" y="4626864"/>
            <a:ext cx="1600200" cy="347472"/>
          </a:xfrm>
          <a:prstGeom prst="rect">
            <a:avLst/>
          </a:prstGeom>
          <a:solidFill>
            <a:srgbClr val="D97706"/>
          </a:solidFill>
          <a:ln/>
        </p:spPr>
      </p:sp>
      <p:sp>
        <p:nvSpPr>
          <p:cNvPr id="115" name="Text 113"/>
          <p:cNvSpPr/>
          <p:nvPr/>
        </p:nvSpPr>
        <p:spPr>
          <a:xfrm>
            <a:off x="9765792" y="4663440"/>
            <a:ext cx="1499616" cy="274320"/>
          </a:xfrm>
          <a:prstGeom prst="rect">
            <a:avLst/>
          </a:prstGeom>
          <a:noFill/>
          <a:ln/>
        </p:spPr>
        <p:txBody>
          <a:bodyPr wrap="square" lIns="0" tIns="0" rIns="0" bIns="0" rtlCol="0" anchor="ctr"/>
          <a:lstStyle/>
          <a:p>
            <a:pPr algn="ctr" indent="0" marL="0">
              <a:buNone/>
            </a:pPr>
            <a:r>
              <a:rPr lang="en-US" sz="900" dirty="0">
                <a:solidFill>
                  <a:srgbClr val="FFFFFF"/>
                </a:solidFill>
                <a:latin typeface="Arial" pitchFamily="34" charset="0"/>
                <a:ea typeface="Arial" pitchFamily="34" charset="-122"/>
                <a:cs typeface="Arial" pitchFamily="34" charset="-120"/>
              </a:rPr>
              <a:t>改善中</a:t>
            </a:r>
            <a:endParaRPr lang="en-US" sz="900" dirty="0"/>
          </a:p>
        </p:txBody>
      </p:sp>
      <p:sp>
        <p:nvSpPr>
          <p:cNvPr id="116" name="Shape 114"/>
          <p:cNvSpPr/>
          <p:nvPr/>
        </p:nvSpPr>
        <p:spPr>
          <a:xfrm>
            <a:off x="365760" y="5120640"/>
            <a:ext cx="365760" cy="182880"/>
          </a:xfrm>
          <a:prstGeom prst="rect">
            <a:avLst/>
          </a:prstGeom>
          <a:solidFill>
            <a:srgbClr val="059669"/>
          </a:solidFill>
          <a:ln/>
        </p:spPr>
      </p:sp>
      <p:sp>
        <p:nvSpPr>
          <p:cNvPr id="117" name="Text 115"/>
          <p:cNvSpPr/>
          <p:nvPr/>
        </p:nvSpPr>
        <p:spPr>
          <a:xfrm>
            <a:off x="822960" y="5120640"/>
            <a:ext cx="2286000" cy="18288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已达到/接近目标</a:t>
            </a:r>
            <a:endParaRPr lang="en-US" sz="900" dirty="0"/>
          </a:p>
        </p:txBody>
      </p:sp>
      <p:sp>
        <p:nvSpPr>
          <p:cNvPr id="118" name="Shape 116"/>
          <p:cNvSpPr/>
          <p:nvPr/>
        </p:nvSpPr>
        <p:spPr>
          <a:xfrm>
            <a:off x="3291840" y="5120640"/>
            <a:ext cx="365760" cy="182880"/>
          </a:xfrm>
          <a:prstGeom prst="rect">
            <a:avLst/>
          </a:prstGeom>
          <a:solidFill>
            <a:srgbClr val="D97706"/>
          </a:solidFill>
          <a:ln/>
        </p:spPr>
      </p:sp>
      <p:sp>
        <p:nvSpPr>
          <p:cNvPr id="119" name="Text 117"/>
          <p:cNvSpPr/>
          <p:nvPr/>
        </p:nvSpPr>
        <p:spPr>
          <a:xfrm>
            <a:off x="3749040" y="5120640"/>
            <a:ext cx="1371600" cy="182880"/>
          </a:xfrm>
          <a:prstGeom prst="rect">
            <a:avLst/>
          </a:prstGeom>
          <a:noFill/>
          <a:ln/>
        </p:spPr>
        <p:txBody>
          <a:bodyPr wrap="square" rtlCol="0" anchor="ctr"/>
          <a:lstStyle/>
          <a:p>
            <a:pPr indent="0" marL="0">
              <a:buNone/>
            </a:pPr>
            <a:r>
              <a:rPr lang="en-US" sz="900" dirty="0">
                <a:solidFill>
                  <a:srgbClr val="1E293B"/>
                </a:solidFill>
                <a:latin typeface="Arial" pitchFamily="34" charset="0"/>
                <a:ea typeface="Arial" pitchFamily="34" charset="-122"/>
                <a:cs typeface="Arial" pitchFamily="34" charset="-120"/>
              </a:rPr>
              <a:t>改善中</a:t>
            </a:r>
            <a:endParaRPr lang="en-US" sz="900" dirty="0"/>
          </a:p>
        </p:txBody>
      </p:sp>
      <p:sp>
        <p:nvSpPr>
          <p:cNvPr id="120" name="Shape 118"/>
          <p:cNvSpPr/>
          <p:nvPr/>
        </p:nvSpPr>
        <p:spPr>
          <a:xfrm>
            <a:off x="457200" y="5486400"/>
            <a:ext cx="11274552" cy="365760"/>
          </a:xfrm>
          <a:prstGeom prst="roundRect">
            <a:avLst>
              <a:gd name="adj" fmla="val 15000"/>
            </a:avLst>
          </a:prstGeom>
          <a:solidFill>
            <a:srgbClr val="1E2761"/>
          </a:solidFill>
          <a:ln/>
        </p:spPr>
      </p:sp>
      <p:sp>
        <p:nvSpPr>
          <p:cNvPr id="121" name="Text 119"/>
          <p:cNvSpPr/>
          <p:nvPr/>
        </p:nvSpPr>
        <p:spPr>
          <a:xfrm>
            <a:off x="640080" y="5504688"/>
            <a:ext cx="10881360" cy="329184"/>
          </a:xfrm>
          <a:prstGeom prst="rect">
            <a:avLst/>
          </a:prstGeom>
          <a:noFill/>
          <a:ln/>
        </p:spPr>
        <p:txBody>
          <a:bodyPr wrap="square" rtlCol="0" anchor="ctr"/>
          <a:lstStyle/>
          <a:p>
            <a:pPr algn="ctr" indent="0" marL="0">
              <a:buNone/>
            </a:pPr>
            <a:r>
              <a:rPr lang="en-US" sz="1100" dirty="0">
                <a:solidFill>
                  <a:srgbClr val="1E2761"/>
                </a:solidFill>
                <a:latin typeface="Arial Black" pitchFamily="34" charset="0"/>
                <a:ea typeface="Arial Black" pitchFamily="34" charset="-122"/>
                <a:cs typeface="Arial Black" pitchFamily="34" charset="-120"/>
              </a:rPr>
              <a:t>改善路径：先缩短换型时间(QUICK WIN) → 建立拉动系统 → 优化瓶颈工序 → 持续改善</a:t>
            </a:r>
            <a:endParaRPr lang="en-US" sz="1100" dirty="0"/>
          </a:p>
        </p:txBody>
      </p:sp>
      <p:sp>
        <p:nvSpPr>
          <p:cNvPr id="122" name="Shape 120"/>
          <p:cNvSpPr/>
          <p:nvPr/>
        </p:nvSpPr>
        <p:spPr>
          <a:xfrm>
            <a:off x="0" y="6565392"/>
            <a:ext cx="12188952" cy="292608"/>
          </a:xfrm>
          <a:prstGeom prst="rect">
            <a:avLst/>
          </a:prstGeom>
          <a:solidFill>
            <a:srgbClr val="1E2761"/>
          </a:solidFill>
          <a:ln w="12700">
            <a:solidFill>
              <a:srgbClr val="1E2761"/>
            </a:solidFill>
            <a:prstDash val="solid"/>
          </a:ln>
        </p:spPr>
      </p:sp>
      <p:sp>
        <p:nvSpPr>
          <p:cNvPr id="123" name="Text 121"/>
          <p:cNvSpPr/>
          <p:nvPr/>
        </p:nvSpPr>
        <p:spPr>
          <a:xfrm>
            <a:off x="0" y="6565392"/>
            <a:ext cx="12188952" cy="292608"/>
          </a:xfrm>
          <a:prstGeom prst="rect">
            <a:avLst/>
          </a:prstGeom>
          <a:noFill/>
          <a:ln/>
        </p:spPr>
        <p:txBody>
          <a:bodyPr wrap="square" rtlCol="0" anchor="ctr"/>
          <a:lstStyle/>
          <a:p>
            <a:pPr algn="ctr" indent="0" marL="0">
              <a:buNone/>
            </a:pPr>
            <a:r>
              <a:rPr lang="en-US" sz="1100" dirty="0">
                <a:solidFill>
                  <a:srgbClr val="CADCFC"/>
                </a:solidFill>
                <a:latin typeface="Arial" pitchFamily="34" charset="0"/>
                <a:ea typeface="Arial" pitchFamily="34" charset="-122"/>
                <a:cs typeface="Arial" pitchFamily="34" charset="-120"/>
              </a:rPr>
              <a:t>KPI追踪是VSM持续改善的保障 | 建议每月回顾一次关键指标</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价值流图VSM详解</dc:title>
  <dc:subject>PptxGenJS Presentation</dc:subject>
  <dc:creator>精益工具知识库</dc:creator>
  <cp:lastModifiedBy>精益工具知识库</cp:lastModifiedBy>
  <cp:revision>1</cp:revision>
  <dcterms:created xsi:type="dcterms:W3CDTF">2026-05-17T11:54:19Z</dcterms:created>
  <dcterms:modified xsi:type="dcterms:W3CDTF">2026-05-17T11:54:19Z</dcterms:modified>
</cp:coreProperties>
</file>