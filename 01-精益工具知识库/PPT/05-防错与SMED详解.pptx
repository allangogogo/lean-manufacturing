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943600" cy="5943600"/>
          </a:xfrm>
          <a:prstGeom prst="ellipse">
            <a:avLst/>
          </a:prstGeom>
          <a:solidFill>
            <a:srgbClr val="1B2D6B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233B7A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292608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防错与SMED详解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4251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Poka-Yoke &amp; SMED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49834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从错误预防到快速换模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连接件制造的精益利器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防错原理与类型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Principles &amp; Types of Poka-Yoke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防错原理与类型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1 · 防错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56616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5661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接触法  Contact Method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" y="20391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通过物理接触检测产品形状/尺寸缺陷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如：限位针、检具、模具定位块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496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定值法  Fixed-Value Method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确保操作次数/数量正确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如：计数器、称重检测、限位开关计数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291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动作步骤法  Motion-Step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36301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检测动作顺序是否正确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如：顺序锁定装置、互锁机构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" y="4178808"/>
            <a:ext cx="3566160" cy="201168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57200" y="4142232"/>
            <a:ext cx="35661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566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4360" y="42153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成组法  Grouping Method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94360" y="45537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防止混料/错料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如：颜色标识、料斗分格、条码/RFID检测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" y="522122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将多个防错点集中到组合式检测站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实现多件并行防错，提升效率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251960" y="1627632"/>
            <a:ext cx="6894576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4251960" y="1627632"/>
            <a:ext cx="1828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对比维度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80760" y="1627632"/>
            <a:ext cx="250545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传统检验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86216" y="162763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 Poka-Yoke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51960" y="2029968"/>
            <a:ext cx="68945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251960" y="202996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发现时机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080760" y="202996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事后检验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86216" y="20299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事前预防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51960" y="2432304"/>
            <a:ext cx="689457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251960" y="2432304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拦截能力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80760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可能漏检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586216" y="243230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阻止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51960" y="2834640"/>
            <a:ext cx="68945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4251960" y="28346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依赖度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2834640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依赖人员技能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86216" y="2834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不依赖人员判断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51960" y="3236976"/>
            <a:ext cx="689457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251960" y="323697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080760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额外检验工序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586216" y="323697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装置投入，长期节省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51960" y="3639312"/>
            <a:ext cx="6894576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4251960" y="363931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080760" y="3639312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慢（迟批问题）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586216" y="363931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即时（单件阻止）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251960" y="4041648"/>
            <a:ext cx="6894576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4251960" y="404164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改善方式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080760" y="4041648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被动接受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586216" y="404164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主动消除根因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51960" y="457200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251960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预防级 Prevention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251960" y="4956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在错误发生前消除根本原因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65592" y="4572000"/>
            <a:ext cx="3566160" cy="34747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8165592" y="4572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检测级 Detection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65592" y="495604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在错误发生后立即检测拦截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818120" y="4617720"/>
            <a:ext cx="347472" cy="256032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防错装置案例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Poka-Yoke Devices in Discrete Manufacturing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防错装置案例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连接件制造 · 实战案例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356616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35661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案例1：错误模具检测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问题：换模时装错模具导致批量废品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方案：模具定位销+接近传感器联动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效果：错误安装100%检测并报警停机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防错类型：接触法+定值法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436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Zero Defect Since 2021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25112" y="1664208"/>
            <a:ext cx="3566160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297680" y="1627632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297680" y="1627632"/>
            <a:ext cx="356616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434840" y="17007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案例2：漏尺寸检测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3484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问题：精加工工序漏精加工流出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34840" y="22860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方案：量规在线自动检测装置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3484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效果：每件自动检测，NG品自动排出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34840" y="2834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防错类型：接触法+动作步骤法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33192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Detection at Every Piece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165592" y="1664208"/>
            <a:ext cx="3593592" cy="233172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138160" y="1627632"/>
            <a:ext cx="359359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38160" y="1627632"/>
            <a:ext cx="3593592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275320" y="1700784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案例3：材料混料检测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75320" y="2011680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问题：不同钢号（304 vs 316）混料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75320" y="2286000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方案：激光光谱在线识别+自动分流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75320" y="2560320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效果：实时识别，自动分流至对应料仓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275320" y="2834640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防错类型：成组法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75320" y="33192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Material Mix-up Prevented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04872" y="4242816"/>
            <a:ext cx="7434072" cy="196596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377440" y="4206240"/>
            <a:ext cx="74340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377440" y="4206240"/>
            <a:ext cx="7434072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2514600" y="4279392"/>
            <a:ext cx="7159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案例4：包装混装防错  Mix-up Prevention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514600" y="4590288"/>
            <a:ext cx="7159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问题：不同规格工件（某型号 vs 某型号）混装出货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4864608"/>
            <a:ext cx="7159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方案：自动称重扫码系统+条码双重校验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514600" y="5138928"/>
            <a:ext cx="7159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效果：错装出货次数降为零；视频联动拍照存档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514600" y="5532120"/>
            <a:ext cx="7159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称重精度：±0.1g   扫码速度：&lt;1秒   追溯保存：3年+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0" y="3794760"/>
            <a:ext cx="1216152" cy="777240"/>
          </a:xfrm>
          <a:prstGeom prst="diamond">
            <a:avLst/>
          </a:prstGeom>
          <a:solidFill>
            <a:srgbClr val="EEF2FF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5486400" y="3840480"/>
            <a:ext cx="1216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均属于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防错实施方法论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7-Step Poka-Yoke Implementation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防错实施方法论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七步法 · 零成本优先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3252" y="17830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73252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11480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识别缺陷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记录缺陷类型和发生频率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801368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400300" y="17830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400300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92808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938528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分析原因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938528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5Why分析找到根本原因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3328416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927348" y="1783080"/>
            <a:ext cx="402336" cy="40233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927348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419856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465576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设计对策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65576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选择防错类型和方案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4855464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5454396" y="1783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54396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946904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992624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零成本优先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92624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利用重力/限位/颜色标识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382512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981444" y="1783080"/>
            <a:ext cx="402336" cy="40233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981444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73952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19672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制作装置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19672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快速原型试运行验证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7909560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8508492" y="17830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508492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01000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8046720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培训执行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046720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操作员参与标准化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9436608" y="1965960"/>
            <a:ext cx="73152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0035540" y="1783080"/>
            <a:ext cx="402336" cy="402336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0035540" y="178308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9528048" y="2258568"/>
            <a:ext cx="1417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9573768" y="2258568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持续改善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573768" y="2441448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定期评估完善迭代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365760" y="2880360"/>
            <a:ext cx="114574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365760" y="2971800"/>
            <a:ext cx="114574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零成本防错优先原则：先用最简单的方法（重力、限位、颜色）解决问题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0" y="3474720"/>
            <a:ext cx="1645920" cy="7772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3200400" y="3474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全员参与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583680" y="3474720"/>
            <a:ext cx="1645920" cy="7772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583680" y="347472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循环迭代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2194560" y="4389120"/>
            <a:ext cx="77998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操作员是防错的第一责任人——他们最了解现场问题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三步法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Minute Exchange of Die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SMED 三步法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2 · SMED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16916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1764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区分内部与外部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vs External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区分必须停机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才能完成的操作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703320" y="2148840"/>
            <a:ext cx="365760" cy="365760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069080" y="1691640"/>
            <a:ext cx="2560320" cy="1280160"/>
          </a:xfrm>
          <a:prstGeom prst="roundRect">
            <a:avLst>
              <a:gd name="adj" fmla="val 857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069080" y="176479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069080" y="1965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转化内部为外部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069080" y="2286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Convert to External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将停机操作转化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为可提前准备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0" y="2148840"/>
            <a:ext cx="365760" cy="365760"/>
          </a:xfrm>
          <a:prstGeom prst="rightArrow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995160" y="16916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995160" y="17647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995160" y="1965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优化所有操作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95160" y="22860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Streamline All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简化剩余操作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目标：&lt;10分钟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1127455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57200" y="33832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换模时间压缩示意：从 60 分钟压缩至 &lt;10 分钟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solidFill>
            <a:srgbClr val="FEE2E2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solidFill>
            <a:srgbClr val="DC2626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914400" y="374904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换前 Internal 50min  |  换后 External 10min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solidFill>
            <a:srgbClr val="ECFDF5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14400" y="4343400"/>
            <a:ext cx="1371600" cy="457200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14400" y="43434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换前 Internal &lt;10min（目标）  |  外部准备已全部完成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89204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压缩率 &gt;80%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连接件案例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Machining Die Change: 60min → &lt;10min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SMED 连接件案例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机加工模换模改善实例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5394960" cy="4023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57200" y="162763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 BEFORE（合计 60 分钟）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1627632"/>
            <a:ext cx="5422392" cy="40233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309360" y="1627632"/>
            <a:ext cx="54223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 AFTER（合计 &lt;10 分钟）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029968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48640" y="202996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1.停机确认模具型号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02996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分钟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029968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53949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65176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2.拆卸旧模具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分钟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265176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73552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273552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3.搬运新模具到机台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0" y="327355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分钟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273552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3895344"/>
            <a:ext cx="5394960" cy="594360"/>
          </a:xfrm>
          <a:prstGeom prst="rect">
            <a:avLst/>
          </a:prstGeom>
          <a:solidFill>
            <a:srgbClr val="FEF2F2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48640" y="389534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4.安装新模具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89534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0" y="3895344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517136"/>
            <a:ext cx="5394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48640" y="451713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5.调试与试生产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0" y="45171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分钟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0" y="4517136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309360" y="2029968"/>
            <a:ext cx="542239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400800" y="2029968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1.提前备好模具与工具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418320" y="2029968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分钟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424160" y="2029968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09360" y="2651760"/>
            <a:ext cx="542239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6400800" y="265176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2.模具预热（提前启动）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418320" y="2651760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分钟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424160" y="26517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09360" y="3273552"/>
            <a:ext cx="542239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400800" y="3273552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3.快速定位安装模具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418320" y="3273552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分钟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424160" y="3273552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309360" y="3895344"/>
            <a:ext cx="5422392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00800" y="3895344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4.一键参数调用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418320" y="3895344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分钟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24160" y="3895344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4517136"/>
            <a:ext cx="542239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00800" y="4517136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5.首件确认与生产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418320" y="4517136"/>
            <a:ext cx="1005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分钟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424160" y="4517136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0" y="5303520"/>
            <a:ext cx="5788152" cy="777240"/>
          </a:xfrm>
          <a:prstGeom prst="roundRect">
            <a:avLst>
              <a:gd name="adj" fmla="val 14118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3200400" y="5303520"/>
            <a:ext cx="5788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单次节省 50 分钟  日换模 3 次  日节省 150 分钟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实施效果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 &amp; Key Success Factors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SMED 实施效果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效果数据 · 关键成果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801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60min → &lt;10min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换模时间压缩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6916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383280" y="1801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83%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时间节省率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6916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0" y="1801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3次/日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21792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换模频次提升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52560" y="1691640"/>
            <a:ext cx="2560320" cy="1051560"/>
          </a:xfrm>
          <a:prstGeom prst="roundRect">
            <a:avLst>
              <a:gd name="adj" fmla="val 1043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052560" y="180136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150min/日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525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日节省工时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26080"/>
            <a:ext cx="11274552" cy="40233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57200" y="29260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5176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12080" y="292608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2926080"/>
            <a:ext cx="2194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改善幅度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328416"/>
            <a:ext cx="11274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2920" y="33284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换模时间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5176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min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12080" y="332841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 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818120" y="332841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83%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3730752"/>
            <a:ext cx="112745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3730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换模频次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651760" y="37307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次/日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212080" y="373075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次/日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18120" y="373075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200%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133088"/>
            <a:ext cx="11274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2920" y="41330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OEE 设备效率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651760" y="4133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212080" y="41330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818120" y="41330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20pp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4535424"/>
            <a:ext cx="11274552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02920" y="45354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在品库存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651760" y="4535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 件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12080" y="45354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 件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818120" y="45354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70%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4937760"/>
            <a:ext cx="11274552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502920" y="4937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切换损失工时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651760" y="4937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min/次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4937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 min/次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818120" y="4937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83%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7200" y="5394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成功关键因素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57200" y="5669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457200" y="5669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标准化作业：制定换模标准流程（SOP），每个动作精确到秒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337560" y="5669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337560" y="5669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并行作业：多人同时操作，消除等待时间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17920" y="5669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6217920" y="5669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专用工具：开发快速夹紧/定位专用工装夹具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9098280" y="566928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9098280" y="56692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参数预存：模具参数数字化管理，一键调用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73152"/>
            <a:ext cx="12188952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10312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总结与行动计划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Next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57200" y="6583680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| 防错与SMED详解 | 总结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23444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23444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 · 行动 · 展望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" y="1664208"/>
            <a:ext cx="5394960" cy="219456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57200" y="1627632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57200" y="1627632"/>
            <a:ext cx="539496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" y="170078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防错 Poka-Yoke 核心要点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0391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预防优于检测——目标是从根源消除错误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23134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零成本优先——先用最简单方法解决问题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258775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操作员参与——一线员工最了解现场问题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286207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持续迭代——从检测到预防的不断提升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" y="336499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四类型：接触法 / 定值法 / 动作步骤法 / 成组法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36792" y="1664208"/>
            <a:ext cx="5422392" cy="2194560"/>
          </a:xfrm>
          <a:prstGeom prst="rect">
            <a:avLst/>
          </a:prstGeom>
          <a:solidFill>
            <a:srgbClr val="E2E8F0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0" y="1627632"/>
            <a:ext cx="542239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0" y="1627632"/>
            <a:ext cx="5422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446520" y="1700784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SMED 核心要点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46520" y="203911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区分内外部——明确哪些必须停机操作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231343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转化内→外——能提前准备的绝不占用停机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58775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优化剩余项——简化每一个动作到极致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86207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目标&lt;10min——分钟级换模释放产能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3364992"/>
            <a:ext cx="5148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效果：换模时间↓83%  OEE↑20pp  库存↓70%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行动计划建议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57200" y="44348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第1周\n缺陷数据收集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70632" y="4709160"/>
            <a:ext cx="219456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990088" y="44348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2990088" y="4434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第2周\n5Why根因分析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212080" y="4709160"/>
            <a:ext cx="219456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431536" y="44348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31536" y="4434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第3周\n零成本防错方案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470648" y="4709160"/>
            <a:ext cx="219456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7690104" y="4434840"/>
            <a:ext cx="2011680" cy="777240"/>
          </a:xfrm>
          <a:prstGeom prst="roundRect">
            <a:avLst>
              <a:gd name="adj" fmla="val 11765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7690104" y="443484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第4周\n装置制作验证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729216" y="4709160"/>
            <a:ext cx="219456" cy="219456"/>
          </a:xfrm>
          <a:prstGeom prst="right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9948672" y="44348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9948672" y="443484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第8周\n标准化与推广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0" y="5577840"/>
            <a:ext cx="10360152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000000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14400" y="5577840"/>
            <a:ext cx="103601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"质量是制造出来的，不是检验出来的"  —— 防错让人不犯错；SMED让机器不停歇"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防错与SMED详解 Poka-Yoke &amp; SMED</dc:title>
  <dc:subject>PptxGenJS Presentation</dc:subject>
  <dc:creator>精益工具知识库</dc:creator>
  <cp:lastModifiedBy>精益工具知识库</cp:lastModifiedBy>
  <cp:revision>1</cp:revision>
  <dcterms:created xsi:type="dcterms:W3CDTF">2026-05-17T12:15:38Z</dcterms:created>
  <dcterms:modified xsi:type="dcterms:W3CDTF">2026-05-17T12:15:38Z</dcterms:modified>
</cp:coreProperties>
</file>