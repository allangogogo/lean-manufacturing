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0" y="914400"/>
            <a:ext cx="1828800" cy="1828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743200"/>
            <a:ext cx="13716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731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5EEA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TPM 与 OEE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全面生产维护 · 设备综合效率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全员参与的设备管理体系 | OEE = 可用率 × 性能率 × 合格率 | 世界级目标 &gt;85%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12188952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OEE 计算详解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93776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Equipment Effectiveness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1097280"/>
            <a:ext cx="8531352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114300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OEE = 可用率 × 性能率 × 合格率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36576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20240"/>
            <a:ext cx="36576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38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可用率 Availability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2677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(计划时间 − 停机时间) / 计划时间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6517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目标: &gt;90%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92608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例：计划440min，停机30min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可用率 = (440−30)/440 = 93.2%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0" y="1920240"/>
            <a:ext cx="36576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920240"/>
            <a:ext cx="365760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938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性能率 Performance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34840" y="22677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(理想节拍 × 产出数量) / 运行时间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34840" y="26517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目标: &gt;95%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34840" y="292608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例：理想节拍1.0s，产出35000件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性能率 = 35000/24600 = 87.5%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29600" y="1920240"/>
            <a:ext cx="36576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0" y="1920240"/>
            <a:ext cx="3657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1938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合格率 Quality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66760" y="22677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合格品数量 / 总产出数量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66760" y="26517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目标: &gt;99.9%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66760" y="292608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例：产出35000，不良350，废品100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合格率 = 34550/35000 = 98.7%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28800" y="4754880"/>
            <a:ext cx="853135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0" y="475488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综合 OEE = 93.2% × 87.5% × 98.7% = 80.3%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OEE 衡量设备的有效利用程度 | 识别六大损失是提升OEE的关键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12188952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OEE 六大损失分析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93776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Big Losses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3657600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155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设备故障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3898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影响维度: 可用率  |  时间损失: 45min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691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874520" y="1783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占比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331720"/>
            <a:ext cx="3383280" cy="109728"/>
          </a:xfrm>
          <a:prstGeom prst="rect">
            <a:avLst>
              <a:gd name="adj" fmla="val 33333"/>
            </a:avLst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2331720"/>
            <a:ext cx="3093285" cy="109728"/>
          </a:xfrm>
          <a:prstGeom prst="rect">
            <a:avLst>
              <a:gd name="adj" fmla="val 33333"/>
            </a:avLst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560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紧固件行业重点：减少故障和换型损失可显著提升OEE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97680" y="109728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1097280"/>
            <a:ext cx="3657600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11155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换型调整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13898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影响维度: 可用率  |  时间损失: 35min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34840" y="1691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806440" y="1783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占比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34840" y="2331720"/>
            <a:ext cx="3383280" cy="109728"/>
          </a:xfrm>
          <a:prstGeom prst="rect">
            <a:avLst>
              <a:gd name="adj" fmla="val 33333"/>
            </a:avLst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4434840" y="2331720"/>
            <a:ext cx="2416629" cy="109728"/>
          </a:xfrm>
          <a:prstGeom prst="rect">
            <a:avLst>
              <a:gd name="adj" fmla="val 33333"/>
            </a:avLst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4434840" y="2560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紧固件行业重点：减少故障和换型损失可显著提升OEE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229600" y="109728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0" y="1097280"/>
            <a:ext cx="3657600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6760" y="11155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空转短停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66760" y="13898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影响维度: 性能率  |  时间损失: 18min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66760" y="1691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13%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9738360" y="1783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占比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366760" y="2331720"/>
            <a:ext cx="3383280" cy="109728"/>
          </a:xfrm>
          <a:prstGeom prst="rect">
            <a:avLst>
              <a:gd name="adj" fmla="val 33333"/>
            </a:avLst>
          </a:prstGeom>
          <a:solidFill>
            <a:srgbClr val="E2E8F0"/>
          </a:solidFill>
          <a:ln/>
        </p:spPr>
      </p:sp>
      <p:sp>
        <p:nvSpPr>
          <p:cNvPr id="32" name="Shape 30"/>
          <p:cNvSpPr/>
          <p:nvPr/>
        </p:nvSpPr>
        <p:spPr>
          <a:xfrm>
            <a:off x="8366760" y="2331720"/>
            <a:ext cx="1256647" cy="109728"/>
          </a:xfrm>
          <a:prstGeom prst="rect">
            <a:avLst>
              <a:gd name="adj" fmla="val 33333"/>
            </a:avLst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8366760" y="2560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紧固件行业重点：减少故障和换型损失可显著提升OEE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310896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108960"/>
            <a:ext cx="365760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12724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速度降低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340156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影响维度: 性能率  |  时间损失: 20min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3703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14%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1874520" y="3794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占比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" y="4343400"/>
            <a:ext cx="3383280" cy="109728"/>
          </a:xfrm>
          <a:prstGeom prst="rect">
            <a:avLst>
              <a:gd name="adj" fmla="val 33333"/>
            </a:avLst>
          </a:prstGeom>
          <a:solidFill>
            <a:srgbClr val="E2E8F0"/>
          </a:solidFill>
          <a:ln/>
        </p:spPr>
      </p:sp>
      <p:sp>
        <p:nvSpPr>
          <p:cNvPr id="41" name="Shape 39"/>
          <p:cNvSpPr/>
          <p:nvPr/>
        </p:nvSpPr>
        <p:spPr>
          <a:xfrm>
            <a:off x="502920" y="4343400"/>
            <a:ext cx="1353312" cy="109728"/>
          </a:xfrm>
          <a:prstGeom prst="rect">
            <a:avLst>
              <a:gd name="adj" fmla="val 33333"/>
            </a:avLst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4572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紧固件行业重点：减少故障和换型损失可显著提升OEE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297680" y="310896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297680" y="3108960"/>
            <a:ext cx="3657600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34840" y="312724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过程缺陷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434840" y="340156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影响维度: 合格率  |  时间损失: 12min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434840" y="3703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9%</a:t>
            </a:r>
            <a:endParaRPr lang="en-US" sz="3200" dirty="0"/>
          </a:p>
        </p:txBody>
      </p:sp>
      <p:sp>
        <p:nvSpPr>
          <p:cNvPr id="48" name="Text 46"/>
          <p:cNvSpPr/>
          <p:nvPr/>
        </p:nvSpPr>
        <p:spPr>
          <a:xfrm>
            <a:off x="5806440" y="3794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占比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434840" y="4343400"/>
            <a:ext cx="3383280" cy="109728"/>
          </a:xfrm>
          <a:prstGeom prst="rect">
            <a:avLst>
              <a:gd name="adj" fmla="val 33333"/>
            </a:avLst>
          </a:prstGeom>
          <a:solidFill>
            <a:srgbClr val="E2E8F0"/>
          </a:solidFill>
          <a:ln/>
        </p:spPr>
      </p:sp>
      <p:sp>
        <p:nvSpPr>
          <p:cNvPr id="50" name="Shape 48"/>
          <p:cNvSpPr/>
          <p:nvPr/>
        </p:nvSpPr>
        <p:spPr>
          <a:xfrm>
            <a:off x="4434840" y="4343400"/>
            <a:ext cx="869986" cy="109728"/>
          </a:xfrm>
          <a:prstGeom prst="rect">
            <a:avLst>
              <a:gd name="adj" fmla="val 33333"/>
            </a:avLst>
          </a:prstGeom>
          <a:solidFill>
            <a:srgbClr val="DC2626"/>
          </a:solidFill>
          <a:ln/>
        </p:spPr>
      </p:sp>
      <p:sp>
        <p:nvSpPr>
          <p:cNvPr id="51" name="Text 49"/>
          <p:cNvSpPr/>
          <p:nvPr/>
        </p:nvSpPr>
        <p:spPr>
          <a:xfrm>
            <a:off x="4434840" y="4572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紧固件行业重点：减少故障和换型损失可显著提升OEE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229600" y="310896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229600" y="3108960"/>
            <a:ext cx="365760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66760" y="312724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开机废品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366760" y="340156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影响维度: 合格率  |  时间损失: 5min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366760" y="3703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4%</a:t>
            </a:r>
            <a:endParaRPr lang="en-US" sz="3200" dirty="0"/>
          </a:p>
        </p:txBody>
      </p:sp>
      <p:sp>
        <p:nvSpPr>
          <p:cNvPr id="57" name="Text 55"/>
          <p:cNvSpPr/>
          <p:nvPr/>
        </p:nvSpPr>
        <p:spPr>
          <a:xfrm>
            <a:off x="9738360" y="3794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占比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366760" y="4343400"/>
            <a:ext cx="3383280" cy="109728"/>
          </a:xfrm>
          <a:prstGeom prst="rect">
            <a:avLst>
              <a:gd name="adj" fmla="val 33333"/>
            </a:avLst>
          </a:prstGeom>
          <a:solidFill>
            <a:srgbClr val="E2E8F0"/>
          </a:solidFill>
          <a:ln/>
        </p:spPr>
      </p:sp>
      <p:sp>
        <p:nvSpPr>
          <p:cNvPr id="59" name="Shape 57"/>
          <p:cNvSpPr/>
          <p:nvPr/>
        </p:nvSpPr>
        <p:spPr>
          <a:xfrm>
            <a:off x="8366760" y="4343400"/>
            <a:ext cx="386661" cy="109728"/>
          </a:xfrm>
          <a:prstGeom prst="rect">
            <a:avLst>
              <a:gd name="adj" fmla="val 33333"/>
            </a:avLst>
          </a:prstGeom>
          <a:solidFill>
            <a:srgbClr val="0D9488"/>
          </a:solidFill>
          <a:ln/>
        </p:spPr>
      </p:sp>
      <p:sp>
        <p:nvSpPr>
          <p:cNvPr id="60" name="Text 58"/>
          <p:cNvSpPr/>
          <p:nvPr/>
        </p:nvSpPr>
        <p:spPr>
          <a:xfrm>
            <a:off x="8366760" y="4572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紧固件行业重点：减少故障和换型损失可显著提升OEE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六大损失是OEE下降的根本原因 | 针对性改善可快速提升设备效率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12188952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TPM 八大支柱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93776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Pillars of TPM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27432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1155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自主维护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42646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操作员日常保养清扫点检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280160" y="1828800"/>
            <a:ext cx="914400" cy="9144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291840" y="109728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097280"/>
            <a:ext cx="27432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1155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11155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计划维护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142646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预防性/预测性维护体系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06240" y="182880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计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217920" y="109728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097280"/>
            <a:ext cx="274320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1155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0" y="11155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个别改善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142646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设备损失专项改善攻关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32320" y="1828800"/>
            <a:ext cx="914400" cy="9144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个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9144000" y="109728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44000" y="1097280"/>
            <a:ext cx="274320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35440" y="11155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92640" y="11155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教育训练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281160" y="142646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维护技能体系化培训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058400" y="1828800"/>
            <a:ext cx="914400" cy="9144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教</a:t>
            </a:r>
            <a:endParaRPr lang="en-US" sz="2800" dirty="0"/>
          </a:p>
        </p:txBody>
      </p:sp>
      <p:sp>
        <p:nvSpPr>
          <p:cNvPr id="35" name="Shape 33"/>
          <p:cNvSpPr/>
          <p:nvPr/>
        </p:nvSpPr>
        <p:spPr>
          <a:xfrm>
            <a:off x="365760" y="329184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3291840"/>
            <a:ext cx="27432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3101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4400" y="33101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初期管理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" y="36210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新设备快速稳定投产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280160" y="4023360"/>
            <a:ext cx="914400" cy="9144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80160" y="4023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初</a:t>
            </a:r>
            <a:endParaRPr lang="en-US" sz="2800" dirty="0"/>
          </a:p>
        </p:txBody>
      </p:sp>
      <p:sp>
        <p:nvSpPr>
          <p:cNvPr id="42" name="Shape 40"/>
          <p:cNvSpPr/>
          <p:nvPr/>
        </p:nvSpPr>
        <p:spPr>
          <a:xfrm>
            <a:off x="3291840" y="329184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91840" y="3291840"/>
            <a:ext cx="274320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0" y="33101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840480" y="33101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品质维护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429000" y="36210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设备精度保障与提升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206240" y="4023360"/>
            <a:ext cx="914400" cy="9144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06240" y="4023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品</a:t>
            </a:r>
            <a:endParaRPr lang="en-US" sz="2800" dirty="0"/>
          </a:p>
        </p:txBody>
      </p:sp>
      <p:sp>
        <p:nvSpPr>
          <p:cNvPr id="49" name="Shape 47"/>
          <p:cNvSpPr/>
          <p:nvPr/>
        </p:nvSpPr>
        <p:spPr>
          <a:xfrm>
            <a:off x="6217920" y="329184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217920" y="3291840"/>
            <a:ext cx="27432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33101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766560" y="33101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事务改善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355080" y="36210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办公流程精益化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132320" y="402336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32320" y="4023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事</a:t>
            </a:r>
            <a:endParaRPr lang="en-US" sz="2800" dirty="0"/>
          </a:p>
        </p:txBody>
      </p:sp>
      <p:sp>
        <p:nvSpPr>
          <p:cNvPr id="56" name="Shape 54"/>
          <p:cNvSpPr/>
          <p:nvPr/>
        </p:nvSpPr>
        <p:spPr>
          <a:xfrm>
            <a:off x="9144000" y="329184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9144000" y="3291840"/>
            <a:ext cx="274320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235440" y="33101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692640" y="33101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安全环境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281160" y="36210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零灾害零公害目标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0058400" y="4023360"/>
            <a:ext cx="914400" cy="9144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058400" y="4023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</a:t>
            </a:r>
            <a:endParaRPr lang="en-US" sz="2800" dirty="0"/>
          </a:p>
        </p:txBody>
      </p:sp>
      <p:sp>
        <p:nvSpPr>
          <p:cNvPr id="63" name="Shape 6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八大支柱协同运作 | 全员参与是TPM的核心理念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12188952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自主维护七步法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93776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Steps of Autonomous Maintenance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527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初期清扫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20240" y="1417320"/>
            <a:ext cx="1828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1353312"/>
            <a:ext cx="137160" cy="164592"/>
          </a:xfrm>
          <a:prstGeom prst="rtTriangl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12344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12527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发生源对策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66160" y="1417320"/>
            <a:ext cx="1828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03320" y="1353312"/>
            <a:ext cx="137160" cy="164592"/>
          </a:xfrm>
          <a:prstGeom prst="rtTriangl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12344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749040" y="12527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临时基准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0" y="1417320"/>
            <a:ext cx="1828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1353312"/>
            <a:ext cx="137160" cy="164592"/>
          </a:xfrm>
          <a:prstGeom prst="rtTriangl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0" y="12344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394960" y="12527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总点检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0" y="1417320"/>
            <a:ext cx="1828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5160" y="1353312"/>
            <a:ext cx="137160" cy="164592"/>
          </a:xfrm>
          <a:prstGeom prst="rtTriangl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0" y="12344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12527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自主点检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03920" y="1417320"/>
            <a:ext cx="1828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41080" y="1353312"/>
            <a:ext cx="137160" cy="164592"/>
          </a:xfrm>
          <a:prstGeom prst="rtTriangl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0" y="12344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0" y="12527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标准化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149840" y="1417320"/>
            <a:ext cx="1828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87000" y="1353312"/>
            <a:ext cx="137160" cy="164592"/>
          </a:xfrm>
          <a:prstGeom prst="rtTriangl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32720" y="12344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10332720" y="12527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持续改善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2194560"/>
            <a:ext cx="11274552" cy="2560320"/>
          </a:xfrm>
          <a:prstGeom prst="roundRect">
            <a:avLst>
              <a:gd name="adj" fmla="val 3571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微缺陷放大效应 — 1个重大事故背后可能有1000个微缺陷！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31520" y="274320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27614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1个微缺陷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965960" y="274320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1965960" y="27614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10个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00400" y="274320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0" y="27614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1个中缺陷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434840" y="274320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4434840" y="27614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10个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669280" y="274320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44" name="Text 42"/>
          <p:cNvSpPr/>
          <p:nvPr/>
        </p:nvSpPr>
        <p:spPr>
          <a:xfrm>
            <a:off x="5669280" y="27614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1个大缺陷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903720" y="274320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46" name="Text 44"/>
          <p:cNvSpPr/>
          <p:nvPr/>
        </p:nvSpPr>
        <p:spPr>
          <a:xfrm>
            <a:off x="6903720" y="27614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10个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138160" y="274320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48" name="Text 46"/>
          <p:cNvSpPr/>
          <p:nvPr/>
        </p:nvSpPr>
        <p:spPr>
          <a:xfrm>
            <a:off x="8138160" y="27614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1次故障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372600" y="274320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50" name="Text 48"/>
          <p:cNvSpPr/>
          <p:nvPr/>
        </p:nvSpPr>
        <p:spPr>
          <a:xfrm>
            <a:off x="9372600" y="27614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10个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0607040" y="274320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/>
        </p:spPr>
      </p:sp>
      <p:sp>
        <p:nvSpPr>
          <p:cNvPr id="52" name="Text 50"/>
          <p:cNvSpPr/>
          <p:nvPr/>
        </p:nvSpPr>
        <p:spPr>
          <a:xfrm>
            <a:off x="10607040" y="27614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1次重大事故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31520" y="33832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清扫即点检：通过日常清扫发现设备微缺陷，在故障发生前消除隐患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自主维护是TPM的基石 | 操作员是设备的第一责任人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12188952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OEE 行业基准与紧固件KPI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93776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OEE Benchmarks &amp; Fastener KPIs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88720"/>
            <a:ext cx="25603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7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&gt;90%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685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世界级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Class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960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所有三项指标&gt;90%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188720"/>
            <a:ext cx="25603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37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80-90%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91840" y="685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960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行业领先水平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1887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188720"/>
            <a:ext cx="25603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37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65-80%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17920" y="685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发展中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960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有较大改善空间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0" y="11887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1188720"/>
            <a:ext cx="256032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0" y="137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&lt;65%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144000" y="685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落后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0" y="960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急需系统性改善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926080"/>
            <a:ext cx="11274552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紧固件制造关键KPI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65760" y="3566160"/>
            <a:ext cx="269748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602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08960" y="3566160"/>
            <a:ext cx="269748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0" y="3602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当前水平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52160" y="3566160"/>
            <a:ext cx="269748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0" y="3602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改善目标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500616" y="3566160"/>
            <a:ext cx="2999232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9592056" y="3602736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世界级标准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950208"/>
            <a:ext cx="2697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986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108960" y="3950208"/>
            <a:ext cx="2697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0" y="3986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852160" y="3950208"/>
            <a:ext cx="2697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0" y="3986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500616" y="3950208"/>
            <a:ext cx="299923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9592056" y="398678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&gt;90%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4334256"/>
            <a:ext cx="269748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370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换型时间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108960" y="4334256"/>
            <a:ext cx="269748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Text 46"/>
          <p:cNvSpPr/>
          <p:nvPr/>
        </p:nvSpPr>
        <p:spPr>
          <a:xfrm>
            <a:off x="3200400" y="4370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60min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852160" y="4334256"/>
            <a:ext cx="269748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0" name="Text 48"/>
          <p:cNvSpPr/>
          <p:nvPr/>
        </p:nvSpPr>
        <p:spPr>
          <a:xfrm>
            <a:off x="5943600" y="4370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&lt;10min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500616" y="4334256"/>
            <a:ext cx="2999232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2" name="Text 50"/>
          <p:cNvSpPr/>
          <p:nvPr/>
        </p:nvSpPr>
        <p:spPr>
          <a:xfrm>
            <a:off x="9592056" y="4370832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&lt;5min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4718304"/>
            <a:ext cx="2697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不良率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108960" y="4718304"/>
            <a:ext cx="2697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320040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852160" y="4718304"/>
            <a:ext cx="2697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594360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500616" y="4718304"/>
            <a:ext cx="299923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9592056" y="475488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&lt;0.1%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65760" y="5102352"/>
            <a:ext cx="269748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2" name="Text 60"/>
          <p:cNvSpPr/>
          <p:nvPr/>
        </p:nvSpPr>
        <p:spPr>
          <a:xfrm>
            <a:off x="457200" y="5138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库存周转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108960" y="5102352"/>
            <a:ext cx="269748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4" name="Text 62"/>
          <p:cNvSpPr/>
          <p:nvPr/>
        </p:nvSpPr>
        <p:spPr>
          <a:xfrm>
            <a:off x="3200400" y="5138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&lt;14天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852160" y="5102352"/>
            <a:ext cx="269748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6" name="Text 64"/>
          <p:cNvSpPr/>
          <p:nvPr/>
        </p:nvSpPr>
        <p:spPr>
          <a:xfrm>
            <a:off x="5943600" y="5138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&lt;7天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9500616" y="5102352"/>
            <a:ext cx="2999232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8" name="Text 66"/>
          <p:cNvSpPr/>
          <p:nvPr/>
        </p:nvSpPr>
        <p:spPr>
          <a:xfrm>
            <a:off x="9592056" y="5138928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&lt;3天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65760" y="5486400"/>
            <a:ext cx="2697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457200" y="5522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交付准时率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108960" y="5486400"/>
            <a:ext cx="2697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3200400" y="5522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852160" y="5486400"/>
            <a:ext cx="2697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5943600" y="5522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9500616" y="5486400"/>
            <a:ext cx="2999232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6" name="Text 74"/>
          <p:cNvSpPr/>
          <p:nvPr/>
        </p:nvSpPr>
        <p:spPr>
          <a:xfrm>
            <a:off x="9592056" y="5522976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&gt;99%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OEE从72%提升至85%是紧固件企业3年精益转型的核心目标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TPM与OEE详解</dc:title>
  <dc:subject>PptxGenJS Presentation</dc:subject>
  <dc:creator>精益工具知识库</dc:creator>
  <cp:lastModifiedBy>精益工具知识库</cp:lastModifiedBy>
  <cp:revision>1</cp:revision>
  <dcterms:created xsi:type="dcterms:W3CDTF">2026-05-17T11:39:42Z</dcterms:created>
  <dcterms:modified xsi:type="dcterms:W3CDTF">2026-05-17T11:39:42Z</dcterms:modified>
</cp:coreProperties>
</file>