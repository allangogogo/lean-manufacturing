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74152" y="-914400"/>
            <a:ext cx="4572000" cy="45720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972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管理与看板详解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Management &amp; Kanban System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制造精益生产实践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852160"/>
            <a:ext cx="27432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精益工具知识库 | 5S管理与看板详解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五个步骤详解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Five Steps of 5S · 制造应用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精益工具知识库 | 5S管理与看板详解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920240" cy="4389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1371600"/>
            <a:ext cx="19202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874520"/>
            <a:ext cx="192024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97280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1938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Seiri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118872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8529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1645920" cy="2194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66928" y="342900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区分必要与不必要物品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37764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清除废料与多余库存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425196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4187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释放产线空间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04288" y="3456432"/>
            <a:ext cx="73152" cy="219456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395728" y="1371600"/>
            <a:ext cx="1920240" cy="4389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395728" y="1371600"/>
            <a:ext cx="192024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395728" y="1874520"/>
            <a:ext cx="19202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127248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127248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487168" y="1938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Seiton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87168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整顿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2761488" y="2743200"/>
            <a:ext cx="118872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487168" y="28529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 Order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32888" y="3291840"/>
            <a:ext cx="1645920" cy="2194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596896" y="342900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15768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定点定位定容定量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96896" y="384048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715768" y="37764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工具材料就近放置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96896" y="425196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15768" y="4187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减少寻找浪费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34256" y="3456432"/>
            <a:ext cx="73152" cy="219456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425696" y="1371600"/>
            <a:ext cx="1920240" cy="4389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425696" y="1371600"/>
            <a:ext cx="19202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425696" y="1874520"/>
            <a:ext cx="192024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5157216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157216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17136" y="1938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Seiso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17136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清扫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4791456" y="2743200"/>
            <a:ext cx="118872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517136" y="28529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62856" y="3291840"/>
            <a:ext cx="1645920" cy="2194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626864" y="342900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745736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清洁设备与作业面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26864" y="384048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745736" y="37764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检查设备异常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26864" y="425196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745736" y="4187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保持最佳状态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64224" y="3456432"/>
            <a:ext cx="73152" cy="219456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6455664" y="1371600"/>
            <a:ext cx="1920240" cy="4389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455664" y="137160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455664" y="1874520"/>
            <a:ext cx="19202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187184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187184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547104" y="1938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Seiketsu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47104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</a:t>
            </a:r>
            <a:endParaRPr lang="en-US" sz="2400" dirty="0"/>
          </a:p>
        </p:txBody>
      </p:sp>
      <p:sp>
        <p:nvSpPr>
          <p:cNvPr id="66" name="Shape 64"/>
          <p:cNvSpPr/>
          <p:nvPr/>
        </p:nvSpPr>
        <p:spPr>
          <a:xfrm>
            <a:off x="6821424" y="2743200"/>
            <a:ext cx="118872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547104" y="28529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592824" y="3291840"/>
            <a:ext cx="1645920" cy="2194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6656832" y="342900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775704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制定标准与规范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656832" y="384048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775704" y="37764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统一标识色彩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656832" y="425196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775704" y="4187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目视化管理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394192" y="3456432"/>
            <a:ext cx="73152" cy="219456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8485632" y="1371600"/>
            <a:ext cx="1920240" cy="4389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8485632" y="1371600"/>
            <a:ext cx="1920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8485632" y="1874520"/>
            <a:ext cx="19202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9217152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9217152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577072" y="1938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Shitsuke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577072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</a:t>
            </a:r>
            <a:endParaRPr lang="en-US" sz="2400" dirty="0"/>
          </a:p>
        </p:txBody>
      </p:sp>
      <p:sp>
        <p:nvSpPr>
          <p:cNvPr id="83" name="Shape 81"/>
          <p:cNvSpPr/>
          <p:nvPr/>
        </p:nvSpPr>
        <p:spPr>
          <a:xfrm>
            <a:off x="8851392" y="2743200"/>
            <a:ext cx="118872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8577072" y="28529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622792" y="3291840"/>
            <a:ext cx="1645920" cy="2194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8686800" y="342900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8805672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培养良好习惯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686800" y="38404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805672" y="37764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持续改进文化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686800" y="425196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8805672" y="4187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自主管理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65760" y="5852160"/>
            <a:ext cx="11457432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548640" y="585216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制造要点：从原材料仓→机加工车间→精加工工位→热处理→表面处理→包装发货，全面推行5S确保品质与效率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实施工具与方法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Implementation Tools · 红牌作战 · 定点摄影 · 清扫点检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精益工具知识库 | 5S管理与看板详解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" y="1371600"/>
            <a:ext cx="356616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" y="1920240"/>
            <a:ext cx="35661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红牌作战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Tag Strategy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2331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23317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确定红牌对象区域（仓库、产线、办公区）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2880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制定'要'与'不要'判定标准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3429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红牌标注：品名/数量/原因/日期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3977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39776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限时处理：保留/转移/报废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52628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4526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4526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跟踪确认，拍照记录改善效果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60520" y="1371600"/>
            <a:ext cx="3749040" cy="48463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160520" y="1371600"/>
            <a:ext cx="374904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160520" y="1920240"/>
            <a:ext cx="374904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16052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定点摄影看板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6052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Comparison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2331720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343400" y="2331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34840" y="2679192"/>
            <a:ext cx="182880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681728" y="2788920"/>
            <a:ext cx="164592" cy="4846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956048" y="2660904"/>
            <a:ext cx="201168" cy="6126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486400" y="2715768"/>
            <a:ext cx="274320" cy="274320"/>
          </a:xfrm>
          <a:prstGeom prst="diamond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943600" y="2770632"/>
            <a:ext cx="457200" cy="201168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537960" y="2331720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537960" y="2331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29400" y="2679192"/>
            <a:ext cx="4114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629400" y="3017520"/>
            <a:ext cx="4114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132320" y="2679192"/>
            <a:ext cx="4114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132320" y="3017520"/>
            <a:ext cx="4114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635240" y="2834640"/>
            <a:ext cx="256032" cy="256032"/>
          </a:xfrm>
          <a:prstGeom prst="diamond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343400" y="3749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343400" y="3749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17720" y="3749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工具按标识归位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43400" y="409651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343400" y="40965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17720" y="40965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模具分类存放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43400" y="444398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343400" y="444398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17720" y="444398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废料区域标识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43400" y="47914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343400" y="479145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17720" y="47914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通道畅通无阻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83880" y="137160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8183880" y="1371600"/>
            <a:ext cx="36576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8183880" y="1920240"/>
            <a:ext cx="3657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18388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形迹管理板 &amp; 清扫点检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1838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Board &amp; Cleaning Checklist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366760" y="2377440"/>
            <a:ext cx="1828800" cy="16459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36676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工具形迹板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503920" y="2697480"/>
            <a:ext cx="1188720" cy="13716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dash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8686800" y="2926080"/>
            <a:ext cx="731520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dash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8595360" y="32004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dash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9098280" y="3273552"/>
            <a:ext cx="457200" cy="164592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dash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366760" y="4160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责任区域划分：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412480" y="4480560"/>
            <a:ext cx="109728" cy="14630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595360" y="44348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A区 - 机加工车间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412480" y="4773168"/>
            <a:ext cx="109728" cy="14630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595360" y="472744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B区 - 精加工工位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412480" y="5065776"/>
            <a:ext cx="109728" cy="14630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595360" y="502005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C区 - 热处理区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412480" y="5358384"/>
            <a:ext cx="109728" cy="14630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8595360" y="53126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D区 - 表面处理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412480" y="5650992"/>
            <a:ext cx="109728" cy="1463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595360" y="560527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E区 - 包装发货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审核表与案例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Audit Checklist · Scoring Criteria · Factory Improvement Cases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精益工具知识库 | 5S管理与看板详解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566928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" y="1371600"/>
            <a:ext cx="56692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13716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审核评分表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566928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14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审核项目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 (0-5分)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20574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566928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114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 - 废料清除与分类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无分类=0  标识清晰=5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17720" y="23774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5669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1480" y="2880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整顿 - 工具定位与标识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2880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混乱=0  形迹管理=5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17720" y="28803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383280"/>
            <a:ext cx="566928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清扫 - 设备与地面清洁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脏污=0  光亮如新=5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17720" y="338328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86200"/>
            <a:ext cx="56692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1148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 - 标准化与维持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无标准=0  目视管理=5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388620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389120"/>
            <a:ext cx="566928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11480" y="4389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 - 习惯与纪律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被动=0  自主管理=5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17720" y="43891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5074920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02920" y="50749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评分等级：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5349240"/>
            <a:ext cx="109728" cy="12801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58368" y="53218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优秀: ≥90分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74520" y="5349240"/>
            <a:ext cx="109728" cy="1280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029968" y="53218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良好: 75-89分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46120" y="5349240"/>
            <a:ext cx="109728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01568" y="53218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合格: 60-74分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17720" y="5349240"/>
            <a:ext cx="109728" cy="12801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773168" y="53218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不合格: &lt;60分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" y="55961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改善建议：A/B级维持优势，C级制定30天改善计划，D级停产整顿全面整改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63640" y="1371600"/>
            <a:ext cx="55778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263640" y="1371600"/>
            <a:ext cx="55778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263640" y="13716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制造工厂 5S 改善案例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0" y="22402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400800" y="2240280"/>
            <a:ext cx="91440" cy="9601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537960" y="225856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案例1 - 工具寻找改善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37960" y="249631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平均寻找工具: 3.5分钟/次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372600" y="2532888"/>
            <a:ext cx="45720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829800" y="24963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形迹管理后: 15秒/次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418320" y="274320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941832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93%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00800" y="329184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400800" y="3291840"/>
            <a:ext cx="91440" cy="9601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537960" y="331012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案例2 - 废料率降低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537960" y="35478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废料率: 4.2%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372600" y="3584448"/>
            <a:ext cx="45720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982980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整理实施后: 1.8%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418320" y="379476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41832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57%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0" y="43434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6400800" y="4343400"/>
            <a:ext cx="91440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537960" y="436168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案例3 - 换模时间缩短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537960" y="45994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换模时间: 45分钟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372600" y="4636008"/>
            <a:ext cx="45720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9829800" y="45994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整顿优化后: 20分钟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418320" y="484632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9418320" y="4846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56%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400800" y="53949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6400800" y="5394960"/>
            <a:ext cx="9144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537960" y="5413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案例4 - 客诉率改善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537960" y="565099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月客诉: 12件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372600" y="5687568"/>
            <a:ext cx="45720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9829800" y="5650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5S推行后: 2件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418320" y="589788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9418320" y="5897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83%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看板系统概述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Kanban System Overview · Production Kanban · Withdrawal Kanban · Signal Kanban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精益工具知识库 | 5S管理与看板详解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什么是看板？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看板（Kanban）是一种基于可视化卡片的生产拉动式管理系统。通过卡片在工序间传递需求信息，实现'只在需要的时候，按需要的量，生产所需的产品'。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right product, at the right time, in the right quantity"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040" y="2926080"/>
            <a:ext cx="3657600" cy="822960"/>
          </a:xfrm>
          <a:prstGeom prst="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0040" y="3474720"/>
            <a:ext cx="3657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691640" y="29718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691640" y="2999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生产看板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Kanban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04088" y="39136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授权某工序生产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261104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4088" y="41879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指定数量的产品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535424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04088" y="44622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包含品名/数量/工序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29260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206240" y="2926080"/>
            <a:ext cx="3657600" cy="822960"/>
          </a:xfrm>
          <a:prstGeom prst="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206240" y="3474720"/>
            <a:ext cx="3657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577840" y="29718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577840" y="2999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38912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搬运看板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Withdrawal Kanban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98678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90288" y="39136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授权从上游工序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4840" y="426110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90288" y="41879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搬运指定数量的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34840" y="453542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90288" y="44622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物料到下游工序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92440" y="29260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092440" y="2926080"/>
            <a:ext cx="3657600" cy="822960"/>
          </a:xfrm>
          <a:prstGeom prst="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092440" y="3474720"/>
            <a:ext cx="36576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464040" y="29718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464040" y="2999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27532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信号看板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7532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Kanban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321040" y="3986784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476488" y="39136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当库存低于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321040" y="4261104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476488" y="41879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触发点时发出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321040" y="4535424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476488" y="44622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批量生产信号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6309360"/>
            <a:ext cx="115214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看板循环流程：供应商 → [原料仓] → [机加工工序] → [精加工工序] → [热处理] → [表面处理] → [包装发货] → 客户    ·    信息流（看板）逆流而下，物流顺流而下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看板计算方法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Kanban Quantity Calculation · WIP Limits · Replenishment Triggers · Numerical 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精益工具知识库 | 5S管理与看板详解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" y="1371600"/>
            <a:ext cx="56692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13716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看板数量计算公式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看板张数 = (日需求量 × 补充周期时间 × (1 + 安全系数))  ÷  单箱装载量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日需求量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" y="2944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每日客户/下工序需求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74520" y="26517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7452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补充周期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47672" y="2944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从发出看板到物料到达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46120" y="26517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4612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安全系数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2944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通常5%-20%缓冲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17720" y="26517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1772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单箱装载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0872" y="2944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每箱/容器标准数量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263640" y="137160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63640" y="1371600"/>
            <a:ext cx="55778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63640" y="13716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工件生产实例计算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某型号×50 工件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2377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日需求量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2377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件/天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651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补充周期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2651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机加工→包装: 0.5天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安全系数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2926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3200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单箱装载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件/箱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74904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2920" y="3794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分步计算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41148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需求总量 = 20,000 × 0.5 = 10,000 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43891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含安全库存 = 10,000 × 1.10 = 11,000 件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46634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看板张数 = 11,000 ÷ 500 = 22 张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502920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需要看板总数: 22 张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6032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生产看板: 11张  |  搬运看板: 11张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5376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WIP上限 = 表看板数 × 单箱装载量 = 11,000 件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6875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补货触发点: 当库存低于 5,000件 时发出看板信号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63640" y="374904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46520" y="3794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补货触发条件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00800" y="4160520"/>
            <a:ext cx="109728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583680" y="4160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红色预警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83680" y="43708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 &lt; 安全库存(2天需求)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立即启动紧急补货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00800" y="475488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583680" y="4754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黄色预警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83680" y="49651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 &lt; 补货点(3天需求)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正常看板补货流程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00800" y="5349240"/>
            <a:ext cx="109728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583680" y="5349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绿色正常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583680" y="55595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 &gt; 补货点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无需补货，维持现状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" y="6263640"/>
            <a:ext cx="115214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精益原则：WIP（在制品）= 看板数 × 单箱装载量。限制WIP是控制生产节拍、缩短交期的核心手段。看板数量 = 生产节拍的控制阀。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看板实施案例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Manufacturing Production Kanban · Machining → Precision Machining → Heat Treatment → Surface Treatment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精益工具知识库 | 5S管理与看板详解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1371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原料仓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Warehouse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92808" y="1783080"/>
            <a:ext cx="164592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911096" y="2514600"/>
            <a:ext cx="128016" cy="7315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911096" y="2514600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看板#1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47672" y="2715768"/>
            <a:ext cx="54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品名/数量/时间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956816" y="3246120"/>
            <a:ext cx="36576" cy="1371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075688" y="13716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75688" y="1371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48456" y="1783080"/>
            <a:ext cx="164592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66744" y="2514600"/>
            <a:ext cx="128016" cy="7315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666744" y="2514600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看板#2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703320" y="2715768"/>
            <a:ext cx="54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品名/数量/时间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712464" y="3246120"/>
            <a:ext cx="36576" cy="1371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831336" y="13716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831336" y="1371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精加工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04104" y="1783080"/>
            <a:ext cx="164592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422392" y="2514600"/>
            <a:ext cx="128016" cy="7315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22392" y="2514600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看板#3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58968" y="2715768"/>
            <a:ext cx="54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品名/数量/时间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468112" y="3246120"/>
            <a:ext cx="36576" cy="1371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586984" y="13716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586984" y="1371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热处理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59752" y="1783080"/>
            <a:ext cx="164592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178040" y="2514600"/>
            <a:ext cx="128016" cy="7315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178040" y="2514600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看板#4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214616" y="2715768"/>
            <a:ext cx="54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品名/数量/时间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7223760" y="3246120"/>
            <a:ext cx="36576" cy="1371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342632" y="13716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42632" y="1371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表面处理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915400" y="1783080"/>
            <a:ext cx="164592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933688" y="2514600"/>
            <a:ext cx="128016" cy="73152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933688" y="2514600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看板#5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970264" y="2715768"/>
            <a:ext cx="54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品名/数量/时间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8979408" y="3246120"/>
            <a:ext cx="36576" cy="1371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098280" y="13716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098280" y="1371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包装发货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291840"/>
            <a:ext cx="5669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320040" y="3291840"/>
            <a:ext cx="56692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20040" y="329184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看板卡片设计示例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02920" y="402336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02920" y="4023360"/>
            <a:ext cx="256032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0292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生产看板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" y="44348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某型号×50工件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4360" y="46908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数量: 5,000件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" y="49469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工序: 机加工→精加工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4360" y="52029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交期: 当日14:00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4360" y="54589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看板号: P-001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46120" y="402336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3246120" y="4023360"/>
            <a:ext cx="25603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324612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搬运看板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37560" y="44348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物料: 机加工半成品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37560" y="46908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数量: 500件/箱 × 2箱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337560" y="49469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从: 机加工车间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337560" y="52029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到: 精加工工位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337560" y="54589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看板号: W-003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63640" y="3291840"/>
            <a:ext cx="55778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6263640" y="3291840"/>
            <a:ext cx="557784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263640" y="329184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看板实施步骤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400800" y="397764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400800" y="3977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748272" y="397764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分析各工序节拍时间(Takt Time)与换线时间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00800" y="4325112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400800" y="4325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748272" y="432511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计算各工序间看板数量与安全库存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400800" y="467258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400800" y="4672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748272" y="4672584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设计看板卡片格式(纸质/电子)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400800" y="5020056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400800" y="5020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748272" y="5020056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设置看板回收箱与信号灯系统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400800" y="5367528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6400800" y="5367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748272" y="536752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培训员工看板使用规则与流程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400800" y="571500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400800" y="5715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748272" y="571500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试运行→收集数据→优化看板数量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20040" y="6400800"/>
            <a:ext cx="11521440" cy="201168"/>
          </a:xfrm>
          <a:prstGeom prst="roundRect">
            <a:avLst>
              <a:gd name="adj" fmla="val 2727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502920" y="64008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实施效果：某工厂推行看板后，在制品库存降低45%，交期缩短30%，换线时间减少25%，月产能提升15%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总结：5S 与看板的协同效应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&amp; Kanban Synergy · Continuous Improvement · Action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精益工具知识库 | 5S管理与看板详解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" y="1371600"/>
            <a:ext cx="54864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1371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与看板的协同关系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286000"/>
            <a:ext cx="2011680" cy="20116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26517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5S管理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目视化基础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标准化作业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清洁有序环境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286000"/>
            <a:ext cx="2011680" cy="201168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91840" y="26517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看板系统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拉动式生产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WIP控制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节奏化制造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2834640"/>
            <a:ext cx="914400" cy="9144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468880" y="2834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5760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80760" y="1371600"/>
            <a:ext cx="5760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80760" y="13716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5S是精益基础：整理→整顿→清扫→清洁→素养，持续循环改善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红牌作战、定点摄影、形迹管理是5S落地的核心工具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6364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3063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看板数量 = (日需求×补充周期×(1+安全系数))÷单箱装载量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6364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三种看板：生产看板、搬运看板、信号看板各有适用场景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6364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5S与看板协同：5S创造有序环境，看板驱动拉动式生产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846320"/>
            <a:ext cx="1152144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48920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行动计划建议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52120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02920" y="5212080"/>
            <a:ext cx="256032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2920" y="5212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55046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5S启动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5779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组建5S小组，全员培训，红牌作战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0" y="52120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3200400" y="5212080"/>
            <a:ext cx="256032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200400" y="5212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第3-4周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55046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5S深化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91840" y="5779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定点定位，形迹管理，审核评分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897880" y="52120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897880" y="5212080"/>
            <a:ext cx="2560320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897880" y="5212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第5-8周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89320" y="55046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看板导入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89320" y="5779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计算看板数量，设计卡片，试运行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595360" y="52120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595360" y="5212080"/>
            <a:ext cx="2560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595360" y="5212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第9-12周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686800" y="55046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优化看板数量，标准化，成果固化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686800" y="5779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5S 管理与看板详解</dc:title>
  <dc:subject>PptxGenJS Presentation</dc:subject>
  <dc:creator>精益工具知识库</dc:creator>
  <cp:lastModifiedBy>精益工具知识库</cp:lastModifiedBy>
  <cp:revision>1</cp:revision>
  <dcterms:created xsi:type="dcterms:W3CDTF">2026-05-17T11:57:40Z</dcterms:created>
  <dcterms:modified xsi:type="dcterms:W3CDTF">2026-05-17T11:57:40Z</dcterms:modified>
</cp:coreProperties>
</file>