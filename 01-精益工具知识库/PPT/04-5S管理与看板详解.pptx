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074152" y="-914400"/>
            <a:ext cx="4572000" cy="457200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114800"/>
            <a:ext cx="3657600" cy="365760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32004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0" dirty="0"/>
          </a:p>
        </p:txBody>
      </p:sp>
      <p:sp>
        <p:nvSpPr>
          <p:cNvPr id="6" name="Text 4"/>
          <p:cNvSpPr/>
          <p:nvPr/>
        </p:nvSpPr>
        <p:spPr>
          <a:xfrm>
            <a:off x="731520" y="384048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5S 管理与看板详解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49377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5S Management &amp; Kanban System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紧固件制造精益生产实践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5852160"/>
            <a:ext cx="2743200" cy="45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655624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精益工具知识库 | 5S管理与看板详解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88952" cy="10972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9728"/>
            <a:ext cx="112745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5S 五个步骤详解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11274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Five Steps of 5S · 紧固件制造应用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55624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精益工具知识库 | 5S管理与看板详解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371600"/>
            <a:ext cx="1920240" cy="4389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DC262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371600"/>
            <a:ext cx="1920240" cy="7772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874520"/>
            <a:ext cx="1920240" cy="2743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97280" y="146304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1463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193852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Seiri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" y="22860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整理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731520" y="2743200"/>
            <a:ext cx="1188720" cy="182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85292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3291840"/>
            <a:ext cx="1645920" cy="219456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8" name="Shape 16"/>
          <p:cNvSpPr/>
          <p:nvPr/>
        </p:nvSpPr>
        <p:spPr>
          <a:xfrm>
            <a:off x="566928" y="3429000"/>
            <a:ext cx="91440" cy="9144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3364992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区分必要与不必要物品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6928" y="3840480"/>
            <a:ext cx="91440" cy="9144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776472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清除废料与多余库存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66928" y="4251960"/>
            <a:ext cx="91440" cy="9144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4187952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释放产线空间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304288" y="3456432"/>
            <a:ext cx="73152" cy="219456"/>
          </a:xfrm>
          <a:prstGeom prst="rightArrow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95728" y="1371600"/>
            <a:ext cx="1920240" cy="4389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95728" y="1371600"/>
            <a:ext cx="1920240" cy="7772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95728" y="1874520"/>
            <a:ext cx="1920240" cy="2743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127248" y="146304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127248" y="1463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2487168" y="193852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Seiton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487168" y="22860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整顿</a:t>
            </a:r>
            <a:endParaRPr lang="en-US" sz="2400" dirty="0"/>
          </a:p>
        </p:txBody>
      </p:sp>
      <p:sp>
        <p:nvSpPr>
          <p:cNvPr id="32" name="Shape 30"/>
          <p:cNvSpPr/>
          <p:nvPr/>
        </p:nvSpPr>
        <p:spPr>
          <a:xfrm>
            <a:off x="2761488" y="2743200"/>
            <a:ext cx="1188720" cy="182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2487168" y="285292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in Order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532888" y="3291840"/>
            <a:ext cx="1645920" cy="219456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5" name="Shape 33"/>
          <p:cNvSpPr/>
          <p:nvPr/>
        </p:nvSpPr>
        <p:spPr>
          <a:xfrm>
            <a:off x="2596896" y="3429000"/>
            <a:ext cx="91440" cy="914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36" name="Text 34"/>
          <p:cNvSpPr/>
          <p:nvPr/>
        </p:nvSpPr>
        <p:spPr>
          <a:xfrm>
            <a:off x="2715768" y="3364992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定点定位定容定量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2596896" y="3840480"/>
            <a:ext cx="91440" cy="914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38" name="Text 36"/>
          <p:cNvSpPr/>
          <p:nvPr/>
        </p:nvSpPr>
        <p:spPr>
          <a:xfrm>
            <a:off x="2715768" y="3776472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工具材料就近放置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596896" y="4251960"/>
            <a:ext cx="91440" cy="914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40" name="Text 38"/>
          <p:cNvSpPr/>
          <p:nvPr/>
        </p:nvSpPr>
        <p:spPr>
          <a:xfrm>
            <a:off x="2715768" y="4187952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减少寻找浪费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4256" y="3456432"/>
            <a:ext cx="73152" cy="219456"/>
          </a:xfrm>
          <a:prstGeom prst="rightArrow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425696" y="1371600"/>
            <a:ext cx="1920240" cy="4389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425696" y="1371600"/>
            <a:ext cx="1920240" cy="7772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425696" y="1874520"/>
            <a:ext cx="192024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57216" y="146304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157216" y="1463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4517136" y="193852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Seiso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517136" y="22860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清扫</a:t>
            </a:r>
            <a:endParaRPr lang="en-US" sz="2400" dirty="0"/>
          </a:p>
        </p:txBody>
      </p:sp>
      <p:sp>
        <p:nvSpPr>
          <p:cNvPr id="49" name="Shape 47"/>
          <p:cNvSpPr/>
          <p:nvPr/>
        </p:nvSpPr>
        <p:spPr>
          <a:xfrm>
            <a:off x="4791456" y="2743200"/>
            <a:ext cx="1188720" cy="182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/>
          <p:nvPr/>
        </p:nvSpPr>
        <p:spPr>
          <a:xfrm>
            <a:off x="4517136" y="285292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Shine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562856" y="3291840"/>
            <a:ext cx="1645920" cy="219456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52" name="Shape 50"/>
          <p:cNvSpPr/>
          <p:nvPr/>
        </p:nvSpPr>
        <p:spPr>
          <a:xfrm>
            <a:off x="4626864" y="3429000"/>
            <a:ext cx="91440" cy="9144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3" name="Text 51"/>
          <p:cNvSpPr/>
          <p:nvPr/>
        </p:nvSpPr>
        <p:spPr>
          <a:xfrm>
            <a:off x="4745736" y="3364992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清洁设备与作业面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626864" y="3840480"/>
            <a:ext cx="91440" cy="9144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5" name="Text 53"/>
          <p:cNvSpPr/>
          <p:nvPr/>
        </p:nvSpPr>
        <p:spPr>
          <a:xfrm>
            <a:off x="4745736" y="3776472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检查设备异常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26864" y="4251960"/>
            <a:ext cx="91440" cy="9144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7" name="Text 55"/>
          <p:cNvSpPr/>
          <p:nvPr/>
        </p:nvSpPr>
        <p:spPr>
          <a:xfrm>
            <a:off x="4745736" y="4187952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保持最佳状态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364224" y="3456432"/>
            <a:ext cx="73152" cy="219456"/>
          </a:xfrm>
          <a:prstGeom prst="rightArrow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455664" y="1371600"/>
            <a:ext cx="1920240" cy="4389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0D948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455664" y="1371600"/>
            <a:ext cx="1920240" cy="7772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455664" y="1874520"/>
            <a:ext cx="1920240" cy="274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187184" y="146304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187184" y="1463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6547104" y="193852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Seiketsu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6547104" y="22860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清洁</a:t>
            </a:r>
            <a:endParaRPr lang="en-US" sz="2400" dirty="0"/>
          </a:p>
        </p:txBody>
      </p:sp>
      <p:sp>
        <p:nvSpPr>
          <p:cNvPr id="66" name="Shape 64"/>
          <p:cNvSpPr/>
          <p:nvPr/>
        </p:nvSpPr>
        <p:spPr>
          <a:xfrm>
            <a:off x="6821424" y="2743200"/>
            <a:ext cx="1188720" cy="182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/>
          <p:nvPr/>
        </p:nvSpPr>
        <p:spPr>
          <a:xfrm>
            <a:off x="6547104" y="285292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Standardize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6592824" y="3291840"/>
            <a:ext cx="1645920" cy="219456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69" name="Shape 67"/>
          <p:cNvSpPr/>
          <p:nvPr/>
        </p:nvSpPr>
        <p:spPr>
          <a:xfrm>
            <a:off x="6656832" y="3429000"/>
            <a:ext cx="91440" cy="9144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70" name="Text 68"/>
          <p:cNvSpPr/>
          <p:nvPr/>
        </p:nvSpPr>
        <p:spPr>
          <a:xfrm>
            <a:off x="6775704" y="3364992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制定标准与规范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6656832" y="3840480"/>
            <a:ext cx="91440" cy="9144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72" name="Text 70"/>
          <p:cNvSpPr/>
          <p:nvPr/>
        </p:nvSpPr>
        <p:spPr>
          <a:xfrm>
            <a:off x="6775704" y="3776472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统一标识色彩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6656832" y="4251960"/>
            <a:ext cx="91440" cy="9144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74" name="Text 72"/>
          <p:cNvSpPr/>
          <p:nvPr/>
        </p:nvSpPr>
        <p:spPr>
          <a:xfrm>
            <a:off x="6775704" y="4187952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目视化管理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8394192" y="3456432"/>
            <a:ext cx="73152" cy="219456"/>
          </a:xfrm>
          <a:prstGeom prst="rightArrow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8485632" y="1371600"/>
            <a:ext cx="1920240" cy="4389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485632" y="1371600"/>
            <a:ext cx="192024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8485632" y="1874520"/>
            <a:ext cx="1920240" cy="2743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9217152" y="146304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217152" y="1463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81" name="Text 79"/>
          <p:cNvSpPr/>
          <p:nvPr/>
        </p:nvSpPr>
        <p:spPr>
          <a:xfrm>
            <a:off x="8577072" y="193852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Shitsuke</a:t>
            </a:r>
            <a:endParaRPr lang="en-US" sz="900" dirty="0"/>
          </a:p>
        </p:txBody>
      </p:sp>
      <p:sp>
        <p:nvSpPr>
          <p:cNvPr id="82" name="Text 80"/>
          <p:cNvSpPr/>
          <p:nvPr/>
        </p:nvSpPr>
        <p:spPr>
          <a:xfrm>
            <a:off x="8577072" y="22860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素养</a:t>
            </a:r>
            <a:endParaRPr lang="en-US" sz="2400" dirty="0"/>
          </a:p>
        </p:txBody>
      </p:sp>
      <p:sp>
        <p:nvSpPr>
          <p:cNvPr id="83" name="Shape 81"/>
          <p:cNvSpPr/>
          <p:nvPr/>
        </p:nvSpPr>
        <p:spPr>
          <a:xfrm>
            <a:off x="8851392" y="2743200"/>
            <a:ext cx="1188720" cy="182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4" name="Text 82"/>
          <p:cNvSpPr/>
          <p:nvPr/>
        </p:nvSpPr>
        <p:spPr>
          <a:xfrm>
            <a:off x="8577072" y="285292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</a:t>
            </a:r>
            <a:endParaRPr lang="en-US" sz="1100" dirty="0"/>
          </a:p>
        </p:txBody>
      </p:sp>
      <p:sp>
        <p:nvSpPr>
          <p:cNvPr id="85" name="Shape 83"/>
          <p:cNvSpPr/>
          <p:nvPr/>
        </p:nvSpPr>
        <p:spPr>
          <a:xfrm>
            <a:off x="8622792" y="3291840"/>
            <a:ext cx="1645920" cy="219456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86" name="Shape 84"/>
          <p:cNvSpPr/>
          <p:nvPr/>
        </p:nvSpPr>
        <p:spPr>
          <a:xfrm>
            <a:off x="8686800" y="3429000"/>
            <a:ext cx="91440" cy="914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7" name="Text 85"/>
          <p:cNvSpPr/>
          <p:nvPr/>
        </p:nvSpPr>
        <p:spPr>
          <a:xfrm>
            <a:off x="8805672" y="3364992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培养良好习惯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8686800" y="3840480"/>
            <a:ext cx="91440" cy="914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9" name="Text 87"/>
          <p:cNvSpPr/>
          <p:nvPr/>
        </p:nvSpPr>
        <p:spPr>
          <a:xfrm>
            <a:off x="8805672" y="3776472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持续改进文化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8686800" y="4251960"/>
            <a:ext cx="91440" cy="914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1" name="Text 89"/>
          <p:cNvSpPr/>
          <p:nvPr/>
        </p:nvSpPr>
        <p:spPr>
          <a:xfrm>
            <a:off x="8805672" y="4187952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自主管理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365760" y="5852160"/>
            <a:ext cx="11457432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548640" y="585216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紧固件制造要点：从原材料仓→冷镦车间→搓丝工位→热处理→表面处理→包装发货，全面推行5S确保品质与效率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88952" cy="10972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9728"/>
            <a:ext cx="112745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5S 实施工具与方法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11274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5S Implementation Tools · 红牌作战 · 定点摄影 · 清扫点检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55624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精益工具知识库 | 5S管理与看板详解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371600"/>
            <a:ext cx="3566160" cy="484632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25400">
            <a:solidFill>
              <a:srgbClr val="DC262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371600"/>
            <a:ext cx="3566160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" y="1920240"/>
            <a:ext cx="3566160" cy="2743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137160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红牌作战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20040" y="18288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Tag Strategy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331720"/>
            <a:ext cx="256032" cy="256032"/>
          </a:xfrm>
          <a:prstGeom prst="roundRect">
            <a:avLst>
              <a:gd name="adj" fmla="val 28571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33172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41248" y="2331720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确定红牌对象区域（仓库、产线、办公区）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02920" y="2880360"/>
            <a:ext cx="256032" cy="256032"/>
          </a:xfrm>
          <a:prstGeom prst="roundRect">
            <a:avLst>
              <a:gd name="adj" fmla="val 28571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8803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41248" y="2880360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制定'要'与'不要'判定标准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02920" y="3429000"/>
            <a:ext cx="256032" cy="256032"/>
          </a:xfrm>
          <a:prstGeom prst="roundRect">
            <a:avLst>
              <a:gd name="adj" fmla="val 28571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342900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41248" y="3429000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红牌标注：品名/数量/原因/日期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02920" y="3977640"/>
            <a:ext cx="256032" cy="256032"/>
          </a:xfrm>
          <a:prstGeom prst="roundRect">
            <a:avLst>
              <a:gd name="adj" fmla="val 28571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397764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41248" y="3977640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限时处理：保留/转移/报废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02920" y="4526280"/>
            <a:ext cx="256032" cy="256032"/>
          </a:xfrm>
          <a:prstGeom prst="roundRect">
            <a:avLst>
              <a:gd name="adj" fmla="val 28571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452628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41248" y="4526280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跟踪确认，拍照记录改善效果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160520" y="1371600"/>
            <a:ext cx="3749040" cy="48463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160520" y="1371600"/>
            <a:ext cx="3749040" cy="8229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60520" y="1920240"/>
            <a:ext cx="374904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160520" y="137160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定点摄影看板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4160520" y="18288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/ After Comparison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343400" y="2331720"/>
            <a:ext cx="1554480" cy="1188720"/>
          </a:xfrm>
          <a:prstGeom prst="roundRect">
            <a:avLst>
              <a:gd name="adj" fmla="val 4615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43400" y="233172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改善前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434840" y="2679192"/>
            <a:ext cx="182880" cy="59436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6" name="Shape 34"/>
          <p:cNvSpPr/>
          <p:nvPr/>
        </p:nvSpPr>
        <p:spPr>
          <a:xfrm>
            <a:off x="4681728" y="2788920"/>
            <a:ext cx="164592" cy="484632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37" name="Shape 35"/>
          <p:cNvSpPr/>
          <p:nvPr/>
        </p:nvSpPr>
        <p:spPr>
          <a:xfrm>
            <a:off x="4956048" y="2660904"/>
            <a:ext cx="201168" cy="61264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8" name="Shape 36"/>
          <p:cNvSpPr/>
          <p:nvPr/>
        </p:nvSpPr>
        <p:spPr>
          <a:xfrm>
            <a:off x="5486400" y="2715768"/>
            <a:ext cx="274320" cy="274320"/>
          </a:xfrm>
          <a:prstGeom prst="diamond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0" y="2770632"/>
            <a:ext cx="457200" cy="201168"/>
          </a:xfrm>
          <a:prstGeom prst="rightArrow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537960" y="2331720"/>
            <a:ext cx="1554480" cy="1188720"/>
          </a:xfrm>
          <a:prstGeom prst="roundRect">
            <a:avLst>
              <a:gd name="adj" fmla="val 4615"/>
            </a:avLst>
          </a:prstGeom>
          <a:solidFill>
            <a:srgbClr val="DCFCE7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37960" y="233172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改善后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6629400" y="2679192"/>
            <a:ext cx="411480" cy="2743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629400" y="3017520"/>
            <a:ext cx="411480" cy="2743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132320" y="2679192"/>
            <a:ext cx="411480" cy="2743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132320" y="3017520"/>
            <a:ext cx="411480" cy="2743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35240" y="2834640"/>
            <a:ext cx="256032" cy="256032"/>
          </a:xfrm>
          <a:prstGeom prst="diamond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343400" y="3749040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343400" y="374904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4617720" y="3749040"/>
            <a:ext cx="3291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工具按标识归位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43400" y="4096512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43400" y="4096512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617720" y="4096512"/>
            <a:ext cx="3291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模具分类存放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43400" y="4443984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43400" y="4443984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617720" y="4443984"/>
            <a:ext cx="3291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废料区域标识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343400" y="4791456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43400" y="4791456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4617720" y="4791456"/>
            <a:ext cx="3291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通道畅通无阻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8183880" y="1371600"/>
            <a:ext cx="3657600" cy="4846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0D948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183880" y="1371600"/>
            <a:ext cx="3657600" cy="8229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183880" y="1920240"/>
            <a:ext cx="3657600" cy="274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183880" y="13716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形迹管理板 &amp; 清扫点检</a:t>
            </a:r>
            <a:endParaRPr lang="en-US" sz="1400" dirty="0"/>
          </a:p>
        </p:txBody>
      </p:sp>
      <p:sp>
        <p:nvSpPr>
          <p:cNvPr id="63" name="Text 61"/>
          <p:cNvSpPr/>
          <p:nvPr/>
        </p:nvSpPr>
        <p:spPr>
          <a:xfrm>
            <a:off x="8183880" y="18288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Shadow Board &amp; Cleaning Checklist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8366760" y="2377440"/>
            <a:ext cx="1828800" cy="164592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366760" y="23774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工具形迹板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8503920" y="2697480"/>
            <a:ext cx="1188720" cy="13716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9050">
            <a:solidFill>
              <a:srgbClr val="DC2626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8686800" y="2926080"/>
            <a:ext cx="731520" cy="109728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8595360" y="32004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2761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9098280" y="3273552"/>
            <a:ext cx="457200" cy="164592"/>
          </a:xfrm>
          <a:prstGeom prst="rightArrow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dash"/>
          </a:ln>
        </p:spPr>
      </p:sp>
      <p:sp>
        <p:nvSpPr>
          <p:cNvPr id="70" name="Text 68"/>
          <p:cNvSpPr/>
          <p:nvPr/>
        </p:nvSpPr>
        <p:spPr>
          <a:xfrm>
            <a:off x="8366760" y="416052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5S 责任区域划分：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8412480" y="4480560"/>
            <a:ext cx="109728" cy="14630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72" name="Text 70"/>
          <p:cNvSpPr/>
          <p:nvPr/>
        </p:nvSpPr>
        <p:spPr>
          <a:xfrm>
            <a:off x="8595360" y="4434840"/>
            <a:ext cx="3017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A区 - 冷镦车间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8412480" y="4773168"/>
            <a:ext cx="109728" cy="14630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74" name="Text 72"/>
          <p:cNvSpPr/>
          <p:nvPr/>
        </p:nvSpPr>
        <p:spPr>
          <a:xfrm>
            <a:off x="8595360" y="4727448"/>
            <a:ext cx="3017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B区 - 搓丝工位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8412480" y="5065776"/>
            <a:ext cx="109728" cy="14630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76" name="Text 74"/>
          <p:cNvSpPr/>
          <p:nvPr/>
        </p:nvSpPr>
        <p:spPr>
          <a:xfrm>
            <a:off x="8595360" y="5020056"/>
            <a:ext cx="3017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C区 - 热处理区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8412480" y="5358384"/>
            <a:ext cx="109728" cy="14630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8" name="Text 76"/>
          <p:cNvSpPr/>
          <p:nvPr/>
        </p:nvSpPr>
        <p:spPr>
          <a:xfrm>
            <a:off x="8595360" y="5312664"/>
            <a:ext cx="3017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D区 - 表面处理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8412480" y="5650992"/>
            <a:ext cx="109728" cy="146304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80" name="Text 78"/>
          <p:cNvSpPr/>
          <p:nvPr/>
        </p:nvSpPr>
        <p:spPr>
          <a:xfrm>
            <a:off x="8595360" y="5605272"/>
            <a:ext cx="3017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E区 - 包装发货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88952" cy="10972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9728"/>
            <a:ext cx="112745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5S 审核表与案例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11274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5S Audit Checklist · Scoring Criteria · Factory Improvement Cases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55624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精益工具知识库 | 5S管理与看板详解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371600"/>
            <a:ext cx="5669280" cy="493776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25400">
            <a:solidFill>
              <a:srgbClr val="0D948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371600"/>
            <a:ext cx="5669280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371600"/>
            <a:ext cx="5669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5S 审核评分表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0040" y="2057400"/>
            <a:ext cx="5669280" cy="3200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411480" y="20574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审核项目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743200" y="20574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评分标准 (0-5分)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617720" y="2057400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权重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0040" y="2377440"/>
            <a:ext cx="5669280" cy="50292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3774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整理 - 废料清除与分类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743200" y="237744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无分类=0  标识清晰=5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617720" y="2377440"/>
            <a:ext cx="1143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2880360"/>
            <a:ext cx="566928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411480" y="288036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整顿 - 工具定位与标识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743200" y="28803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混乱=0  形迹管理=5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617720" y="2880360"/>
            <a:ext cx="1143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0040" y="3383280"/>
            <a:ext cx="5669280" cy="50292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4" name="Text 22"/>
          <p:cNvSpPr/>
          <p:nvPr/>
        </p:nvSpPr>
        <p:spPr>
          <a:xfrm>
            <a:off x="411480" y="338328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清扫 - 设备与地面清洁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743200" y="338328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脏污=0  光亮如新=5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617720" y="3383280"/>
            <a:ext cx="1143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20040" y="3886200"/>
            <a:ext cx="566928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411480" y="388620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清洁 - 标准化与维持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743200" y="38862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无标准=0  目视管理=5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617720" y="3886200"/>
            <a:ext cx="1143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20040" y="4389120"/>
            <a:ext cx="5669280" cy="50292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2" name="Text 30"/>
          <p:cNvSpPr/>
          <p:nvPr/>
        </p:nvSpPr>
        <p:spPr>
          <a:xfrm>
            <a:off x="411480" y="438912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素养 - 习惯与纪律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743200" y="43891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被动=0  自主管理=5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617720" y="4389120"/>
            <a:ext cx="1143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1480" y="5074920"/>
            <a:ext cx="5486400" cy="1051560"/>
          </a:xfrm>
          <a:prstGeom prst="roundRect">
            <a:avLst>
              <a:gd name="adj" fmla="val 5217"/>
            </a:avLst>
          </a:prstGeom>
          <a:solidFill>
            <a:srgbClr val="1E2761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2920" y="507492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评分等级：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02920" y="5349240"/>
            <a:ext cx="109728" cy="128016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8" name="Text 36"/>
          <p:cNvSpPr/>
          <p:nvPr/>
        </p:nvSpPr>
        <p:spPr>
          <a:xfrm>
            <a:off x="658368" y="5321808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优秀: ≥90分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1874520" y="5349240"/>
            <a:ext cx="109728" cy="12801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0" name="Text 38"/>
          <p:cNvSpPr/>
          <p:nvPr/>
        </p:nvSpPr>
        <p:spPr>
          <a:xfrm>
            <a:off x="2029968" y="5321808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良好: 75-89分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246120" y="5349240"/>
            <a:ext cx="109728" cy="128016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2" name="Text 40"/>
          <p:cNvSpPr/>
          <p:nvPr/>
        </p:nvSpPr>
        <p:spPr>
          <a:xfrm>
            <a:off x="3401568" y="5321808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合格: 60-74分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617720" y="5349240"/>
            <a:ext cx="109728" cy="12801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4" name="Text 42"/>
          <p:cNvSpPr/>
          <p:nvPr/>
        </p:nvSpPr>
        <p:spPr>
          <a:xfrm>
            <a:off x="4773168" y="5321808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不合格: &lt;60分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502920" y="5596128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改善建议：A/B级维持优势，C级制定30天改善计划，D级停产整顿全面整改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6263640" y="1371600"/>
            <a:ext cx="5577840" cy="493776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263640" y="1371600"/>
            <a:ext cx="557784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63640" y="1371600"/>
            <a:ext cx="5577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紧固件工厂 5S 改善案例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6400800" y="2240280"/>
            <a:ext cx="5303520" cy="96012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400800" y="2240280"/>
            <a:ext cx="91440" cy="9601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1" name="Text 49"/>
          <p:cNvSpPr/>
          <p:nvPr/>
        </p:nvSpPr>
        <p:spPr>
          <a:xfrm>
            <a:off x="6537960" y="2258568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案例1 - 工具寻找改善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6537960" y="2496312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平均寻找工具: 3.5分钟/次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9372600" y="2532888"/>
            <a:ext cx="457200" cy="14630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829800" y="2496312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形迹管理后: 15秒/次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9418320" y="2743200"/>
            <a:ext cx="914400" cy="320040"/>
          </a:xfrm>
          <a:prstGeom prst="roundRect">
            <a:avLst>
              <a:gd name="adj" fmla="val 28571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418320" y="274320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93%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6400800" y="3291840"/>
            <a:ext cx="5303520" cy="96012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400800" y="3291840"/>
            <a:ext cx="91440" cy="9601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59" name="Text 57"/>
          <p:cNvSpPr/>
          <p:nvPr/>
        </p:nvSpPr>
        <p:spPr>
          <a:xfrm>
            <a:off x="6537960" y="3310128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案例2 - 废料率降低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6537960" y="3547872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废料率: 4.2%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9372600" y="3584448"/>
            <a:ext cx="457200" cy="14630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829800" y="3547872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整理实施后: 1.8%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9418320" y="3794760"/>
            <a:ext cx="914400" cy="320040"/>
          </a:xfrm>
          <a:prstGeom prst="roundRect">
            <a:avLst>
              <a:gd name="adj" fmla="val 28571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418320" y="37947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57%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6400800" y="4343400"/>
            <a:ext cx="5303520" cy="96012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400800" y="4343400"/>
            <a:ext cx="91440" cy="9601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7" name="Text 65"/>
          <p:cNvSpPr/>
          <p:nvPr/>
        </p:nvSpPr>
        <p:spPr>
          <a:xfrm>
            <a:off x="6537960" y="4361688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案例3 - 换模时间缩短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6537960" y="4599432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换模时间: 45分钟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372600" y="4636008"/>
            <a:ext cx="457200" cy="14630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829800" y="4599432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整顿优化后: 20分钟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9418320" y="4846320"/>
            <a:ext cx="914400" cy="320040"/>
          </a:xfrm>
          <a:prstGeom prst="roundRect">
            <a:avLst>
              <a:gd name="adj" fmla="val 2857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418320" y="48463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56%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6400800" y="5394960"/>
            <a:ext cx="5303520" cy="96012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400800" y="5394960"/>
            <a:ext cx="91440" cy="9601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5" name="Text 73"/>
          <p:cNvSpPr/>
          <p:nvPr/>
        </p:nvSpPr>
        <p:spPr>
          <a:xfrm>
            <a:off x="6537960" y="5413248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案例4 - 客诉率改善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6537960" y="5650992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月客诉: 12件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9372600" y="5687568"/>
            <a:ext cx="457200" cy="14630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29800" y="5650992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5S推行后: 2件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9418320" y="5897880"/>
            <a:ext cx="914400" cy="320040"/>
          </a:xfrm>
          <a:prstGeom prst="roundRect">
            <a:avLst>
              <a:gd name="adj" fmla="val 28571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418320" y="5897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83%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88952" cy="10972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9728"/>
            <a:ext cx="112745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看板系统概述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11274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Kanban System Overview · Production Kanban · Withdrawal Kanban · Signal Kanban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55624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精益工具知识库 | 5S管理与看板详解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371600"/>
            <a:ext cx="53035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4173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什么是看板？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" y="173736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看板（Kanban）是一种基于可视化卡片的生产拉动式管理系统。通过卡片在工序间传递需求信息，实现'只在需要的时候，按需要的量，生产所需的产品'。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2402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right product, at the right time, in the right quantity"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0040" y="2926080"/>
            <a:ext cx="365760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" y="2926080"/>
            <a:ext cx="3657600" cy="822960"/>
          </a:xfrm>
          <a:prstGeom prst="rect">
            <a:avLst>
              <a:gd name="adj" fmla="val 11111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" y="3474720"/>
            <a:ext cx="36576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91640" y="2971800"/>
            <a:ext cx="914400" cy="9144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91640" y="2999232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502920" y="29718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生产看板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2920" y="3310128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Kanban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" y="3986784"/>
            <a:ext cx="91440" cy="9144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0" name="Text 18"/>
          <p:cNvSpPr/>
          <p:nvPr/>
        </p:nvSpPr>
        <p:spPr>
          <a:xfrm>
            <a:off x="704088" y="3913632"/>
            <a:ext cx="3108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授权某工序生产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8640" y="4261104"/>
            <a:ext cx="91440" cy="9144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2" name="Text 20"/>
          <p:cNvSpPr/>
          <p:nvPr/>
        </p:nvSpPr>
        <p:spPr>
          <a:xfrm>
            <a:off x="704088" y="4187952"/>
            <a:ext cx="3108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指定数量的产品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48640" y="4535424"/>
            <a:ext cx="91440" cy="9144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4" name="Text 22"/>
          <p:cNvSpPr/>
          <p:nvPr/>
        </p:nvSpPr>
        <p:spPr>
          <a:xfrm>
            <a:off x="704088" y="4462272"/>
            <a:ext cx="3108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包含品名/数量/工序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206240" y="2926080"/>
            <a:ext cx="365760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54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06240" y="2926080"/>
            <a:ext cx="3657600" cy="822960"/>
          </a:xfrm>
          <a:prstGeom prst="rect">
            <a:avLst>
              <a:gd name="adj" fmla="val 1111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06240" y="3474720"/>
            <a:ext cx="3657600" cy="274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577840" y="2971800"/>
            <a:ext cx="914400" cy="9144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77840" y="2999232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2800" dirty="0"/>
          </a:p>
        </p:txBody>
      </p:sp>
      <p:sp>
        <p:nvSpPr>
          <p:cNvPr id="30" name="Text 28"/>
          <p:cNvSpPr/>
          <p:nvPr/>
        </p:nvSpPr>
        <p:spPr>
          <a:xfrm>
            <a:off x="4389120" y="29718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搬运看板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389120" y="3310128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Withdrawal Kanban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434840" y="3986784"/>
            <a:ext cx="91440" cy="9144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33" name="Text 31"/>
          <p:cNvSpPr/>
          <p:nvPr/>
        </p:nvSpPr>
        <p:spPr>
          <a:xfrm>
            <a:off x="4590288" y="3913632"/>
            <a:ext cx="3108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授权从上游工序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434840" y="4261104"/>
            <a:ext cx="91440" cy="9144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35" name="Text 33"/>
          <p:cNvSpPr/>
          <p:nvPr/>
        </p:nvSpPr>
        <p:spPr>
          <a:xfrm>
            <a:off x="4590288" y="4187952"/>
            <a:ext cx="3108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搬运指定数量的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434840" y="4535424"/>
            <a:ext cx="91440" cy="9144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37" name="Text 35"/>
          <p:cNvSpPr/>
          <p:nvPr/>
        </p:nvSpPr>
        <p:spPr>
          <a:xfrm>
            <a:off x="4590288" y="4462272"/>
            <a:ext cx="3108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物料到下游工序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8092440" y="2926080"/>
            <a:ext cx="365760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092440" y="2926080"/>
            <a:ext cx="3657600" cy="822960"/>
          </a:xfrm>
          <a:prstGeom prst="rect">
            <a:avLst>
              <a:gd name="adj" fmla="val 11111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092440" y="3474720"/>
            <a:ext cx="3657600" cy="2743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464040" y="2971800"/>
            <a:ext cx="914400" cy="9144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464040" y="2999232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2800" dirty="0"/>
          </a:p>
        </p:txBody>
      </p:sp>
      <p:sp>
        <p:nvSpPr>
          <p:cNvPr id="43" name="Text 41"/>
          <p:cNvSpPr/>
          <p:nvPr/>
        </p:nvSpPr>
        <p:spPr>
          <a:xfrm>
            <a:off x="8275320" y="29718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信号看板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275320" y="3310128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 Kanban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8321040" y="3986784"/>
            <a:ext cx="91440" cy="914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46" name="Text 44"/>
          <p:cNvSpPr/>
          <p:nvPr/>
        </p:nvSpPr>
        <p:spPr>
          <a:xfrm>
            <a:off x="8476488" y="3913632"/>
            <a:ext cx="3108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当库存低于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8321040" y="4261104"/>
            <a:ext cx="91440" cy="914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48" name="Text 46"/>
          <p:cNvSpPr/>
          <p:nvPr/>
        </p:nvSpPr>
        <p:spPr>
          <a:xfrm>
            <a:off x="8476488" y="4187952"/>
            <a:ext cx="3108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触发点时发出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321040" y="4535424"/>
            <a:ext cx="91440" cy="914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50" name="Text 48"/>
          <p:cNvSpPr/>
          <p:nvPr/>
        </p:nvSpPr>
        <p:spPr>
          <a:xfrm>
            <a:off x="8476488" y="4462272"/>
            <a:ext cx="3108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批量生产信号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20040" y="6309360"/>
            <a:ext cx="11521440" cy="320040"/>
          </a:xfrm>
          <a:prstGeom prst="roundRect">
            <a:avLst>
              <a:gd name="adj" fmla="val 17143"/>
            </a:avLst>
          </a:prstGeom>
          <a:solidFill>
            <a:srgbClr val="1E2761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02920" y="6309360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看板循环流程：供应商 → [原料仓] → [冷镦工序] → [搓丝工序] → [热处理] → [表面处理] → [包装发货] → 客户    ·    信息流（看板）逆流而下，物流顺流而下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88952" cy="10972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9728"/>
            <a:ext cx="112745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看板计算方法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11274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Kanban Quantity Calculation · WIP Limits · Replenishment Triggers · Numerical Examples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55624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精益工具知识库 | 5S管理与看板详解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371600"/>
            <a:ext cx="566928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371600"/>
            <a:ext cx="566928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371600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看板数量计算公式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" y="210312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看板张数 = (日需求量 × 补充周期时间 × (1 + 安全系数))  ÷  单箱装载量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651760"/>
            <a:ext cx="1234440" cy="6858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670048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日需求量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76072" y="2944368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每日客户/下工序需求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1874520" y="2651760"/>
            <a:ext cx="1234440" cy="685800"/>
          </a:xfrm>
          <a:prstGeom prst="roundRect">
            <a:avLst>
              <a:gd name="adj" fmla="val 8000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74520" y="2670048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补充周期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947672" y="2944368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从发出看板到物料到达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3246120" y="2651760"/>
            <a:ext cx="1234440" cy="685800"/>
          </a:xfrm>
          <a:prstGeom prst="roundRect">
            <a:avLst>
              <a:gd name="adj" fmla="val 8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46120" y="2670048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安全系数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319272" y="2944368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通常5%-20%缓冲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617720" y="2651760"/>
            <a:ext cx="1234440" cy="685800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17720" y="2670048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单箱装载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690872" y="2944368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每箱/容器标准数量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6263640" y="1371600"/>
            <a:ext cx="557784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63640" y="1371600"/>
            <a:ext cx="5577840" cy="64008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63640" y="1371600"/>
            <a:ext cx="5577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螺栓生产实例计算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0" y="210312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046720" y="210312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M10×50 六角螺栓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00800" y="237744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日需求量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046720" y="237744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20,000 件/天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400800" y="26517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补充周期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046720" y="265176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冷镦→包装: 0.5天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00800" y="292608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安全系数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046720" y="292608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400800" y="320040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单箱装载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046720" y="320040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 件/箱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20040" y="3749040"/>
            <a:ext cx="5669280" cy="22860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2920" y="379476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分步计算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02920" y="4114800"/>
            <a:ext cx="5303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1: 需求总量 = 20,000 × 0.5 = 10,000 件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02920" y="4389120"/>
            <a:ext cx="5303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2: 含安全库存 = 10,000 × 1.10 = 11,000 件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02920" y="4663440"/>
            <a:ext cx="5303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3: 看板张数 = 11,000 ÷ 500 = 22 张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502920" y="5029200"/>
            <a:ext cx="5303520" cy="777240"/>
          </a:xfrm>
          <a:prstGeom prst="roundRect">
            <a:avLst>
              <a:gd name="adj" fmla="val 7059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080" y="5074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 需要看板总数: 22 张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2560320" y="50749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生产看板: 11张  |  搬运看板: 11张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40080" y="537667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WIP上限 = 表看板数 × 单箱装载量 = 11,000 件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40080" y="5687568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补货触发点: 当库存低于 5,000件 时发出看板信号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263640" y="3749040"/>
            <a:ext cx="5577840" cy="2286000"/>
          </a:xfrm>
          <a:prstGeom prst="roundRect">
            <a:avLst>
              <a:gd name="adj" fmla="val 4000"/>
            </a:avLst>
          </a:prstGeom>
          <a:solidFill>
            <a:srgbClr val="FFFBEB"/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46520" y="379476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补货触发条件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6400800" y="4160520"/>
            <a:ext cx="109728" cy="4572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0" name="Text 48"/>
          <p:cNvSpPr/>
          <p:nvPr/>
        </p:nvSpPr>
        <p:spPr>
          <a:xfrm>
            <a:off x="6583680" y="41605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红色预警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6583680" y="4370832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库存 &lt; 安全库存(2天需求)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立即启动紧急补货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6400800" y="4754880"/>
            <a:ext cx="109728" cy="4572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53" name="Text 51"/>
          <p:cNvSpPr/>
          <p:nvPr/>
        </p:nvSpPr>
        <p:spPr>
          <a:xfrm>
            <a:off x="6583680" y="47548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黄色预警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583680" y="4965192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库存 &lt; 补货点(3天需求)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正常看板补货流程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6400800" y="5349240"/>
            <a:ext cx="109728" cy="4572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56" name="Text 54"/>
          <p:cNvSpPr/>
          <p:nvPr/>
        </p:nvSpPr>
        <p:spPr>
          <a:xfrm>
            <a:off x="6583680" y="53492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绿色正常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583680" y="5559552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库存 &gt; 补货点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无需补货，维持现状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320040" y="6263640"/>
            <a:ext cx="11521440" cy="320040"/>
          </a:xfrm>
          <a:prstGeom prst="roundRect">
            <a:avLst>
              <a:gd name="adj" fmla="val 17143"/>
            </a:avLst>
          </a:prstGeom>
          <a:solidFill>
            <a:srgbClr val="1E2761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02920" y="6263640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精益原则：WIP（在制品）= 看板数 × 单箱装载量。限制WIP是控制生产节拍、缩短交期的核心手段。看板数量 = 生产节拍的控制阀。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88952" cy="10972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9728"/>
            <a:ext cx="112745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看板实施案例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11274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Fastener Production Kanban · Cold Heading → Thread Rolling → Heat Treatment → Surface Treatment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55624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精益工具知识库 | 5S管理与看板详解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371600"/>
            <a:ext cx="1554480" cy="100584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1371600"/>
            <a:ext cx="1554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原料仓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Material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Warehouse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892808" y="1783080"/>
            <a:ext cx="164592" cy="182880"/>
          </a:xfrm>
          <a:prstGeom prst="rightArrow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11096" y="2514600"/>
            <a:ext cx="128016" cy="731520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911096" y="2514600"/>
            <a:ext cx="1280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看板#1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947672" y="2715768"/>
            <a:ext cx="548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品名/数量/时间</a:t>
            </a:r>
            <a:endParaRPr lang="en-US" sz="600" dirty="0"/>
          </a:p>
        </p:txBody>
      </p:sp>
      <p:sp>
        <p:nvSpPr>
          <p:cNvPr id="14" name="Shape 12"/>
          <p:cNvSpPr/>
          <p:nvPr/>
        </p:nvSpPr>
        <p:spPr>
          <a:xfrm>
            <a:off x="1956816" y="3246120"/>
            <a:ext cx="36576" cy="13716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5" name="Shape 13"/>
          <p:cNvSpPr/>
          <p:nvPr/>
        </p:nvSpPr>
        <p:spPr>
          <a:xfrm>
            <a:off x="2075688" y="1371600"/>
            <a:ext cx="1554480" cy="1005840"/>
          </a:xfrm>
          <a:prstGeom prst="roundRect">
            <a:avLst>
              <a:gd name="adj" fmla="val 9091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075688" y="1371600"/>
            <a:ext cx="1554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冷镦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Cold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Heading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648456" y="1783080"/>
            <a:ext cx="164592" cy="182880"/>
          </a:xfrm>
          <a:prstGeom prst="rightArrow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66744" y="2514600"/>
            <a:ext cx="128016" cy="731520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66744" y="2514600"/>
            <a:ext cx="1280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看板#2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3703320" y="2715768"/>
            <a:ext cx="548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品名/数量/时间</a:t>
            </a:r>
            <a:endParaRPr lang="en-US" sz="600" dirty="0"/>
          </a:p>
        </p:txBody>
      </p:sp>
      <p:sp>
        <p:nvSpPr>
          <p:cNvPr id="21" name="Shape 19"/>
          <p:cNvSpPr/>
          <p:nvPr/>
        </p:nvSpPr>
        <p:spPr>
          <a:xfrm>
            <a:off x="3712464" y="3246120"/>
            <a:ext cx="36576" cy="13716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2" name="Shape 20"/>
          <p:cNvSpPr/>
          <p:nvPr/>
        </p:nvSpPr>
        <p:spPr>
          <a:xfrm>
            <a:off x="3831336" y="1371600"/>
            <a:ext cx="1554480" cy="1005840"/>
          </a:xfrm>
          <a:prstGeom prst="roundRect">
            <a:avLst>
              <a:gd name="adj" fmla="val 9091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31336" y="1371600"/>
            <a:ext cx="1554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搓丝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Thread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Rolling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04104" y="1783080"/>
            <a:ext cx="164592" cy="182880"/>
          </a:xfrm>
          <a:prstGeom prst="rightArrow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22392" y="2514600"/>
            <a:ext cx="128016" cy="731520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22392" y="2514600"/>
            <a:ext cx="1280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看板#3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5458968" y="2715768"/>
            <a:ext cx="548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品名/数量/时间</a:t>
            </a:r>
            <a:endParaRPr lang="en-US" sz="600" dirty="0"/>
          </a:p>
        </p:txBody>
      </p:sp>
      <p:sp>
        <p:nvSpPr>
          <p:cNvPr id="28" name="Shape 26"/>
          <p:cNvSpPr/>
          <p:nvPr/>
        </p:nvSpPr>
        <p:spPr>
          <a:xfrm>
            <a:off x="5468112" y="3246120"/>
            <a:ext cx="36576" cy="13716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9" name="Shape 27"/>
          <p:cNvSpPr/>
          <p:nvPr/>
        </p:nvSpPr>
        <p:spPr>
          <a:xfrm>
            <a:off x="5586984" y="1371600"/>
            <a:ext cx="1554480" cy="1005840"/>
          </a:xfrm>
          <a:prstGeom prst="roundRect">
            <a:avLst>
              <a:gd name="adj" fmla="val 9091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586984" y="1371600"/>
            <a:ext cx="1554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热处理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Heat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Treatment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159752" y="1783080"/>
            <a:ext cx="164592" cy="182880"/>
          </a:xfrm>
          <a:prstGeom prst="rightArrow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178040" y="2514600"/>
            <a:ext cx="128016" cy="731520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78040" y="2514600"/>
            <a:ext cx="1280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看板#4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7214616" y="2715768"/>
            <a:ext cx="548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品名/数量/时间</a:t>
            </a:r>
            <a:endParaRPr lang="en-US" sz="600" dirty="0"/>
          </a:p>
        </p:txBody>
      </p:sp>
      <p:sp>
        <p:nvSpPr>
          <p:cNvPr id="35" name="Shape 33"/>
          <p:cNvSpPr/>
          <p:nvPr/>
        </p:nvSpPr>
        <p:spPr>
          <a:xfrm>
            <a:off x="7223760" y="3246120"/>
            <a:ext cx="36576" cy="13716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36" name="Shape 34"/>
          <p:cNvSpPr/>
          <p:nvPr/>
        </p:nvSpPr>
        <p:spPr>
          <a:xfrm>
            <a:off x="7342632" y="1371600"/>
            <a:ext cx="1554480" cy="1005840"/>
          </a:xfrm>
          <a:prstGeom prst="roundRect">
            <a:avLst>
              <a:gd name="adj" fmla="val 90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42632" y="1371600"/>
            <a:ext cx="1554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表面处理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Surface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Treatment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8915400" y="1783080"/>
            <a:ext cx="164592" cy="182880"/>
          </a:xfrm>
          <a:prstGeom prst="rightArrow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933688" y="2514600"/>
            <a:ext cx="128016" cy="731520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933688" y="2514600"/>
            <a:ext cx="1280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看板#5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8970264" y="2715768"/>
            <a:ext cx="548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品名/数量/时间</a:t>
            </a:r>
            <a:endParaRPr lang="en-US" sz="600" dirty="0"/>
          </a:p>
        </p:txBody>
      </p:sp>
      <p:sp>
        <p:nvSpPr>
          <p:cNvPr id="42" name="Shape 40"/>
          <p:cNvSpPr/>
          <p:nvPr/>
        </p:nvSpPr>
        <p:spPr>
          <a:xfrm>
            <a:off x="8979408" y="3246120"/>
            <a:ext cx="36576" cy="13716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43" name="Shape 41"/>
          <p:cNvSpPr/>
          <p:nvPr/>
        </p:nvSpPr>
        <p:spPr>
          <a:xfrm>
            <a:off x="9098280" y="1371600"/>
            <a:ext cx="1554480" cy="100584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098280" y="1371600"/>
            <a:ext cx="1554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包装发货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Pack &amp;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Ship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20040" y="3291840"/>
            <a:ext cx="566928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20040" y="3291840"/>
            <a:ext cx="5669280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0040" y="3291840"/>
            <a:ext cx="5669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看板卡片设计示例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02920" y="4023360"/>
            <a:ext cx="2560320" cy="1965960"/>
          </a:xfrm>
          <a:prstGeom prst="roundRect">
            <a:avLst>
              <a:gd name="adj" fmla="val 2791"/>
            </a:avLst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02920" y="4023360"/>
            <a:ext cx="2560320" cy="3200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2920" y="40233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生产看板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94360" y="4434840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产品: M10×50六角螺栓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94360" y="4690872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数量: 5,000件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594360" y="4946904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工序: 冷镦→搓丝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594360" y="5202936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交期: 当日14:00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594360" y="545896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看板号: P-001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3246120" y="4023360"/>
            <a:ext cx="2560320" cy="1965960"/>
          </a:xfrm>
          <a:prstGeom prst="roundRect">
            <a:avLst>
              <a:gd name="adj" fmla="val 2791"/>
            </a:avLst>
          </a:prstGeom>
          <a:solidFill>
            <a:srgbClr val="F8FAFC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246120" y="4023360"/>
            <a:ext cx="2560320" cy="3200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46120" y="40233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搬运看板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3337560" y="4434840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物料: 冷镦半成品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3337560" y="4690872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数量: 500件/箱 × 2箱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3337560" y="4946904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从: 冷镦车间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3337560" y="5202936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到: 搓丝工位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3337560" y="545896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看板号: W-003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6263640" y="3291840"/>
            <a:ext cx="557784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263640" y="3291840"/>
            <a:ext cx="5577840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263640" y="3291840"/>
            <a:ext cx="5577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看板实施步骤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6400800" y="3977640"/>
            <a:ext cx="256032" cy="256032"/>
          </a:xfrm>
          <a:prstGeom prst="roundRect">
            <a:avLst>
              <a:gd name="adj" fmla="val 28571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00800" y="397764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6748272" y="3977640"/>
            <a:ext cx="4892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分析各工序节拍时间(Takt Time)与换线时间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6400800" y="4325112"/>
            <a:ext cx="256032" cy="256032"/>
          </a:xfrm>
          <a:prstGeom prst="roundRect">
            <a:avLst>
              <a:gd name="adj" fmla="val 28571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400800" y="432511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6748272" y="4325112"/>
            <a:ext cx="4892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计算各工序间看板数量与安全库存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6400800" y="4672584"/>
            <a:ext cx="256032" cy="256032"/>
          </a:xfrm>
          <a:prstGeom prst="roundRect">
            <a:avLst>
              <a:gd name="adj" fmla="val 2857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00800" y="467258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6748272" y="4672584"/>
            <a:ext cx="4892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设计看板卡片格式(纸质/电子)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6400800" y="5020056"/>
            <a:ext cx="256032" cy="256032"/>
          </a:xfrm>
          <a:prstGeom prst="roundRect">
            <a:avLst>
              <a:gd name="adj" fmla="val 28571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00800" y="5020056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6748272" y="5020056"/>
            <a:ext cx="4892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设置看板回收箱与信号灯系统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6400800" y="5367528"/>
            <a:ext cx="256032" cy="256032"/>
          </a:xfrm>
          <a:prstGeom prst="roundRect">
            <a:avLst>
              <a:gd name="adj" fmla="val 28571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400800" y="536752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81" name="Text 79"/>
          <p:cNvSpPr/>
          <p:nvPr/>
        </p:nvSpPr>
        <p:spPr>
          <a:xfrm>
            <a:off x="6748272" y="5367528"/>
            <a:ext cx="4892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培训员工看板使用规则与流程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6400800" y="5715000"/>
            <a:ext cx="256032" cy="256032"/>
          </a:xfrm>
          <a:prstGeom prst="roundRect">
            <a:avLst>
              <a:gd name="adj" fmla="val 28571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400800" y="571500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6748272" y="5715000"/>
            <a:ext cx="4892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试运行→收集数据→优化看板数量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320040" y="6400800"/>
            <a:ext cx="11521440" cy="201168"/>
          </a:xfrm>
          <a:prstGeom prst="roundRect">
            <a:avLst>
              <a:gd name="adj" fmla="val 27273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02920" y="6400800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实施效果：某紧固件厂推行看板后，在制品库存降低45%，交期缩短30%，换线时间减少25%，月产能提升15%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88952" cy="10972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9728"/>
            <a:ext cx="112745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总结：5S 与看板的协同效应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11274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5S &amp; Kanban Synergy · Continuous Improvement · Action Plan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55624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精益工具知识库 | 5S管理与看板详解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371600"/>
            <a:ext cx="548640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371600"/>
            <a:ext cx="548640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37160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5S 与看板的协同关系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97280" y="2286000"/>
            <a:ext cx="2011680" cy="2011680"/>
          </a:xfrm>
          <a:prstGeom prst="ellipse">
            <a:avLst/>
          </a:prstGeom>
          <a:solidFill>
            <a:srgbClr val="1E2761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2651760"/>
            <a:ext cx="20116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5S管理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目视化基础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标准化作业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清洁有序环境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91840" y="2286000"/>
            <a:ext cx="2011680" cy="2011680"/>
          </a:xfrm>
          <a:prstGeom prst="ellipse">
            <a:avLst/>
          </a:prstGeom>
          <a:solidFill>
            <a:srgbClr val="059669"/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2651760"/>
            <a:ext cx="20116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看板系统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拉动式生产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WIP控制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节奏化制造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468880" y="2834640"/>
            <a:ext cx="914400" cy="914400"/>
          </a:xfrm>
          <a:prstGeom prst="ellipse">
            <a:avLst/>
          </a:prstGeom>
          <a:solidFill>
            <a:srgbClr val="0D9488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68880" y="28346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精益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生产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80760" y="1371600"/>
            <a:ext cx="576072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71600"/>
            <a:ext cx="5760720" cy="64008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80760" y="1371600"/>
            <a:ext cx="5760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核心要点回顾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263640" y="21488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537960" y="21488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5S是精益基础：整理→整顿→清扫→清洁→素养，持续循环改善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263640" y="26060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537960" y="26060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红牌作战、定点摄影、形迹管理是5S落地的核心工具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263640" y="30632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537960" y="30632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看板数量 = (日需求×补充周期×(1+安全系数))÷单箱装载量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263640" y="3520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37960" y="35204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三种看板：生产看板、搬运看板、信号看板各有适用场景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263640" y="39776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537960" y="39776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5S与看板协同：5S创造有序环境，看板驱动拉动式生产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20040" y="4846320"/>
            <a:ext cx="11521440" cy="1463040"/>
          </a:xfrm>
          <a:prstGeom prst="roundRect">
            <a:avLst>
              <a:gd name="adj" fmla="val 6250"/>
            </a:avLst>
          </a:prstGeom>
          <a:solidFill>
            <a:srgbClr val="EFF6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4892040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行动计划建议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02920" y="5212080"/>
            <a:ext cx="2560320" cy="914400"/>
          </a:xfrm>
          <a:prstGeom prst="roundRect">
            <a:avLst>
              <a:gd name="adj" fmla="val 6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5212080"/>
            <a:ext cx="2560320" cy="274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521208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第1-2周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94360" y="5504688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5S启动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94360" y="577900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组建5S小组，全员培训，红牌作战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200400" y="5212080"/>
            <a:ext cx="2560320" cy="914400"/>
          </a:xfrm>
          <a:prstGeom prst="roundRect">
            <a:avLst>
              <a:gd name="adj" fmla="val 6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5212080"/>
            <a:ext cx="2560320" cy="2743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9" name="Text 37"/>
          <p:cNvSpPr/>
          <p:nvPr/>
        </p:nvSpPr>
        <p:spPr>
          <a:xfrm>
            <a:off x="3200400" y="521208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第3-4周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291840" y="5504688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5S深化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291840" y="577900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定点定位，形迹管理，审核评分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5897880" y="5212080"/>
            <a:ext cx="2560320" cy="914400"/>
          </a:xfrm>
          <a:prstGeom prst="roundRect">
            <a:avLst>
              <a:gd name="adj" fmla="val 6000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897880" y="5212080"/>
            <a:ext cx="2560320" cy="2743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4" name="Text 42"/>
          <p:cNvSpPr/>
          <p:nvPr/>
        </p:nvSpPr>
        <p:spPr>
          <a:xfrm>
            <a:off x="5897880" y="521208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第5-8周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989320" y="5504688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看板导入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989320" y="577900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计算看板数量，设计卡片，试运行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8595360" y="5212080"/>
            <a:ext cx="256032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595360" y="5212080"/>
            <a:ext cx="2560320" cy="2743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9" name="Text 47"/>
          <p:cNvSpPr/>
          <p:nvPr/>
        </p:nvSpPr>
        <p:spPr>
          <a:xfrm>
            <a:off x="8595360" y="521208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第9-12周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8686800" y="5504688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优化看板数量，标准化，成果固化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686800" y="577900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5S 管理与看板详解</dc:title>
  <dc:subject>PptxGenJS Presentation</dc:subject>
  <dc:creator>精益工具知识库</dc:creator>
  <cp:lastModifiedBy>精益工具知识库</cp:lastModifiedBy>
  <cp:revision>1</cp:revision>
  <dcterms:created xsi:type="dcterms:W3CDTF">2026-05-17T11:57:40Z</dcterms:created>
  <dcterms:modified xsi:type="dcterms:W3CDTF">2026-05-17T11:57:40Z</dcterms:modified>
</cp:coreProperties>
</file>