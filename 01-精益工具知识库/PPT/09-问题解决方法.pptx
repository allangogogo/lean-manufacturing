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943600" cy="5943600"/>
          </a:xfrm>
          <a:prstGeom prst="ellipse">
            <a:avLst/>
          </a:prstGeom>
          <a:solidFill>
            <a:srgbClr val="1B2D6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457200"/>
            <a:ext cx="4114800" cy="4114800"/>
          </a:xfrm>
          <a:prstGeom prst="ellipse">
            <a:avLst/>
          </a:prstGeom>
          <a:solidFill>
            <a:srgbClr val="233B7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29260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4747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问题解决方法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4251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Problem-Solving Methods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983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Gemba Walk | A3 报告 | PDCA 循环 | DMAIC | VA/VE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连接件制造精益问题解决利器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Gemba Walk 现场走动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to the Real Place &amp; See the Real Thing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| 问题解决方法 | Gemba Walk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 · 现场走动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" y="1664208"/>
            <a:ext cx="5303520" cy="141732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27632"/>
            <a:ext cx="5303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27632"/>
            <a:ext cx="53035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7007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Gemba Walk？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Gemba（现场）= 真正发生工作的地点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管理者亲临现场，观察实际流程、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与员工交流、发现浪费与问题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6151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核心理念：问题在现场，答案也在现场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45352" y="1664208"/>
            <a:ext cx="5513832" cy="141732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627632"/>
            <a:ext cx="55138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627632"/>
            <a:ext cx="55138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700784"/>
            <a:ext cx="5239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如何有效开展 Gemba Walk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2011680"/>
            <a:ext cx="5239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制定走动路线与频次计划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2249424"/>
            <a:ext cx="5239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带着问题意识去观察（不预设结论）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2487168"/>
            <a:ext cx="5239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多提问、少指责（Why? How? What if?）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2724912"/>
            <a:ext cx="5239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记录观察结果，立即制定对策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 Safety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7033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违章操作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PPE佩戴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设备保护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70632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70632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Quality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70632" y="37033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首件检查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缺陷流出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标准执行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84064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84064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 Efficiency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84064" y="37033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人机等待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动作浪费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产能瓶颈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397496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97496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 Equipment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97496" y="37033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稼动状况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点检记录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异常信号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710928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10928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 People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710928" y="37033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技能水平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工作状态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5S执行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800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Gemba Walk 观察清单（连接件工厂专用）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5120640"/>
            <a:ext cx="274320" cy="256032"/>
          </a:xfrm>
          <a:prstGeom prst="roundRect">
            <a:avLst>
              <a:gd name="adj" fmla="val 214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512064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04672" y="51206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冷镦机首件检验记录是否按时填写？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5504688"/>
            <a:ext cx="274320" cy="256032"/>
          </a:xfrm>
          <a:prstGeom prst="roundRect">
            <a:avLst>
              <a:gd name="adj" fmla="val 214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55046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04672" y="550468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攻牙工序是否有漏攻防错装置？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5888736"/>
            <a:ext cx="274320" cy="256032"/>
          </a:xfrm>
          <a:prstGeom prst="roundRect">
            <a:avLst>
              <a:gd name="adj" fmla="val 214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588873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04672" y="588873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热处理炉温监控是否在标准范围内？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09360" y="5120640"/>
            <a:ext cx="274320" cy="256032"/>
          </a:xfrm>
          <a:prstGeom prst="roundRect">
            <a:avLst>
              <a:gd name="adj" fmla="val 214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512064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656832" y="51206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包装工位称重扫码系统是否正常？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09360" y="5504688"/>
            <a:ext cx="274320" cy="256032"/>
          </a:xfrm>
          <a:prstGeom prst="roundRect">
            <a:avLst>
              <a:gd name="adj" fmla="val 214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55046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656832" y="550468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操作员是否按标准作业顺序执行？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309360" y="5888736"/>
            <a:ext cx="274320" cy="256032"/>
          </a:xfrm>
          <a:prstGeom prst="roundRect">
            <a:avLst>
              <a:gd name="adj" fmla="val 214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9360" y="588873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656832" y="588873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周转料架是否超过最大容量限制？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问题解决法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One-Page Thinking &amp; Structured Problem Solving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| 问题解决方法 | A3 问题解决法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 · A3 报告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691640"/>
            <a:ext cx="10725912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91640"/>
            <a:ext cx="10725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问题解决报告模板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130552"/>
            <a:ext cx="5029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130552"/>
            <a:ext cx="73152" cy="585216"/>
          </a:xfrm>
          <a:prstGeom prst="rect">
            <a:avLst/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176272"/>
            <a:ext cx="4809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背景 Background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7824" y="2404872"/>
            <a:ext cx="4809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问题描述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发生频次与影响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2734056"/>
            <a:ext cx="50292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734056"/>
            <a:ext cx="73152" cy="585216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2779776"/>
            <a:ext cx="4809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现状 Current Condition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7824" y="3008376"/>
            <a:ext cx="4809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数据收集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流程分析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问题定位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0" y="3337560"/>
            <a:ext cx="5029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337560"/>
            <a:ext cx="73152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3383280"/>
            <a:ext cx="4809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目标 Goal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7824" y="3611880"/>
            <a:ext cx="4809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量化的改善目标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完成日期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31520" y="3941064"/>
            <a:ext cx="50292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941064"/>
            <a:ext cx="73152" cy="585216"/>
          </a:xfrm>
          <a:prstGeom prst="rect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3986784"/>
            <a:ext cx="4809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根因分析 Root Cause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7824" y="4215384"/>
            <a:ext cx="4809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Why 分析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鱼骨图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根本原因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79592" y="2130552"/>
            <a:ext cx="56052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79592" y="2130552"/>
            <a:ext cx="73152" cy="585216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25896" y="2176272"/>
            <a:ext cx="5385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对策 Countermeasures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25896" y="2404872"/>
            <a:ext cx="5385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消除根因的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具体对策方案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879592" y="2734056"/>
            <a:ext cx="5605272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79592" y="2734056"/>
            <a:ext cx="73152" cy="585216"/>
          </a:xfrm>
          <a:prstGeom prst="rect">
            <a:avLst/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25896" y="2779776"/>
            <a:ext cx="5385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实施计划 Implementation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25896" y="3008376"/>
            <a:ext cx="5385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谁来做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在哪做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879592" y="3337560"/>
            <a:ext cx="56052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79592" y="3337560"/>
            <a:ext cx="73152" cy="585216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25896" y="3383280"/>
            <a:ext cx="5385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跟进 Follow-up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25896" y="3611880"/>
            <a:ext cx="5385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效果验证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过程监控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偏差修正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879592" y="3941064"/>
            <a:ext cx="5605272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79592" y="3941064"/>
            <a:ext cx="73152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25896" y="3986784"/>
            <a:ext cx="5385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⑧ 结果 Results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25896" y="4215384"/>
            <a:ext cx="5385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最终效果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横向展开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31520" y="6217920"/>
            <a:ext cx="1072591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63093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思维核心：在一张 A3 纸上系统性地呈现问题解决全过程 | Left side: Defined | Right side: Data-driven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 循环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Plan-Do-Check-Act Continuous Improvement Cycle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| 问题解决方法 | PDCA 循环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3 · PDCA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81928" y="1783080"/>
            <a:ext cx="3291840" cy="1554480"/>
          </a:xfrm>
          <a:prstGeom prst="roundRect">
            <a:avLst>
              <a:gd name="adj" fmla="val 88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1928" y="20116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281928" y="25603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分析现状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设定目标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制定对策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81928" y="3703320"/>
            <a:ext cx="3291840" cy="1554480"/>
          </a:xfrm>
          <a:prstGeom prst="roundRect">
            <a:avLst>
              <a:gd name="adj" fmla="val 8824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3931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81928" y="44805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小范围试行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收集数据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记录异常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24328" y="3703320"/>
            <a:ext cx="3291840" cy="1554480"/>
          </a:xfrm>
          <a:prstGeom prst="roundRect">
            <a:avLst>
              <a:gd name="adj" fmla="val 882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24328" y="3931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624328" y="44805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对比目标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分析偏差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确认效果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24328" y="1783080"/>
            <a:ext cx="3291840" cy="1554480"/>
          </a:xfrm>
          <a:prstGeom prst="roundRect">
            <a:avLst>
              <a:gd name="adj" fmla="val 882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24328" y="20116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624328" y="25603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巩固成果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下一循环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863840" y="3355848"/>
            <a:ext cx="493776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70448" y="42976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206240" y="3355848"/>
            <a:ext cx="493776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3246120"/>
            <a:ext cx="493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70448" y="23774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7132320" y="2971800"/>
            <a:ext cx="2011680" cy="13716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29718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持续改善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Kaizen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螺旋上升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800600"/>
            <a:ext cx="1127455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920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连接件实例：减少螺栓螺纹缺陷率（从 3.2% 降至 &lt;0.5%）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5303520"/>
            <a:ext cx="2697480" cy="347472"/>
          </a:xfrm>
          <a:prstGeom prst="roundRect">
            <a:avLst>
              <a:gd name="adj" fmla="val 2105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3035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PLAN: 数据分析，设定 0.5% 缺陷目标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18688" y="5303520"/>
            <a:ext cx="2697480" cy="347472"/>
          </a:xfrm>
          <a:prstGeom prst="roundRect">
            <a:avLst>
              <a:gd name="adj" fmla="val 2105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18688" y="53035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DO: 调整攻牙速度/更换丝锥材质试跑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80176" y="5303520"/>
            <a:ext cx="2697480" cy="347472"/>
          </a:xfrm>
          <a:prstGeom prst="roundRect">
            <a:avLst>
              <a:gd name="adj" fmla="val 2105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0176" y="53035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CHECK: 统计 3 批缺陷率对比效果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741664" y="5303520"/>
            <a:ext cx="2697480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41664" y="53035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ACT: 更新标准作业，培训推广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58064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迭代概念：每一轮 PDCA 推动指标持续改善，从 3.2% 到 1.5% 再到 0.5%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DMAIC 方法论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Define-Measure-Analyze-Improve-Control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| 问题解决方法 | DMAIC 方法论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4 · DMAIC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定义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0116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2402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确定项目范围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CTQ 指标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组建项目团队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41448" y="2176272"/>
            <a:ext cx="54864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4600" y="169164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测量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14600" y="20116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06040" y="22402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建立数据收集计划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测量系统分析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基线数据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453128" y="2176272"/>
            <a:ext cx="54864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6280" y="169164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分析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26280" y="20116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17720" y="22402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统计分析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假设检验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识别关键因子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64808" y="2176272"/>
            <a:ext cx="54864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169164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改善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20116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629400" y="22402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DOE 实验验证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方案优选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实施改善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476488" y="2176272"/>
            <a:ext cx="54864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49640" y="169164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4964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控制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49640" y="20116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641080" y="22402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控制计划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 控制图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2920" y="3108960"/>
            <a:ext cx="11183112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108960"/>
            <a:ext cx="11183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DMAIC vs PDCA  对比分析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2920" y="3511296"/>
            <a:ext cx="10817352" cy="34747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51129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对比维度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703320" y="35112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60920" y="3511296"/>
            <a:ext cx="3959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DMAIC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" y="3858768"/>
            <a:ext cx="108173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85876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703320" y="38587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简单/日常问题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360920" y="3858768"/>
            <a:ext cx="3959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复杂/数据密集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2920" y="4206240"/>
            <a:ext cx="10817352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20624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数据依赖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703320" y="42062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低（经验+观察）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360920" y="4206240"/>
            <a:ext cx="3959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高（统计分析）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02920" y="4553712"/>
            <a:ext cx="108173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55371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工具复杂度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703320" y="455371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 QC 7 工具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360920" y="4553712"/>
            <a:ext cx="3959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高级统计 DOE/SPC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02920" y="4901184"/>
            <a:ext cx="10817352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490118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项目周期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703320" y="490118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数天至数周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360920" y="4901184"/>
            <a:ext cx="3959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数周至数月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02920" y="5248656"/>
            <a:ext cx="108173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524865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人员要求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703320" y="524865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全员参与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360920" y="5248656"/>
            <a:ext cx="3959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黑带/绿带认证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02920" y="57150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何时使用 DMAIC？  数据量大 + 根因不明确 + 需要严谨验证    何时使用 A3？  问题简单 + 团队共识 + 快速对策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02920" y="6080760"/>
            <a:ext cx="11183112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6080760"/>
            <a:ext cx="11183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冷镦机 OEE 提升：D(OEE&lt;60%) -&gt; M(数据采集30天) -&gt; A(停机分析找TOP5) -&gt; I(快速换模+预防保养) -&gt; C(SPC监控稳定&gt;85%)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VA/VE 价值分析/价值工程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 Analysis &amp; Value Engineering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| 问题解决方法 | VA/VE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5 · 价值分析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" y="1664208"/>
            <a:ext cx="5303520" cy="141732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27632"/>
            <a:ext cx="5303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27632"/>
            <a:ext cx="53035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7007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VA/VE 核心概念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 = Function / Cost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2677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VA: 量产产品的价值提升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VE: 设计阶段的成本优化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6334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目标：以最低成本实现必要功能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信息收集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611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功能规格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成本数据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客户需求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14016" y="3593592"/>
            <a:ext cx="91440" cy="25603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42032" y="32461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42032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功能分析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87752" y="3611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基本功能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辅助功能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功能评价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498848" y="3593592"/>
            <a:ext cx="91440" cy="25603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26864" y="32461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6864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创意构想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72584" y="3611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头脑风暴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替代方案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材料替换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83680" y="3593592"/>
            <a:ext cx="91440" cy="25603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11696" y="32461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11696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方案评估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57416" y="3611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成本对比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风险评估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668512" y="3593592"/>
            <a:ext cx="91440" cy="25603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96528" y="32461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96528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实施验证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842248" y="3611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试做验证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效果确认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4389120"/>
            <a:ext cx="11274552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389120"/>
            <a:ext cx="11274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成本-价值比分析矩阵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20" y="4846320"/>
            <a:ext cx="5029200" cy="1234440"/>
          </a:xfrm>
          <a:prstGeom prst="rect">
            <a:avLst/>
          </a:prstGeom>
          <a:solidFill>
            <a:srgbClr val="FEE2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50749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高成本低价值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重点改善对象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35040" y="4846320"/>
            <a:ext cx="5029200" cy="123444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50749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高成本低价值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功能再设计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1520" y="6309360"/>
            <a:ext cx="5029200" cy="123444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653796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低成本高价值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保持优势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35040" y="6309360"/>
            <a:ext cx="5029200" cy="1234440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35040" y="653796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高成本高价值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维持投入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06440" y="53263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低成本高价值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611112" y="4654296"/>
            <a:ext cx="5148072" cy="187452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83680" y="4617720"/>
            <a:ext cx="514807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83680" y="4617720"/>
            <a:ext cx="514807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20840" y="4690872"/>
            <a:ext cx="4873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螺栓材料替代 VA/VE 实例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720840" y="4983480"/>
            <a:ext cx="4873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Q: 304不锈钢螺栓能否替换？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720840" y="5193792"/>
            <a:ext cx="4873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分析：功能需求：防锈+强度 400MPa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720840" y="5404104"/>
            <a:ext cx="4873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方案：冷拉碳钢+达克罗涂层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720840" y="5614416"/>
            <a:ext cx="4873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效果：材料成本降低 35%（304: 18元/kg vs 碳钢: 6元/kg）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720840" y="5824728"/>
            <a:ext cx="4873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验证：盐雾试验 &gt;500h，抗拉 &gt;500MPa OK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720840" y="6190488"/>
            <a:ext cx="4873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 down 35% | Function equally met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57200" y="60807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063240" y="7589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方法选择指南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Which Method to Use When?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| 问题解决方法 | 方法选择指南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决策矩阵 · 对症下药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1828800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916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场景/维度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78408" y="1691640"/>
            <a:ext cx="2066544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1691640"/>
            <a:ext cx="2066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报告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44952" y="1691640"/>
            <a:ext cx="2066544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4952" y="1691640"/>
            <a:ext cx="2066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DMAIC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11496" y="1691640"/>
            <a:ext cx="2066544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11496" y="1691640"/>
            <a:ext cx="2066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78040" y="1691640"/>
            <a:ext cx="206654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1691640"/>
            <a:ext cx="2066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VA/VE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44584" y="1691640"/>
            <a:ext cx="2066544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44584" y="1691640"/>
            <a:ext cx="2066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Gemba Walk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09397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0939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问题复杂度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8408" y="2093976"/>
            <a:ext cx="206654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" y="2093976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简单/中等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044952" y="2093976"/>
            <a:ext cx="206654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44952" y="2093976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复杂/多变量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11496" y="2093976"/>
            <a:ext cx="206654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11496" y="2093976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中等迭代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78040" y="2093976"/>
            <a:ext cx="206654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8040" y="2093976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中等/成本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244584" y="2093976"/>
            <a:ext cx="206654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44584" y="2093976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日常/现场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2423160"/>
            <a:ext cx="182880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4231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数据需求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78408" y="2423160"/>
            <a:ext cx="206654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8408" y="2423160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44952" y="2423160"/>
            <a:ext cx="206654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44952" y="2423160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111496" y="2423160"/>
            <a:ext cx="206654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11496" y="2423160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低-中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178040" y="2423160"/>
            <a:ext cx="206654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78040" y="2423160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244584" y="2423160"/>
            <a:ext cx="206654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44584" y="2423160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275234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27523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解决周期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78408" y="2752344"/>
            <a:ext cx="206654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8408" y="2752344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周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044952" y="2752344"/>
            <a:ext cx="206654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44952" y="2752344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 月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111496" y="2752344"/>
            <a:ext cx="206654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11496" y="2752344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2-4 周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178040" y="2752344"/>
            <a:ext cx="206654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78040" y="2752344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2-4 周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244584" y="2752344"/>
            <a:ext cx="206654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44584" y="2752344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3081528"/>
            <a:ext cx="182880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30815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团队规模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978408" y="3081528"/>
            <a:ext cx="206654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78408" y="3081528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 人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044952" y="3081528"/>
            <a:ext cx="206654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044952" y="3081528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3-6 人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111496" y="3081528"/>
            <a:ext cx="206654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11496" y="3081528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2-5 人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178040" y="3081528"/>
            <a:ext cx="206654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78040" y="3081528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 人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244584" y="3081528"/>
            <a:ext cx="206654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244584" y="3081528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人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57200" y="3410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341071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978408" y="3410712"/>
            <a:ext cx="206654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78408" y="3410712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攻牙缺陷率上升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044952" y="3410712"/>
            <a:ext cx="206654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044952" y="3410712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冷镦机 OEE 降低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111496" y="3410712"/>
            <a:ext cx="206654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11496" y="3410712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包装效率改善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178040" y="3410712"/>
            <a:ext cx="206654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178040" y="3410712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螺栓材料降本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9244584" y="3410712"/>
            <a:ext cx="206654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244584" y="3410712"/>
            <a:ext cx="2066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日常巡检改善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57200" y="3931920"/>
            <a:ext cx="2286000" cy="1097280"/>
          </a:xfrm>
          <a:prstGeom prst="diamond">
            <a:avLst/>
          </a:prstGeom>
          <a:solidFill>
            <a:srgbClr val="EEF2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57200" y="39319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问题发生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to Gemba!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2926080" y="40233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926080" y="40233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简单问题？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A3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303520" y="40233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303520" y="40233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数据密集？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DMAIC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7680960" y="40233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680960" y="40233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持续改善？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PDCA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10058400" y="40233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058400" y="40233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成本降低？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VA/VE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457200" y="52120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 -&gt; Gemba Walk 持续观察 | 方法不是排斥的，可以组合使用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457200" y="55321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组合推荐：Gemba(发现) -&gt; A3(整理) -&gt; PDCA(执行) + DMAIC(分析)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综合案例：多方法组合实战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End-to-End Problem Solving in Fastener Manufacturing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| 问题解决方法 | 综合案例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组合应用 · 端到端实战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" y="1664208"/>
            <a:ext cx="11274552" cy="82296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27632"/>
            <a:ext cx="112745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27632"/>
            <a:ext cx="11274552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700784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案例背景：M12 高强螺栓的螺纹缺陷率从 1.2% 突增至 5.8%，客户投诉 3 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039112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挑战：根因不明 | 紧急恢复产能 | 防止复发 | 涉及冷镦-攻牙-热处理三道工序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706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Gemba Walk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现场走动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发现问题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30352" y="3474720"/>
            <a:ext cx="18196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冷镦车间首件检查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发现螺纹烂牙频次增加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操作员反馈丝锥磨损快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441448" y="3319272"/>
            <a:ext cx="301752" cy="25603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269748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27706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报告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结构整理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43200" y="329184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定义问题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816352" y="3474720"/>
            <a:ext cx="18196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缺陷率趋势图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划定攻牙工序为瓶颈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设定目标: &lt;1.5%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27448" y="3319272"/>
            <a:ext cx="301752" cy="25603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269748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7706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PDCA循环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小步迭代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0" y="329184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快速试跑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102352" y="3474720"/>
            <a:ext cx="18196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调整攻牙速度/频率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统计改善后数据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验证丝锥更换周期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013448" y="3319272"/>
            <a:ext cx="301752" cy="25603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269748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27706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DMAIC分析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数据深挖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0" y="329184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根因确认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388352" y="3474720"/>
            <a:ext cx="18196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DOE 三因子实验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确认温度为主因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优化切削参数组合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9299448" y="3319272"/>
            <a:ext cx="301752" cy="25603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01200" y="2697480"/>
            <a:ext cx="1965960" cy="1508760"/>
          </a:xfrm>
          <a:prstGeom prst="roundRect">
            <a:avLst>
              <a:gd name="adj" fmla="val 606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0" y="27706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5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成果验证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601200" y="329184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9674352" y="3474720"/>
            <a:ext cx="18196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缺陷率降至 0.8%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更新作业标准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横向展开至全品类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" y="4389120"/>
            <a:ext cx="11274552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389120"/>
            <a:ext cx="11274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改善成果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7200" y="489204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50017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5.8% -&gt; 0.8%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457200" y="5486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缺陷率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91840" y="489204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0" y="50017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3起 -&gt; 0起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3291840" y="5486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客户投诉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26480" y="489204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50017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5种方法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6126480" y="5486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组合使用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961120" y="489204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61120" y="50017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85%+</a:t>
            </a:r>
            <a:endParaRPr lang="en-US" sz="2800" dirty="0"/>
          </a:p>
        </p:txBody>
      </p:sp>
      <p:sp>
        <p:nvSpPr>
          <p:cNvPr id="52" name="Text 50"/>
          <p:cNvSpPr/>
          <p:nvPr/>
        </p:nvSpPr>
        <p:spPr>
          <a:xfrm>
            <a:off x="8961120" y="5486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标准化覆盖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6080760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608076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Gemba 让管理者亲眼看到现场问题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834640" y="6080760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34640" y="608076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帮助团队系统化思考和沟通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212080" y="6080760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2080" y="608076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 小步快跑快速验证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589520" y="6080760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89520" y="608076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DMAIC 数据驱动精确根因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9966960" y="6080760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966960" y="608076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多方法组合威力远大于单一方法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问题解决方法 5 Problem-Solving Methods</dc:title>
  <dc:subject>PptxGenJS Presentation</dc:subject>
  <dc:creator>精益工具知识库</dc:creator>
  <cp:lastModifiedBy>精益工具知识库</cp:lastModifiedBy>
  <cp:revision>1</cp:revision>
  <dcterms:created xsi:type="dcterms:W3CDTF">2026-05-17T12:42:53Z</dcterms:created>
  <dcterms:modified xsi:type="dcterms:W3CDTF">2026-05-17T12:42:53Z</dcterms:modified>
</cp:coreProperties>
</file>