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1097280"/>
            <a:ext cx="2560320" cy="2560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0" y="2926080"/>
            <a:ext cx="1828800" cy="1828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0" y="4754880"/>
            <a:ext cx="2011680" cy="2011680"/>
          </a:xfrm>
          <a:prstGeom prst="hexag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972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精益工具知识库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金属紧固件制造企业精益转型核心指南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297180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35808"/>
            <a:ext cx="13716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461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打造适合紧固件行业的精益知识体系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1371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389120"/>
            <a:ext cx="1371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4805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13+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" y="5029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核心精益工具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38528" y="4389120"/>
            <a:ext cx="1371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38528" y="4389120"/>
            <a:ext cx="1371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38528" y="44805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938528" y="5029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问题解决方法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19856" y="4389120"/>
            <a:ext cx="1371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19856" y="4389120"/>
            <a:ext cx="1371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9856" y="44805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419856" y="5029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深度专题研究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01184" y="4389120"/>
            <a:ext cx="1371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01184" y="4389120"/>
            <a:ext cx="13716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1184" y="44805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901184" y="5029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转型失败率*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080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精益转型失败率高达 70%，根本原因在于变革管理而非工具技术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12188952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知识库目录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93776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93192" y="1170432"/>
            <a:ext cx="5303520" cy="1051560"/>
          </a:xfrm>
          <a:prstGeom prst="rect">
            <a:avLst>
              <a:gd name="adj" fmla="val 695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43000"/>
            <a:ext cx="530352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43000"/>
            <a:ext cx="109728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52728"/>
            <a:ext cx="109728" cy="8321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2527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精益基础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16459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精益哲学 . 八大浪费 . TPS体系 . 术语表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21808" y="157734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28232" y="1170432"/>
            <a:ext cx="5303520" cy="1051560"/>
          </a:xfrm>
          <a:prstGeom prst="rect">
            <a:avLst>
              <a:gd name="adj" fmla="val 695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143000"/>
            <a:ext cx="530352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143000"/>
            <a:ext cx="109728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252728"/>
            <a:ext cx="109728" cy="8321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2527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核心工具（13+）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16459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看板 . VSM . 安灯 . 标准作业 . TPM . 5S 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356848" y="1577340"/>
            <a:ext cx="182880" cy="1828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3192" y="2587752"/>
            <a:ext cx="5303520" cy="1051560"/>
          </a:xfrm>
          <a:prstGeom prst="rect">
            <a:avLst>
              <a:gd name="adj" fmla="val 695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560320"/>
            <a:ext cx="530352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560320"/>
            <a:ext cx="10972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670048"/>
            <a:ext cx="109728" cy="8321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67004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问题解决方法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" y="3063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Gemba Walk . A3 . PDCA . DMAIC . VA/VE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21808" y="299466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28232" y="2587752"/>
            <a:ext cx="5303520" cy="1051560"/>
          </a:xfrm>
          <a:prstGeom prst="rect">
            <a:avLst>
              <a:gd name="adj" fmla="val 695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2560320"/>
            <a:ext cx="530352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2560320"/>
            <a:ext cx="109728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2670048"/>
            <a:ext cx="109728" cy="8321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267004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紧固件行业应用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75120" y="3063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冷镦 . 搓丝 . 热处理 . 表面处理 . 包装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1356848" y="2994660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3192" y="4005072"/>
            <a:ext cx="5303520" cy="1051560"/>
          </a:xfrm>
          <a:prstGeom prst="rect">
            <a:avLst>
              <a:gd name="adj" fmla="val 695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977640"/>
            <a:ext cx="530352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977640"/>
            <a:ext cx="109728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4087368"/>
            <a:ext cx="109728" cy="8321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08736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实践案例集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0080" y="44805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SMED改善案例 . 改善提案模板 . 实施指南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321808" y="4411980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28232" y="4005072"/>
            <a:ext cx="5303520" cy="1051560"/>
          </a:xfrm>
          <a:prstGeom prst="rect">
            <a:avLst>
              <a:gd name="adj" fmla="val 695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0" y="3977640"/>
            <a:ext cx="530352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0" y="3977640"/>
            <a:ext cx="109728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4087368"/>
            <a:ext cx="109728" cy="8321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0" y="408736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深度专题研究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675120" y="44805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变革管理 . VSM高级实战 . 质量标准整合 . 精益数字化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1356848" y="441198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 6 大模块 | 13+ 核心工具 | 覆盖紧固件制造全流程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12188952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精益哲学与原则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93776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Philosophy &amp; Principles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508760"/>
            <a:ext cx="1097280" cy="10972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216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5087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2057400" y="2039112"/>
            <a:ext cx="10515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35808" y="1965960"/>
            <a:ext cx="118872" cy="182880"/>
          </a:xfrm>
          <a:prstGeom prst="rtTriangl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974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价值 (Value)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9535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从客户角度定义价值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54680" y="1508760"/>
            <a:ext cx="1097280" cy="10972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216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54680" y="15087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297680" y="2039112"/>
            <a:ext cx="10515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76088" y="1965960"/>
            <a:ext cx="118872" cy="182880"/>
          </a:xfrm>
          <a:prstGeom prst="rtTriangl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26974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价值流 (Value Stream)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71800" y="29535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识别价值创造流程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94960" y="1508760"/>
            <a:ext cx="1097280" cy="10972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1216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15087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6537960" y="2039112"/>
            <a:ext cx="10515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16368" y="1965960"/>
            <a:ext cx="118872" cy="182880"/>
          </a:xfrm>
          <a:prstGeom prst="rtTriangl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26974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流动 (Flow)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12080" y="29535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让价值持续流动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635240" y="1508760"/>
            <a:ext cx="1097280" cy="10972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1216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35240" y="15087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en-US" sz="3200" dirty="0"/>
          </a:p>
        </p:txBody>
      </p:sp>
      <p:sp>
        <p:nvSpPr>
          <p:cNvPr id="31" name="Shape 29"/>
          <p:cNvSpPr/>
          <p:nvPr/>
        </p:nvSpPr>
        <p:spPr>
          <a:xfrm>
            <a:off x="8778240" y="2039112"/>
            <a:ext cx="10515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56648" y="1965960"/>
            <a:ext cx="118872" cy="182880"/>
          </a:xfrm>
          <a:prstGeom prst="rtTriangl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26974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拉动 (Pull)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52360" y="29535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按需拉动生产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875520" y="1508760"/>
            <a:ext cx="1097280" cy="10972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0" y="1216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875520" y="15087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9738360" y="26974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尽善尽美 (Perfection)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692640" y="29535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追求持续改善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3246120"/>
            <a:ext cx="11274552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3474720"/>
            <a:ext cx="11457432" cy="2011680"/>
          </a:xfrm>
          <a:prstGeom prst="roundRect">
            <a:avLst>
              <a:gd name="adj" fmla="val 4545"/>
            </a:avLst>
          </a:prstGeom>
          <a:solidFill>
            <a:srgbClr val="EBF4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3520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精益核心理念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097280" y="3977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消除浪费 (Muda)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8640" y="4526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识别并消除七大浪费，释放隐藏产能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474720" y="397764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023360" y="3977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持续改善 (Kaizen)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474720" y="4526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从小做起，全员参与，持续优化流程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00800" y="39776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949440" y="3977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尊重人格 (Respect)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400800" y="4526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激发员工潜能，培养问题解决的专家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326880" y="39776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3268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9875520" y="3977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现地现物 (Genchi)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9326880" y="4526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深入现场，用事实说话，数据驱动决策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TPS 两大支柱：准时化 (JIT) 与 自働化 (Jidoka)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12188952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八大浪费识别指南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93776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Wastes (Muda) Identification Guide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5303520" cy="1143000"/>
          </a:xfrm>
          <a:prstGeom prst="rect">
            <a:avLst>
              <a:gd name="adj" fmla="val 48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97280"/>
            <a:ext cx="91440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188720"/>
            <a:ext cx="91440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15214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过量生产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4447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Overproduction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6824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生产超出客户需求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80360" y="1261872"/>
            <a:ext cx="2286000" cy="182880"/>
          </a:xfrm>
          <a:prstGeom prst="rect">
            <a:avLst>
              <a:gd name="adj" fmla="val 2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0360" y="1261872"/>
            <a:ext cx="2286000" cy="182880"/>
          </a:xfrm>
          <a:prstGeom prst="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117043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92040" y="1234440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2344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严重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37960" y="1097280"/>
            <a:ext cx="5303520" cy="1143000"/>
          </a:xfrm>
          <a:prstGeom prst="rect">
            <a:avLst>
              <a:gd name="adj" fmla="val 48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1097280"/>
            <a:ext cx="91440" cy="1143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1188720"/>
            <a:ext cx="91440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15214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等待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14447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0" y="16824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人员/设备闲置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98280" y="1261872"/>
            <a:ext cx="2286000" cy="182880"/>
          </a:xfrm>
          <a:prstGeom prst="rect">
            <a:avLst>
              <a:gd name="adj" fmla="val 2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98280" y="1261872"/>
            <a:ext cx="1306286" cy="182880"/>
          </a:xfrm>
          <a:prstGeom prst="rect">
            <a:avLst>
              <a:gd name="adj" fmla="val 2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75720" y="117043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1109960" y="1234440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09960" y="12344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严重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2377440"/>
            <a:ext cx="5303520" cy="1143000"/>
          </a:xfrm>
          <a:prstGeom prst="rect">
            <a:avLst>
              <a:gd name="adj" fmla="val 48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2377440"/>
            <a:ext cx="91440" cy="114300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2468880"/>
            <a:ext cx="91440" cy="96012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243230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库存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" y="27249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29626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过多原材料/在制品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80360" y="2542032"/>
            <a:ext cx="2286000" cy="182880"/>
          </a:xfrm>
          <a:prstGeom prst="rect">
            <a:avLst>
              <a:gd name="adj" fmla="val 2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80360" y="2542032"/>
            <a:ext cx="979714" cy="182880"/>
          </a:xfrm>
          <a:prstGeom prst="rect">
            <a:avLst>
              <a:gd name="adj" fmla="val 20000"/>
            </a:avLst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7800" y="245059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8A0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892040" y="2514600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5146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37960" y="2377440"/>
            <a:ext cx="5303520" cy="1143000"/>
          </a:xfrm>
          <a:prstGeom prst="rect">
            <a:avLst>
              <a:gd name="adj" fmla="val 48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37960" y="2377440"/>
            <a:ext cx="91440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37960" y="2468880"/>
            <a:ext cx="914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243230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搬运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766560" y="27249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766560" y="29626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不必要的物料移动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098280" y="2542032"/>
            <a:ext cx="2286000" cy="182880"/>
          </a:xfrm>
          <a:prstGeom prst="rect">
            <a:avLst>
              <a:gd name="adj" fmla="val 2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98280" y="2542032"/>
            <a:ext cx="653143" cy="182880"/>
          </a:xfrm>
          <a:prstGeom prst="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475720" y="245059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11109960" y="2514600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109960" y="25146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中等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0040" y="3657600"/>
            <a:ext cx="5303520" cy="1143000"/>
          </a:xfrm>
          <a:prstGeom prst="rect">
            <a:avLst>
              <a:gd name="adj" fmla="val 48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0040" y="3657600"/>
            <a:ext cx="91440" cy="11430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0040" y="3749040"/>
            <a:ext cx="91440" cy="9601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371246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过度加工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48640" y="40050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Over-processing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48640" y="42428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超出客户要求的加工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880360" y="3822192"/>
            <a:ext cx="2286000" cy="182880"/>
          </a:xfrm>
          <a:prstGeom prst="rect">
            <a:avLst>
              <a:gd name="adj" fmla="val 2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880360" y="3822192"/>
            <a:ext cx="522514" cy="182880"/>
          </a:xfrm>
          <a:prstGeom prst="rect">
            <a:avLst>
              <a:gd name="adj" fmla="val 20000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57800" y="373075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B3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8%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4892040" y="3794760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92040" y="37947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中等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537960" y="3657600"/>
            <a:ext cx="5303520" cy="1143000"/>
          </a:xfrm>
          <a:prstGeom prst="rect">
            <a:avLst>
              <a:gd name="adj" fmla="val 48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537960" y="3657600"/>
            <a:ext cx="9144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537960" y="3749040"/>
            <a:ext cx="9144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66560" y="371246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动作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6766560" y="40050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766560" y="42428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不必要的人员动作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9098280" y="3822192"/>
            <a:ext cx="2286000" cy="182880"/>
          </a:xfrm>
          <a:prstGeom prst="rect">
            <a:avLst>
              <a:gd name="adj" fmla="val 2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098280" y="3822192"/>
            <a:ext cx="326571" cy="182880"/>
          </a:xfrm>
          <a:prstGeom prst="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475720" y="373075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11109960" y="3794760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1109960" y="37947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一般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20040" y="4937760"/>
            <a:ext cx="5303520" cy="1143000"/>
          </a:xfrm>
          <a:prstGeom prst="rect">
            <a:avLst>
              <a:gd name="adj" fmla="val 48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20040" y="4937760"/>
            <a:ext cx="91440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20040" y="5029200"/>
            <a:ext cx="9144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8640" y="499262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不良品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548640" y="52852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48640" y="55229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返工/废品/重复检验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2880360" y="5102352"/>
            <a:ext cx="2286000" cy="182880"/>
          </a:xfrm>
          <a:prstGeom prst="rect">
            <a:avLst>
              <a:gd name="adj" fmla="val 2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80360" y="5102352"/>
            <a:ext cx="326571" cy="182880"/>
          </a:xfrm>
          <a:prstGeom prst="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257800" y="501091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4892040" y="5074920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92040" y="50749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一般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537960" y="4937760"/>
            <a:ext cx="5303520" cy="1143000"/>
          </a:xfrm>
          <a:prstGeom prst="rect">
            <a:avLst>
              <a:gd name="adj" fmla="val 48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537960" y="4937760"/>
            <a:ext cx="91440" cy="11430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537960" y="5029200"/>
            <a:ext cx="91440" cy="9601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766560" y="499262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未利用人才</a:t>
            </a:r>
            <a:endParaRPr lang="en-US" sz="1400" dirty="0"/>
          </a:p>
        </p:txBody>
      </p:sp>
      <p:sp>
        <p:nvSpPr>
          <p:cNvPr id="88" name="Text 86"/>
          <p:cNvSpPr/>
          <p:nvPr/>
        </p:nvSpPr>
        <p:spPr>
          <a:xfrm>
            <a:off x="6766560" y="52852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Unused Talent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6766560" y="55229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员工智慧和经验未挖掘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9098280" y="5102352"/>
            <a:ext cx="2286000" cy="182880"/>
          </a:xfrm>
          <a:prstGeom prst="rect">
            <a:avLst>
              <a:gd name="adj" fmla="val 2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098280" y="5102352"/>
            <a:ext cx="130629" cy="182880"/>
          </a:xfrm>
          <a:prstGeom prst="rect">
            <a:avLst>
              <a:gd name="adj" fmla="val 28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1475720" y="501091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2%</a:t>
            </a:r>
            <a:endParaRPr lang="en-US" sz="1400" dirty="0"/>
          </a:p>
        </p:txBody>
      </p:sp>
      <p:sp>
        <p:nvSpPr>
          <p:cNvPr id="93" name="Shape 91"/>
          <p:cNvSpPr/>
          <p:nvPr/>
        </p:nvSpPr>
        <p:spPr>
          <a:xfrm>
            <a:off x="11109960" y="5074920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1109960" y="50749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一般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紧固件行业重点关注：过量生产、库存积压、搬运频繁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12188952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13+核心精益工具全景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93776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13+ Core Lean Tools Overview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2743200" cy="132588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43000"/>
            <a:ext cx="2743200" cy="228600"/>
          </a:xfrm>
          <a:prstGeom prst="rect">
            <a:avLst>
              <a:gd name="adj" fmla="val 24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280160"/>
            <a:ext cx="2743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43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拉动系统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" y="1463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看板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" y="1801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2359152"/>
            <a:ext cx="21945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143000"/>
            <a:ext cx="2743200" cy="132588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143000"/>
            <a:ext cx="2743200" cy="228600"/>
          </a:xfrm>
          <a:prstGeom prst="rect">
            <a:avLst>
              <a:gd name="adj" fmla="val 2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280160"/>
            <a:ext cx="274320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143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分析工具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00400" y="1463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1801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Stream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0" y="2359152"/>
            <a:ext cx="219456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1143000"/>
            <a:ext cx="2743200" cy="132588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1143000"/>
            <a:ext cx="2743200" cy="228600"/>
          </a:xfrm>
          <a:prstGeom prst="rect">
            <a:avLst>
              <a:gd name="adj" fmla="val 24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1280160"/>
            <a:ext cx="274320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1143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现场管理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80760" y="1463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安灯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80760" y="1801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55080" y="2359152"/>
            <a:ext cx="219456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61120" y="1143000"/>
            <a:ext cx="2743200" cy="132588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0" y="1143000"/>
            <a:ext cx="2743200" cy="228600"/>
          </a:xfrm>
          <a:prstGeom prst="rect">
            <a:avLst>
              <a:gd name="adj" fmla="val 24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1280160"/>
            <a:ext cx="27432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0" y="1143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961120" y="1463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标准作业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61120" y="1801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Work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235440" y="2359152"/>
            <a:ext cx="219456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2578608"/>
            <a:ext cx="2743200" cy="132588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2578608"/>
            <a:ext cx="2743200" cy="228600"/>
          </a:xfrm>
          <a:prstGeom prst="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2715768"/>
            <a:ext cx="27432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2578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设备管理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20040" y="28986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TPM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20040" y="32369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4360" y="3794760"/>
            <a:ext cx="21945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0" y="2578608"/>
            <a:ext cx="2743200" cy="132588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0" y="2578608"/>
            <a:ext cx="2743200" cy="228600"/>
          </a:xfrm>
          <a:prstGeom prst="rect">
            <a:avLst>
              <a:gd name="adj" fmla="val 24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2715768"/>
            <a:ext cx="27432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0" y="2578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现场管理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200400" y="28986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200400" y="32369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474720" y="3794760"/>
            <a:ext cx="219456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80760" y="2578608"/>
            <a:ext cx="2743200" cy="132588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80760" y="2578608"/>
            <a:ext cx="2743200" cy="228600"/>
          </a:xfrm>
          <a:prstGeom prst="rect">
            <a:avLst>
              <a:gd name="adj" fmla="val 24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80760" y="2715768"/>
            <a:ext cx="2743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80760" y="2578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持续改进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080760" y="28986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改善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080760" y="32369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Kaizen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355080" y="3794760"/>
            <a:ext cx="21945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961120" y="2578608"/>
            <a:ext cx="2743200" cy="132588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961120" y="2578608"/>
            <a:ext cx="2743200" cy="228600"/>
          </a:xfrm>
          <a:prstGeom prst="rect">
            <a:avLst>
              <a:gd name="adj" fmla="val 2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961120" y="2715768"/>
            <a:ext cx="274320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61120" y="2578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生产均衡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961120" y="28986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平准化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8961120" y="32369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Heijunka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235440" y="3794760"/>
            <a:ext cx="219456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0040" y="4014216"/>
            <a:ext cx="2743200" cy="132588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0040" y="4014216"/>
            <a:ext cx="2743200" cy="228600"/>
          </a:xfrm>
          <a:prstGeom prst="rect">
            <a:avLst>
              <a:gd name="adj" fmla="val 24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0040" y="4151376"/>
            <a:ext cx="274320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401421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质量保障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20040" y="433425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防错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320040" y="46725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Poka-Yoke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94360" y="5230368"/>
            <a:ext cx="219456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200400" y="4014216"/>
            <a:ext cx="2743200" cy="132588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200400" y="4014216"/>
            <a:ext cx="2743200" cy="228600"/>
          </a:xfrm>
          <a:prstGeom prst="rect">
            <a:avLst>
              <a:gd name="adj" fmla="val 24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00400" y="4151376"/>
            <a:ext cx="27432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00400" y="401421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快速换模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3200400" y="433425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SMED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3200400" y="46725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SMED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474720" y="5230368"/>
            <a:ext cx="219456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80760" y="4014216"/>
            <a:ext cx="2743200" cy="132588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80760" y="4014216"/>
            <a:ext cx="2743200" cy="228600"/>
          </a:xfrm>
          <a:prstGeom prst="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080760" y="4151376"/>
            <a:ext cx="27432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080760" y="401421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6080760" y="433425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自働化</a:t>
            </a:r>
            <a:endParaRPr lang="en-US" sz="1400" dirty="0"/>
          </a:p>
        </p:txBody>
      </p:sp>
      <p:sp>
        <p:nvSpPr>
          <p:cNvPr id="82" name="Text 80"/>
          <p:cNvSpPr/>
          <p:nvPr/>
        </p:nvSpPr>
        <p:spPr>
          <a:xfrm>
            <a:off x="6080760" y="46725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Jidoka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355080" y="5230368"/>
            <a:ext cx="21945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961120" y="4014216"/>
            <a:ext cx="2743200" cy="132588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961120" y="4014216"/>
            <a:ext cx="2743200" cy="228600"/>
          </a:xfrm>
          <a:prstGeom prst="rect">
            <a:avLst>
              <a:gd name="adj" fmla="val 24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961120" y="4151376"/>
            <a:ext cx="27432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961120" y="401421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准时生产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8961120" y="433425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JIT</a:t>
            </a:r>
            <a:endParaRPr lang="en-US" sz="1400" dirty="0"/>
          </a:p>
        </p:txBody>
      </p:sp>
      <p:sp>
        <p:nvSpPr>
          <p:cNvPr id="89" name="Text 87"/>
          <p:cNvSpPr/>
          <p:nvPr/>
        </p:nvSpPr>
        <p:spPr>
          <a:xfrm>
            <a:off x="8961120" y="46725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JIT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9235440" y="5230368"/>
            <a:ext cx="219456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20040" y="5449824"/>
            <a:ext cx="2743200" cy="132588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20040" y="5449824"/>
            <a:ext cx="2743200" cy="228600"/>
          </a:xfrm>
          <a:prstGeom prst="rect">
            <a:avLst>
              <a:gd name="adj" fmla="val 24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20040" y="5586984"/>
            <a:ext cx="274320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20040" y="544982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现场管理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320040" y="576986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可视化管理</a:t>
            </a:r>
            <a:endParaRPr lang="en-US" sz="1400" dirty="0"/>
          </a:p>
        </p:txBody>
      </p:sp>
      <p:sp>
        <p:nvSpPr>
          <p:cNvPr id="96" name="Text 94"/>
          <p:cNvSpPr/>
          <p:nvPr/>
        </p:nvSpPr>
        <p:spPr>
          <a:xfrm>
            <a:off x="320040" y="61081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Mgmt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594360" y="6665976"/>
            <a:ext cx="219456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961120" y="5449824"/>
            <a:ext cx="2743200" cy="1325880"/>
          </a:xfrm>
          <a:prstGeom prst="rect">
            <a:avLst>
              <a:gd name="adj" fmla="val 4138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961120" y="57241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更多工具</a:t>
            </a:r>
            <a:endParaRPr lang="en-US" sz="1400" dirty="0"/>
          </a:p>
        </p:txBody>
      </p:sp>
      <p:sp>
        <p:nvSpPr>
          <p:cNvPr id="100" name="Text 98"/>
          <p:cNvSpPr/>
          <p:nvPr/>
        </p:nvSpPr>
        <p:spPr>
          <a:xfrm>
            <a:off x="8961120" y="60441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持续更新中...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大核心工具 | 覆盖生产、质量、设备、物流全领域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12188952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工具选择决策树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93776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Selection Decision Tree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5788152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097280"/>
            <a:ext cx="5788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您面临的主要问题是什么？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0" y="1920240"/>
            <a:ext cx="54864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06440" y="2148840"/>
            <a:ext cx="320040" cy="274320"/>
          </a:xfrm>
          <a:prstGeom prst="downArrow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81912" y="2377440"/>
            <a:ext cx="36576" cy="137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51460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420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质量问题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" y="28529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Issues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99432" y="2377440"/>
            <a:ext cx="36576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251460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5420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效率问题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28529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Issues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16952" y="2377440"/>
            <a:ext cx="36576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251460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5420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库存问题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28529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Issues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634472" y="2377440"/>
            <a:ext cx="36576" cy="137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72600" y="251460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72600" y="25420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现场管理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72600" y="28529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Floor Mgmt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581912" y="3291840"/>
            <a:ext cx="36576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47472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547872"/>
            <a:ext cx="54864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34747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防错 Poka-Yoke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041648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114800"/>
            <a:ext cx="54864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" y="404164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报告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608576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4681728"/>
            <a:ext cx="54864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" y="46085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标准作业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99432" y="3291840"/>
            <a:ext cx="36576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37560" y="347472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37560" y="3547872"/>
            <a:ext cx="54864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47288" y="34747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37560" y="4041648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37560" y="4114800"/>
            <a:ext cx="54864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47288" y="404164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337560" y="4608576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37560" y="4681728"/>
            <a:ext cx="54864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47288" y="46085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616952" y="3291840"/>
            <a:ext cx="36576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55080" y="347472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55080" y="3547872"/>
            <a:ext cx="54864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64808" y="34747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看板 Kanban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55080" y="4041648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55080" y="4114800"/>
            <a:ext cx="54864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64808" y="404164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55080" y="4608576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55080" y="4681728"/>
            <a:ext cx="54864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64808" y="46085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平准化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0634472" y="3291840"/>
            <a:ext cx="36576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372600" y="347472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372600" y="3547872"/>
            <a:ext cx="54864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482328" y="34747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372600" y="4041648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372600" y="4114800"/>
            <a:ext cx="54864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82328" y="404164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安灯 Andon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372600" y="4608576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4681728"/>
            <a:ext cx="54864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482328" y="46085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可视化管理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57200" y="548640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0080" y="5486400"/>
            <a:ext cx="10908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提示：实际应用中，多种工具往往需要组合使用。建议从 5S 和可视化管理入手，逐步引入其他工具。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根据问题类型选择合适工具 | 组合使用效果更佳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精益工具知识库</dc:title>
  <dc:subject>PptxGenJS Presentation</dc:subject>
  <dc:creator>精益工具知识库</dc:creator>
  <cp:lastModifiedBy>精益工具知识库</cp:lastModifiedBy>
  <cp:revision>1</cp:revision>
  <dcterms:created xsi:type="dcterms:W3CDTF">2026-05-17T11:32:34Z</dcterms:created>
  <dcterms:modified xsi:type="dcterms:W3CDTF">2026-05-17T11:32:34Z</dcterms:modified>
</cp:coreProperties>
</file>