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772400" y="0"/>
            <a:ext cx="1371600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0" y="1097280"/>
            <a:ext cx="2560320" cy="2560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0" y="2926080"/>
            <a:ext cx="1828800" cy="1828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503920" y="4754880"/>
            <a:ext cx="2011680" cy="2011680"/>
          </a:xfrm>
          <a:prstGeom prst="hexagon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09728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精益工具知识库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离散制造企业精益转型核心指南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31520" y="2971800"/>
            <a:ext cx="27432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31520" y="3035808"/>
            <a:ext cx="13716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24612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打造适合制造业的精益知识体系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7200" y="4389120"/>
            <a:ext cx="13716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7200" y="448056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13+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57200" y="50292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核心精益工具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938528" y="4389120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938528" y="4389120"/>
            <a:ext cx="13716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938528" y="448056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938528" y="50292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问题解决方法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19856" y="4389120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3419856" y="4389120"/>
            <a:ext cx="13716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419856" y="448056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3419856" y="50292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深度专题研究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901184" y="4389120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901184" y="4389120"/>
            <a:ext cx="13716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901184" y="448056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70%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4901184" y="50292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转型失败率*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080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精益转型失败率高达 70%，根本原因在于变革管理而非工具技术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73152"/>
            <a:ext cx="12188952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09728"/>
            <a:ext cx="11274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知识库目录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493776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93192" y="1170432"/>
            <a:ext cx="5303520" cy="1051560"/>
          </a:xfrm>
          <a:prstGeom prst="rect">
            <a:avLst>
              <a:gd name="adj" fmla="val 6957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65760" y="1143000"/>
            <a:ext cx="5303520" cy="1051560"/>
          </a:xfrm>
          <a:prstGeom prst="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65760" y="1143000"/>
            <a:ext cx="109728" cy="1051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65760" y="1252728"/>
            <a:ext cx="109728" cy="83210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125272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 精益基础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164592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精益哲学 . 八大浪费 . TPS体系 . 术语表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21808" y="1577340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428232" y="1170432"/>
            <a:ext cx="5303520" cy="1051560"/>
          </a:xfrm>
          <a:prstGeom prst="rect">
            <a:avLst>
              <a:gd name="adj" fmla="val 6957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00800" y="1143000"/>
            <a:ext cx="5303520" cy="1051560"/>
          </a:xfrm>
          <a:prstGeom prst="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0" y="1143000"/>
            <a:ext cx="109728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00800" y="1252728"/>
            <a:ext cx="109728" cy="83210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675120" y="125272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 核心工具（13+）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75120" y="164592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看板 . VSM . 安灯 . 标准作业 . TPM . 5S 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1356848" y="1577340"/>
            <a:ext cx="182880" cy="1828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93192" y="2587752"/>
            <a:ext cx="5303520" cy="1051560"/>
          </a:xfrm>
          <a:prstGeom prst="rect">
            <a:avLst>
              <a:gd name="adj" fmla="val 6957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365760" y="2560320"/>
            <a:ext cx="5303520" cy="1051560"/>
          </a:xfrm>
          <a:prstGeom prst="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365760" y="2560320"/>
            <a:ext cx="109728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365760" y="2670048"/>
            <a:ext cx="109728" cy="8321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40080" y="267004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 问题解决方法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0080" y="306324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Gemba Walk . A3 . PDCA . DMAIC . VA/VE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21808" y="299466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428232" y="2587752"/>
            <a:ext cx="5303520" cy="1051560"/>
          </a:xfrm>
          <a:prstGeom prst="rect">
            <a:avLst>
              <a:gd name="adj" fmla="val 6957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400800" y="2560320"/>
            <a:ext cx="5303520" cy="1051560"/>
          </a:xfrm>
          <a:prstGeom prst="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400800" y="2560320"/>
            <a:ext cx="109728" cy="10515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400800" y="2670048"/>
            <a:ext cx="109728" cy="83210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675120" y="267004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制造工序应用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675120" y="306324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机加工 . 精加工 . 热处理 . 表面处理 . 包装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1356848" y="2994660"/>
            <a:ext cx="182880" cy="1828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393192" y="4005072"/>
            <a:ext cx="5303520" cy="1051560"/>
          </a:xfrm>
          <a:prstGeom prst="rect">
            <a:avLst>
              <a:gd name="adj" fmla="val 6957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365760" y="3977640"/>
            <a:ext cx="5303520" cy="1051560"/>
          </a:xfrm>
          <a:prstGeom prst="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365760" y="3977640"/>
            <a:ext cx="109728" cy="10515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365760" y="4087368"/>
            <a:ext cx="109728" cy="83210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40080" y="408736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 实践案例集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40080" y="448056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SMED改善案例 . 改善提案模板 . 实施指南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321808" y="4411980"/>
            <a:ext cx="182880" cy="1828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428232" y="4005072"/>
            <a:ext cx="5303520" cy="1051560"/>
          </a:xfrm>
          <a:prstGeom prst="rect">
            <a:avLst>
              <a:gd name="adj" fmla="val 6957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6400800" y="3977640"/>
            <a:ext cx="5303520" cy="1051560"/>
          </a:xfrm>
          <a:prstGeom prst="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400800" y="3977640"/>
            <a:ext cx="109728" cy="10515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6400800" y="4087368"/>
            <a:ext cx="109728" cy="8321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6675120" y="408736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 深度专题研究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675120" y="448056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变革管理 . VSM高级实战 . 质量标准整合 . 精益数字化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1356848" y="4411980"/>
            <a:ext cx="182880" cy="1828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 6 大模块 | 13+ 核心工具 | 覆盖制造全流程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73152"/>
            <a:ext cx="12188952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09728"/>
            <a:ext cx="11274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精益哲学与原则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493776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Philosophy &amp; Principles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1508760"/>
            <a:ext cx="1097280" cy="109728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280160" y="12161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50876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2057400" y="2039112"/>
            <a:ext cx="10515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035808" y="1965960"/>
            <a:ext cx="118872" cy="182880"/>
          </a:xfrm>
          <a:prstGeom prst="rtTriangl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7240" y="26974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价值 (Value)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29535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从客户角度定义价值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154680" y="1508760"/>
            <a:ext cx="1097280" cy="109728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520440" y="12161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154680" y="150876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297680" y="2039112"/>
            <a:ext cx="10515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276088" y="1965960"/>
            <a:ext cx="118872" cy="182880"/>
          </a:xfrm>
          <a:prstGeom prst="rtTriangl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017520" y="26974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价值流 (Value Stream)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71800" y="29535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识别价值创造流程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94960" y="1508760"/>
            <a:ext cx="1097280" cy="109728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760720" y="12161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94960" y="150876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3200" dirty="0"/>
          </a:p>
        </p:txBody>
      </p:sp>
      <p:sp>
        <p:nvSpPr>
          <p:cNvPr id="24" name="Shape 22"/>
          <p:cNvSpPr/>
          <p:nvPr/>
        </p:nvSpPr>
        <p:spPr>
          <a:xfrm>
            <a:off x="6537960" y="2039112"/>
            <a:ext cx="10515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516368" y="1965960"/>
            <a:ext cx="118872" cy="182880"/>
          </a:xfrm>
          <a:prstGeom prst="rtTriangl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257800" y="26974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流动 (Flow)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212080" y="29535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让价值持续流动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635240" y="1508760"/>
            <a:ext cx="1097280" cy="109728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001000" y="12161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635240" y="150876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</a:t>
            </a:r>
            <a:endParaRPr lang="en-US" sz="3200" dirty="0"/>
          </a:p>
        </p:txBody>
      </p:sp>
      <p:sp>
        <p:nvSpPr>
          <p:cNvPr id="31" name="Shape 29"/>
          <p:cNvSpPr/>
          <p:nvPr/>
        </p:nvSpPr>
        <p:spPr>
          <a:xfrm>
            <a:off x="8778240" y="2039112"/>
            <a:ext cx="10515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9756648" y="1965960"/>
            <a:ext cx="118872" cy="182880"/>
          </a:xfrm>
          <a:prstGeom prst="rtTriangl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498080" y="26974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拉动 (Pull)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452360" y="29535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按需拉动生产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9875520" y="1508760"/>
            <a:ext cx="1097280" cy="109728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241280" y="12161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875520" y="150876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∞</a:t>
            </a:r>
            <a:endParaRPr lang="en-US" sz="3200" dirty="0"/>
          </a:p>
        </p:txBody>
      </p:sp>
      <p:sp>
        <p:nvSpPr>
          <p:cNvPr id="38" name="Text 36"/>
          <p:cNvSpPr/>
          <p:nvPr/>
        </p:nvSpPr>
        <p:spPr>
          <a:xfrm>
            <a:off x="9738360" y="26974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尽善尽美 (Perfection)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92640" y="29535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追求持续改善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57200" y="3246120"/>
            <a:ext cx="11274552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365760" y="3474720"/>
            <a:ext cx="11457432" cy="2011680"/>
          </a:xfrm>
          <a:prstGeom prst="roundRect">
            <a:avLst>
              <a:gd name="adj" fmla="val 4545"/>
            </a:avLst>
          </a:prstGeom>
          <a:solidFill>
            <a:srgbClr val="EBF4FF"/>
          </a:solidFill>
          <a:ln w="6350">
            <a:solidFill>
              <a:srgbClr val="BFDBFE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40080" y="35204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精益核心理念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548640" y="3977640"/>
            <a:ext cx="457200" cy="4572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54864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097280" y="3977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消除浪费 (Muda)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48640" y="45262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识别并消除七大浪费，释放隐藏产能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74720" y="3977640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347472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4023360" y="3977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持续改善 (Kaizen)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3474720" y="45262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从小做起，全员参与，持续优化流程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400800" y="397764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640080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949440" y="3977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尊重人格 (Respect)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400800" y="45262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激发员工潜能，培养问题解决的专家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9326880" y="397764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932688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9875520" y="3977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现地现物 (Genchi)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9326880" y="45262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深入现场，用事实说话，数据驱动决策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TPS 两大支柱：准时化 (JIT) 与 自働化 (Jidoka)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73152"/>
            <a:ext cx="12188952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09728"/>
            <a:ext cx="11274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八大浪费识别指南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493776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Wastes (Muda) Identification Guide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5303520" cy="1143000"/>
          </a:xfrm>
          <a:prstGeom prst="rect">
            <a:avLst>
              <a:gd name="adj" fmla="val 48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20040" y="1097280"/>
            <a:ext cx="91440" cy="11430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0040" y="1188720"/>
            <a:ext cx="91440" cy="9601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48640" y="1152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过量生产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4447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Overproduction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168249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生产超出客户需求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880360" y="1261872"/>
            <a:ext cx="2286000" cy="182880"/>
          </a:xfrm>
          <a:prstGeom prst="rect">
            <a:avLst>
              <a:gd name="adj" fmla="val 2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880360" y="1261872"/>
            <a:ext cx="2286000" cy="182880"/>
          </a:xfrm>
          <a:prstGeom prst="rect">
            <a:avLst>
              <a:gd name="adj" fmla="val 2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57800" y="117043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35%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92040" y="123444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892040" y="12344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严重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537960" y="1097280"/>
            <a:ext cx="5303520" cy="1143000"/>
          </a:xfrm>
          <a:prstGeom prst="rect">
            <a:avLst>
              <a:gd name="adj" fmla="val 48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537960" y="1097280"/>
            <a:ext cx="91440" cy="11430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37960" y="1188720"/>
            <a:ext cx="91440" cy="9601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766560" y="1152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等待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766560" y="14447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766560" y="168249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人员/设备闲置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098280" y="1261872"/>
            <a:ext cx="2286000" cy="182880"/>
          </a:xfrm>
          <a:prstGeom prst="rect">
            <a:avLst>
              <a:gd name="adj" fmla="val 2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9098280" y="1261872"/>
            <a:ext cx="1306286" cy="182880"/>
          </a:xfrm>
          <a:prstGeom prst="rect">
            <a:avLst>
              <a:gd name="adj" fmla="val 20000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1475720" y="117043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1109960" y="123444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1109960" y="12344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严重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20040" y="2377440"/>
            <a:ext cx="5303520" cy="1143000"/>
          </a:xfrm>
          <a:prstGeom prst="rect">
            <a:avLst>
              <a:gd name="adj" fmla="val 48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20040" y="2377440"/>
            <a:ext cx="91440" cy="1143000"/>
          </a:xfrm>
          <a:prstGeom prst="rect">
            <a:avLst/>
          </a:prstGeom>
          <a:solidFill>
            <a:srgbClr val="CA8A04"/>
          </a:solidFill>
          <a:ln w="12700">
            <a:solidFill>
              <a:srgbClr val="CA8A04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320040" y="2468880"/>
            <a:ext cx="91440" cy="960120"/>
          </a:xfrm>
          <a:prstGeom prst="rect">
            <a:avLst/>
          </a:prstGeom>
          <a:solidFill>
            <a:srgbClr val="CA8A04"/>
          </a:solidFill>
          <a:ln w="12700">
            <a:solidFill>
              <a:srgbClr val="CA8A0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48640" y="243230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库存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8640" y="272491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48640" y="296265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过多原材料/在制品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80360" y="2542032"/>
            <a:ext cx="2286000" cy="182880"/>
          </a:xfrm>
          <a:prstGeom prst="rect">
            <a:avLst>
              <a:gd name="adj" fmla="val 2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2880360" y="2542032"/>
            <a:ext cx="979714" cy="182880"/>
          </a:xfrm>
          <a:prstGeom prst="rect">
            <a:avLst>
              <a:gd name="adj" fmla="val 20000"/>
            </a:avLst>
          </a:prstGeom>
          <a:solidFill>
            <a:srgbClr val="CA8A04"/>
          </a:solidFill>
          <a:ln w="12700">
            <a:solidFill>
              <a:srgbClr val="CA8A04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257800" y="245059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8A0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15%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892040" y="251460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F59E0B"/>
          </a:solidFill>
          <a:ln w="63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892040" y="251460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中等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537960" y="2377440"/>
            <a:ext cx="5303520" cy="1143000"/>
          </a:xfrm>
          <a:prstGeom prst="rect">
            <a:avLst>
              <a:gd name="adj" fmla="val 48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6537960" y="2377440"/>
            <a:ext cx="91440" cy="1143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537960" y="2468880"/>
            <a:ext cx="91440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766560" y="243230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搬运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766560" y="272491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Transportation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766560" y="296265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不必要的物料移动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098280" y="2542032"/>
            <a:ext cx="2286000" cy="182880"/>
          </a:xfrm>
          <a:prstGeom prst="rect">
            <a:avLst>
              <a:gd name="adj" fmla="val 2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9098280" y="2542032"/>
            <a:ext cx="653143" cy="182880"/>
          </a:xfrm>
          <a:prstGeom prst="rect">
            <a:avLst>
              <a:gd name="adj" fmla="val 2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11475720" y="245059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10%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11109960" y="251460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F59E0B"/>
          </a:solidFill>
          <a:ln w="63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11109960" y="251460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中等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20040" y="3657600"/>
            <a:ext cx="5303520" cy="1143000"/>
          </a:xfrm>
          <a:prstGeom prst="rect">
            <a:avLst>
              <a:gd name="adj" fmla="val 48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320040" y="3657600"/>
            <a:ext cx="91440" cy="1143000"/>
          </a:xfrm>
          <a:prstGeom prst="rect">
            <a:avLst/>
          </a:prstGeom>
          <a:solidFill>
            <a:srgbClr val="EAB308"/>
          </a:solidFill>
          <a:ln w="12700">
            <a:solidFill>
              <a:srgbClr val="EAB308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320040" y="3749040"/>
            <a:ext cx="91440" cy="960120"/>
          </a:xfrm>
          <a:prstGeom prst="rect">
            <a:avLst/>
          </a:prstGeom>
          <a:solidFill>
            <a:srgbClr val="EAB308"/>
          </a:solidFill>
          <a:ln w="12700">
            <a:solidFill>
              <a:srgbClr val="EAB308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548640" y="371246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过度加工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548640" y="400507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Over-processing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48640" y="424281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超出客户要求的加工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880360" y="3822192"/>
            <a:ext cx="2286000" cy="182880"/>
          </a:xfrm>
          <a:prstGeom prst="rect">
            <a:avLst>
              <a:gd name="adj" fmla="val 2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2880360" y="3822192"/>
            <a:ext cx="522514" cy="182880"/>
          </a:xfrm>
          <a:prstGeom prst="rect">
            <a:avLst>
              <a:gd name="adj" fmla="val 20000"/>
            </a:avLst>
          </a:prstGeom>
          <a:solidFill>
            <a:srgbClr val="EAB308"/>
          </a:solidFill>
          <a:ln w="12700">
            <a:solidFill>
              <a:srgbClr val="EAB308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5257800" y="373075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B30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8%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4892040" y="379476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F59E0B"/>
          </a:solidFill>
          <a:ln w="63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4892040" y="379476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中等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37960" y="3657600"/>
            <a:ext cx="5303520" cy="1143000"/>
          </a:xfrm>
          <a:prstGeom prst="rect">
            <a:avLst>
              <a:gd name="adj" fmla="val 48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6537960" y="3657600"/>
            <a:ext cx="91440" cy="1143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6537960" y="3749040"/>
            <a:ext cx="91440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6766560" y="371246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动作</a:t>
            </a:r>
            <a:endParaRPr lang="en-US" sz="1400" dirty="0"/>
          </a:p>
        </p:txBody>
      </p:sp>
      <p:sp>
        <p:nvSpPr>
          <p:cNvPr id="66" name="Text 64"/>
          <p:cNvSpPr/>
          <p:nvPr/>
        </p:nvSpPr>
        <p:spPr>
          <a:xfrm>
            <a:off x="6766560" y="400507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766560" y="424281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不必要的人员动作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9098280" y="3822192"/>
            <a:ext cx="2286000" cy="182880"/>
          </a:xfrm>
          <a:prstGeom prst="rect">
            <a:avLst>
              <a:gd name="adj" fmla="val 2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9098280" y="3822192"/>
            <a:ext cx="326571" cy="182880"/>
          </a:xfrm>
          <a:prstGeom prst="rect">
            <a:avLst>
              <a:gd name="adj" fmla="val 20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11475720" y="373075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400" dirty="0"/>
          </a:p>
        </p:txBody>
      </p:sp>
      <p:sp>
        <p:nvSpPr>
          <p:cNvPr id="71" name="Shape 69"/>
          <p:cNvSpPr/>
          <p:nvPr/>
        </p:nvSpPr>
        <p:spPr>
          <a:xfrm>
            <a:off x="11109960" y="379476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0D9488"/>
          </a:solidFill>
          <a:ln w="635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11109960" y="379476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一般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320040" y="4937760"/>
            <a:ext cx="5303520" cy="1143000"/>
          </a:xfrm>
          <a:prstGeom prst="rect">
            <a:avLst>
              <a:gd name="adj" fmla="val 48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4" name="Shape 72"/>
          <p:cNvSpPr/>
          <p:nvPr/>
        </p:nvSpPr>
        <p:spPr>
          <a:xfrm>
            <a:off x="320040" y="4937760"/>
            <a:ext cx="91440" cy="1143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75" name="Shape 73"/>
          <p:cNvSpPr/>
          <p:nvPr/>
        </p:nvSpPr>
        <p:spPr>
          <a:xfrm>
            <a:off x="320040" y="5029200"/>
            <a:ext cx="91440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548640" y="499262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不良品</a:t>
            </a:r>
            <a:endParaRPr lang="en-US" sz="1400" dirty="0"/>
          </a:p>
        </p:txBody>
      </p:sp>
      <p:sp>
        <p:nvSpPr>
          <p:cNvPr id="77" name="Text 75"/>
          <p:cNvSpPr/>
          <p:nvPr/>
        </p:nvSpPr>
        <p:spPr>
          <a:xfrm>
            <a:off x="548640" y="528523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Defects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548640" y="5522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返工/废品/重复检验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2880360" y="5102352"/>
            <a:ext cx="2286000" cy="182880"/>
          </a:xfrm>
          <a:prstGeom prst="rect">
            <a:avLst>
              <a:gd name="adj" fmla="val 2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2880360" y="5102352"/>
            <a:ext cx="326571" cy="182880"/>
          </a:xfrm>
          <a:prstGeom prst="rect">
            <a:avLst>
              <a:gd name="adj" fmla="val 2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5257800" y="501091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400" dirty="0"/>
          </a:p>
        </p:txBody>
      </p:sp>
      <p:sp>
        <p:nvSpPr>
          <p:cNvPr id="82" name="Shape 80"/>
          <p:cNvSpPr/>
          <p:nvPr/>
        </p:nvSpPr>
        <p:spPr>
          <a:xfrm>
            <a:off x="4892040" y="507492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0D9488"/>
          </a:solidFill>
          <a:ln w="635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4892040" y="507492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一般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6537960" y="4937760"/>
            <a:ext cx="5303520" cy="1143000"/>
          </a:xfrm>
          <a:prstGeom prst="rect">
            <a:avLst>
              <a:gd name="adj" fmla="val 48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5" name="Shape 83"/>
          <p:cNvSpPr/>
          <p:nvPr/>
        </p:nvSpPr>
        <p:spPr>
          <a:xfrm>
            <a:off x="6537960" y="4937760"/>
            <a:ext cx="91440" cy="11430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86" name="Shape 84"/>
          <p:cNvSpPr/>
          <p:nvPr/>
        </p:nvSpPr>
        <p:spPr>
          <a:xfrm>
            <a:off x="6537960" y="5029200"/>
            <a:ext cx="91440" cy="9601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6766560" y="499262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未利用人才</a:t>
            </a:r>
            <a:endParaRPr lang="en-US" sz="1400" dirty="0"/>
          </a:p>
        </p:txBody>
      </p:sp>
      <p:sp>
        <p:nvSpPr>
          <p:cNvPr id="88" name="Text 86"/>
          <p:cNvSpPr/>
          <p:nvPr/>
        </p:nvSpPr>
        <p:spPr>
          <a:xfrm>
            <a:off x="6766560" y="528523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Unused Talent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6766560" y="5522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员工智慧和经验未挖掘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9098280" y="5102352"/>
            <a:ext cx="2286000" cy="182880"/>
          </a:xfrm>
          <a:prstGeom prst="rect">
            <a:avLst>
              <a:gd name="adj" fmla="val 2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1" name="Shape 89"/>
          <p:cNvSpPr/>
          <p:nvPr/>
        </p:nvSpPr>
        <p:spPr>
          <a:xfrm>
            <a:off x="9098280" y="5102352"/>
            <a:ext cx="130629" cy="182880"/>
          </a:xfrm>
          <a:prstGeom prst="rect">
            <a:avLst>
              <a:gd name="adj" fmla="val 28000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92" name="Text 90"/>
          <p:cNvSpPr/>
          <p:nvPr/>
        </p:nvSpPr>
        <p:spPr>
          <a:xfrm>
            <a:off x="11475720" y="501091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2%</a:t>
            </a:r>
            <a:endParaRPr lang="en-US" sz="1400" dirty="0"/>
          </a:p>
        </p:txBody>
      </p:sp>
      <p:sp>
        <p:nvSpPr>
          <p:cNvPr id="93" name="Shape 91"/>
          <p:cNvSpPr/>
          <p:nvPr/>
        </p:nvSpPr>
        <p:spPr>
          <a:xfrm>
            <a:off x="11109960" y="507492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0D9488"/>
          </a:solidFill>
          <a:ln w="635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11109960" y="507492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一般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96" name="Text 9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制造业重点关注：过量生产、库存积压、搬运频繁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73152"/>
            <a:ext cx="12188952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09728"/>
            <a:ext cx="11274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13+核心精益工具全景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493776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13+ Core Lean Tools Overview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" y="1143000"/>
            <a:ext cx="2743200" cy="1325880"/>
          </a:xfrm>
          <a:prstGeom prst="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20040" y="1143000"/>
            <a:ext cx="2743200" cy="228600"/>
          </a:xfrm>
          <a:prstGeom prst="rect">
            <a:avLst>
              <a:gd name="adj" fmla="val 24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0040" y="1280160"/>
            <a:ext cx="274320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0040" y="11430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拉动系统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20040" y="14630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看板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" y="18013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Kanban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" y="2359152"/>
            <a:ext cx="21945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200400" y="1143000"/>
            <a:ext cx="2743200" cy="1325880"/>
          </a:xfrm>
          <a:prstGeom prst="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200400" y="1143000"/>
            <a:ext cx="2743200" cy="228600"/>
          </a:xfrm>
          <a:prstGeom prst="rect">
            <a:avLst>
              <a:gd name="adj" fmla="val 24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200400" y="1280160"/>
            <a:ext cx="274320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200400" y="11430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分析工具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00400" y="14630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00400" y="18013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Stream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4720" y="2359152"/>
            <a:ext cx="219456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080760" y="1143000"/>
            <a:ext cx="2743200" cy="1325880"/>
          </a:xfrm>
          <a:prstGeom prst="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080760" y="1143000"/>
            <a:ext cx="2743200" cy="228600"/>
          </a:xfrm>
          <a:prstGeom prst="rect">
            <a:avLst>
              <a:gd name="adj" fmla="val 24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080760" y="1280160"/>
            <a:ext cx="2743200" cy="91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080760" y="11430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现场管理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080760" y="14630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安灯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080760" y="18013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355080" y="2359152"/>
            <a:ext cx="2194560" cy="3657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8961120" y="1143000"/>
            <a:ext cx="2743200" cy="1325880"/>
          </a:xfrm>
          <a:prstGeom prst="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8961120" y="1143000"/>
            <a:ext cx="2743200" cy="228600"/>
          </a:xfrm>
          <a:prstGeom prst="rect">
            <a:avLst>
              <a:gd name="adj" fmla="val 24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8961120" y="1280160"/>
            <a:ext cx="274320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961120" y="11430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标准化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961120" y="14630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标准作业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961120" y="18013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Work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235440" y="2359152"/>
            <a:ext cx="219456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320040" y="2578608"/>
            <a:ext cx="2743200" cy="1325880"/>
          </a:xfrm>
          <a:prstGeom prst="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320040" y="2578608"/>
            <a:ext cx="2743200" cy="228600"/>
          </a:xfrm>
          <a:prstGeom prst="rect">
            <a:avLst>
              <a:gd name="adj" fmla="val 24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320040" y="2715768"/>
            <a:ext cx="274320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20040" y="257860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设备管理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20040" y="289864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TPM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20040" y="323697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94360" y="3794760"/>
            <a:ext cx="219456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3200400" y="2578608"/>
            <a:ext cx="2743200" cy="1325880"/>
          </a:xfrm>
          <a:prstGeom prst="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3200400" y="2578608"/>
            <a:ext cx="2743200" cy="228600"/>
          </a:xfrm>
          <a:prstGeom prst="rect">
            <a:avLst>
              <a:gd name="adj" fmla="val 24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3200400" y="2715768"/>
            <a:ext cx="2743200" cy="91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3200400" y="257860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现场管理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3200400" y="289864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5S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3200400" y="323697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474720" y="3794760"/>
            <a:ext cx="219456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6080760" y="2578608"/>
            <a:ext cx="2743200" cy="1325880"/>
          </a:xfrm>
          <a:prstGeom prst="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6080760" y="2578608"/>
            <a:ext cx="2743200" cy="228600"/>
          </a:xfrm>
          <a:prstGeom prst="rect">
            <a:avLst>
              <a:gd name="adj" fmla="val 24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6080760" y="2715768"/>
            <a:ext cx="274320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6080760" y="257860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持续改进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6080760" y="289864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改善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6080760" y="323697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Kaizen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55080" y="3794760"/>
            <a:ext cx="21945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8961120" y="2578608"/>
            <a:ext cx="2743200" cy="1325880"/>
          </a:xfrm>
          <a:prstGeom prst="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8961120" y="2578608"/>
            <a:ext cx="2743200" cy="228600"/>
          </a:xfrm>
          <a:prstGeom prst="rect">
            <a:avLst>
              <a:gd name="adj" fmla="val 24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8961120" y="2715768"/>
            <a:ext cx="274320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8961120" y="257860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生产均衡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8961120" y="289864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平准化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8961120" y="323697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Heijunka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9235440" y="3794760"/>
            <a:ext cx="219456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320040" y="4014216"/>
            <a:ext cx="2743200" cy="1325880"/>
          </a:xfrm>
          <a:prstGeom prst="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320040" y="4014216"/>
            <a:ext cx="2743200" cy="228600"/>
          </a:xfrm>
          <a:prstGeom prst="rect">
            <a:avLst>
              <a:gd name="adj" fmla="val 24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320040" y="4151376"/>
            <a:ext cx="2743200" cy="91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320040" y="4014216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质量保障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320040" y="4334256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防错</a:t>
            </a:r>
            <a:endParaRPr lang="en-US" sz="1400" dirty="0"/>
          </a:p>
        </p:txBody>
      </p:sp>
      <p:sp>
        <p:nvSpPr>
          <p:cNvPr id="68" name="Text 66"/>
          <p:cNvSpPr/>
          <p:nvPr/>
        </p:nvSpPr>
        <p:spPr>
          <a:xfrm>
            <a:off x="320040" y="46725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Poka-Yoke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94360" y="5230368"/>
            <a:ext cx="2194560" cy="3657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3200400" y="4014216"/>
            <a:ext cx="2743200" cy="1325880"/>
          </a:xfrm>
          <a:prstGeom prst="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3200400" y="4014216"/>
            <a:ext cx="2743200" cy="228600"/>
          </a:xfrm>
          <a:prstGeom prst="rect">
            <a:avLst>
              <a:gd name="adj" fmla="val 24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3200400" y="4151376"/>
            <a:ext cx="274320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3200400" y="4014216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快速换模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3200400" y="4334256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SMED</a:t>
            </a:r>
            <a:endParaRPr lang="en-US" sz="1400" dirty="0"/>
          </a:p>
        </p:txBody>
      </p:sp>
      <p:sp>
        <p:nvSpPr>
          <p:cNvPr id="75" name="Text 73"/>
          <p:cNvSpPr/>
          <p:nvPr/>
        </p:nvSpPr>
        <p:spPr>
          <a:xfrm>
            <a:off x="3200400" y="46725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SMED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3474720" y="5230368"/>
            <a:ext cx="219456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6080760" y="4014216"/>
            <a:ext cx="2743200" cy="1325880"/>
          </a:xfrm>
          <a:prstGeom prst="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6080760" y="4014216"/>
            <a:ext cx="2743200" cy="228600"/>
          </a:xfrm>
          <a:prstGeom prst="rect">
            <a:avLst>
              <a:gd name="adj" fmla="val 24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6080760" y="4151376"/>
            <a:ext cx="274320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80" name="Text 78"/>
          <p:cNvSpPr/>
          <p:nvPr/>
        </p:nvSpPr>
        <p:spPr>
          <a:xfrm>
            <a:off x="6080760" y="4014216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自动化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6080760" y="4334256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自働化</a:t>
            </a:r>
            <a:endParaRPr lang="en-US" sz="1400" dirty="0"/>
          </a:p>
        </p:txBody>
      </p:sp>
      <p:sp>
        <p:nvSpPr>
          <p:cNvPr id="82" name="Text 80"/>
          <p:cNvSpPr/>
          <p:nvPr/>
        </p:nvSpPr>
        <p:spPr>
          <a:xfrm>
            <a:off x="6080760" y="46725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Jidoka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6355080" y="5230368"/>
            <a:ext cx="219456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84" name="Shape 82"/>
          <p:cNvSpPr/>
          <p:nvPr/>
        </p:nvSpPr>
        <p:spPr>
          <a:xfrm>
            <a:off x="8961120" y="4014216"/>
            <a:ext cx="2743200" cy="1325880"/>
          </a:xfrm>
          <a:prstGeom prst="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5" name="Shape 83"/>
          <p:cNvSpPr/>
          <p:nvPr/>
        </p:nvSpPr>
        <p:spPr>
          <a:xfrm>
            <a:off x="8961120" y="4014216"/>
            <a:ext cx="2743200" cy="228600"/>
          </a:xfrm>
          <a:prstGeom prst="rect">
            <a:avLst>
              <a:gd name="adj" fmla="val 24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86" name="Shape 84"/>
          <p:cNvSpPr/>
          <p:nvPr/>
        </p:nvSpPr>
        <p:spPr>
          <a:xfrm>
            <a:off x="8961120" y="4151376"/>
            <a:ext cx="2743200" cy="91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8961120" y="4014216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准时生产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8961120" y="4334256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JIT</a:t>
            </a:r>
            <a:endParaRPr lang="en-US" sz="1400" dirty="0"/>
          </a:p>
        </p:txBody>
      </p:sp>
      <p:sp>
        <p:nvSpPr>
          <p:cNvPr id="89" name="Text 87"/>
          <p:cNvSpPr/>
          <p:nvPr/>
        </p:nvSpPr>
        <p:spPr>
          <a:xfrm>
            <a:off x="8961120" y="46725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9235440" y="5230368"/>
            <a:ext cx="219456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91" name="Shape 89"/>
          <p:cNvSpPr/>
          <p:nvPr/>
        </p:nvSpPr>
        <p:spPr>
          <a:xfrm>
            <a:off x="320040" y="5449824"/>
            <a:ext cx="2743200" cy="1325880"/>
          </a:xfrm>
          <a:prstGeom prst="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2" name="Shape 90"/>
          <p:cNvSpPr/>
          <p:nvPr/>
        </p:nvSpPr>
        <p:spPr>
          <a:xfrm>
            <a:off x="320040" y="5449824"/>
            <a:ext cx="2743200" cy="228600"/>
          </a:xfrm>
          <a:prstGeom prst="rect">
            <a:avLst>
              <a:gd name="adj" fmla="val 24000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320040" y="5586984"/>
            <a:ext cx="2743200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320040" y="5449824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现场管理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320040" y="5769864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可视化管理</a:t>
            </a:r>
            <a:endParaRPr lang="en-US" sz="1400" dirty="0"/>
          </a:p>
        </p:txBody>
      </p:sp>
      <p:sp>
        <p:nvSpPr>
          <p:cNvPr id="96" name="Text 94"/>
          <p:cNvSpPr/>
          <p:nvPr/>
        </p:nvSpPr>
        <p:spPr>
          <a:xfrm>
            <a:off x="320040" y="61081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Mgmt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594360" y="6665976"/>
            <a:ext cx="2194560" cy="3657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98" name="Shape 96"/>
          <p:cNvSpPr/>
          <p:nvPr/>
        </p:nvSpPr>
        <p:spPr>
          <a:xfrm>
            <a:off x="8961120" y="5449824"/>
            <a:ext cx="2743200" cy="1325880"/>
          </a:xfrm>
          <a:prstGeom prst="rect">
            <a:avLst>
              <a:gd name="adj" fmla="val 4138"/>
            </a:avLst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/>
          <p:nvPr/>
        </p:nvSpPr>
        <p:spPr>
          <a:xfrm>
            <a:off x="8961120" y="572414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更多工具</a:t>
            </a:r>
            <a:endParaRPr lang="en-US" sz="1400" dirty="0"/>
          </a:p>
        </p:txBody>
      </p:sp>
      <p:sp>
        <p:nvSpPr>
          <p:cNvPr id="100" name="Text 98"/>
          <p:cNvSpPr/>
          <p:nvPr/>
        </p:nvSpPr>
        <p:spPr>
          <a:xfrm>
            <a:off x="8961120" y="60441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持续更新中...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02" name="Text 10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大核心工具 | 覆盖生产、质量、设备、物流全领域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73152"/>
            <a:ext cx="12188952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09728"/>
            <a:ext cx="11274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工具选择决策树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493776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Selection Decision Tree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0" y="1097280"/>
            <a:ext cx="5788152" cy="82296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200400" y="1097280"/>
            <a:ext cx="5788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您面临的主要问题是什么？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0" y="1920240"/>
            <a:ext cx="54864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806440" y="2148840"/>
            <a:ext cx="320040" cy="274320"/>
          </a:xfrm>
          <a:prstGeom prst="downArrow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581912" y="2377440"/>
            <a:ext cx="36576" cy="1371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20040" y="251460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20040" y="254203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质量问题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0040" y="285292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Issues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99432" y="2377440"/>
            <a:ext cx="36576" cy="1371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337560" y="251460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337560" y="254203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效率问题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37560" y="285292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 Issues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616952" y="2377440"/>
            <a:ext cx="36576" cy="137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55080" y="251460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355080" y="254203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库存问题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55080" y="285292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Issues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634472" y="2377440"/>
            <a:ext cx="36576" cy="137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372600" y="251460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372600" y="254203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现场管理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372600" y="285292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Floor Mgmt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581912" y="3291840"/>
            <a:ext cx="36576" cy="182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320040" y="3474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320040" y="3547872"/>
            <a:ext cx="54864" cy="31089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29768" y="34747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防错 Poka-Yoke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0040" y="4041648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320040" y="4114800"/>
            <a:ext cx="54864" cy="31089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29768" y="404164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 报告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" y="4608576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320040" y="4681728"/>
            <a:ext cx="54864" cy="31089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29768" y="4608576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标准作业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99432" y="3291840"/>
            <a:ext cx="36576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3337560" y="3474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F59E0B"/>
          </a:solidFill>
          <a:ln w="63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3337560" y="3547872"/>
            <a:ext cx="54864" cy="3108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447288" y="34747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337560" y="4041648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F59E0B"/>
          </a:solidFill>
          <a:ln w="63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3337560" y="4114800"/>
            <a:ext cx="54864" cy="3108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447288" y="404164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VSM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337560" y="4608576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F59E0B"/>
          </a:solidFill>
          <a:ln w="63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3337560" y="4681728"/>
            <a:ext cx="54864" cy="3108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3447288" y="4608576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TPM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616952" y="3291840"/>
            <a:ext cx="36576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6355080" y="3474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6355080" y="3547872"/>
            <a:ext cx="54864" cy="3108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6464808" y="34747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看板 Kanban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355080" y="4041648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6355080" y="4114800"/>
            <a:ext cx="54864" cy="3108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6464808" y="404164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355080" y="4608576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6355080" y="4681728"/>
            <a:ext cx="54864" cy="3108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6464808" y="4608576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平准化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0634472" y="3291840"/>
            <a:ext cx="36576" cy="182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9372600" y="3474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635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9372600" y="3547872"/>
            <a:ext cx="54864" cy="31089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9482328" y="34747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9372600" y="4041648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635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9372600" y="4114800"/>
            <a:ext cx="54864" cy="31089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9482328" y="404164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安灯 Andon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9372600" y="4608576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635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9372600" y="4681728"/>
            <a:ext cx="54864" cy="31089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9482328" y="4608576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可视化管理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5486400"/>
            <a:ext cx="11274552" cy="594360"/>
          </a:xfrm>
          <a:prstGeom prst="roundRect">
            <a:avLst>
              <a:gd name="adj" fmla="val 12308"/>
            </a:avLst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640080" y="5486400"/>
            <a:ext cx="109087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提示：实际应用中，多种工具往往需要组合使用。建议从 5S 和可视化管理入手，逐步引入其他工具。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根据问题类型选择合适工具 | 组合使用效果更佳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精益工具知识库</dc:title>
  <dc:subject>PptxGenJS Presentation</dc:subject>
  <dc:creator>精益工具知识库</dc:creator>
  <cp:lastModifiedBy>精益工具知识库</cp:lastModifiedBy>
  <cp:revision>1</cp:revision>
  <dcterms:created xsi:type="dcterms:W3CDTF">2026-05-17T11:32:34Z</dcterms:created>
  <dcterms:modified xsi:type="dcterms:W3CDTF">2026-05-17T11:32:34Z</dcterms:modified>
</cp:coreProperties>
</file>