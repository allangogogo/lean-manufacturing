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731520"/>
            <a:ext cx="5486400" cy="5486400"/>
          </a:xfrm>
          <a:prstGeom prst="ellipse">
            <a:avLst/>
          </a:prstGeom>
          <a:solidFill>
            <a:srgbClr val="1A3A6B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0" y="-182880"/>
            <a:ext cx="4572000" cy="4572000"/>
          </a:xfrm>
          <a:prstGeom prst="ellipse">
            <a:avLst/>
          </a:prstGeom>
          <a:solidFill>
            <a:srgbClr val="1A3A6B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886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标准作业与安灯详解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Work &amp; Andon System  |  制造专用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标准作业三要素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Elements of Standard 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 |  Standard 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84048" y="2103120"/>
            <a:ext cx="3483864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192024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84048" y="2057400"/>
            <a:ext cx="348386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1579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节拍时间  Takt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生产一个产品的必需时间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Takt = 可用时间 / 客户需求数量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产品案例: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可用时间 = 480 - 30 = 450 min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 = 18,000 件/天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Takt = 450 / 18000 = 1.5 秒/件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意味着每1.5秒产出一个工件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87368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05656" y="2103120"/>
            <a:ext cx="3483864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87368" y="192024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05656" y="2057400"/>
            <a:ext cx="348386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70248" y="21579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作业循环  Work Sequence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70248" y="25603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操作员在节拍内的标准步骤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操作员的操作顺序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手持半成品的标准WIP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机器自动运行时间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产品案例: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机加工: 送料成形冲裁收集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每个动作精确到秒，无浪费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作业顺序 = 最佳动作序列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08976" y="19202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827264" y="2103120"/>
            <a:ext cx="3483864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808976" y="1920240"/>
            <a:ext cx="3520440" cy="201168"/>
          </a:xfrm>
          <a:prstGeom prst="roundRect">
            <a:avLst>
              <a:gd name="adj" fmla="val 36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827264" y="2057400"/>
            <a:ext cx="348386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991856" y="21579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标准WIP  Standard WIP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91856" y="25603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定义: 维持循环的最小在制品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工序间库存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夹具上待加工品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自动运行中的半成品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产品案例: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机加工自动运行: 约200件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精加工缓冲: 约50件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检测等待: 约20件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标准WIP = 270件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6199632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6217920"/>
            <a:ext cx="10725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= Takt Time + Work Sequence + Standard WIP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标准作业组合表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Work Combination Chart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 |  Standard 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869680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2048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2048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作业时间(s)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2048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机器时间(s)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2048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步行时间(s)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2048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结束时间(s)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4323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送料至机加工设备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69480" y="24323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8869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28163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机加工自动成形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2816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60520" y="2816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2816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69480" y="2816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163824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3200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离开模具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06040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60520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15000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4.9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547872"/>
            <a:ext cx="8869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920" y="35844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收集成品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06040" y="35844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60520" y="35844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15000" y="35844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69480" y="35844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869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02920" y="39684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走至打孔区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06040" y="39684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60520" y="39684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15000" y="39684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69480" y="39684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315968"/>
            <a:ext cx="8869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02920" y="43525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打孔后重新开始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06040" y="4352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60520" y="4352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715000" y="4352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69480" y="4352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84080" y="1737360"/>
            <a:ext cx="2011680" cy="3474720"/>
          </a:xfrm>
          <a:prstGeom prst="roundRect">
            <a:avLst>
              <a:gd name="adj" fmla="val 3636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8755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时间对比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87552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332720" y="2231136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0735056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87552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332720" y="2596896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1832336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87552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步行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332720" y="2962656"/>
            <a:ext cx="182880" cy="201168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10552176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8755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Takt=1.5s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966960" y="3611880"/>
            <a:ext cx="301752" cy="27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标准作业与改善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Work &amp; Kaizen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 |  Standard 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" y="1828800"/>
            <a:ext cx="343814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45920"/>
            <a:ext cx="3474720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" y="1783080"/>
            <a:ext cx="343814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8836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工作标准化  Standardized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每一项作业都建立标准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明确每个动作的顺序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规定时间标准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消除个人差异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机加工作业标准书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164592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44568" y="1828800"/>
            <a:ext cx="343814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26280" y="1645920"/>
            <a:ext cx="347472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44568" y="1783080"/>
            <a:ext cx="343814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09160" y="18836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设备改善  Equipment Kaizen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让设备更好配合标准作业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减少机器等待时间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优化换模流程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提升自动化水平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快速换模&lt;10min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95360" y="164592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613648" y="1828800"/>
            <a:ext cx="316382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595360" y="1645920"/>
            <a:ext cx="3200400" cy="201168"/>
          </a:xfrm>
          <a:prstGeom prst="roundRect">
            <a:avLst>
              <a:gd name="adj" fmla="val 3636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13648" y="1783080"/>
            <a:ext cx="316382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78240" y="18836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布局优化  Layout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2286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减少搬运和步行浪费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U型产线布局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零件就近供应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消除交叉物流</a:t>
            </a:r>
            <a:pPr indent="0" marL="0">
              <a:lnSpc>
                <a:spcPct val="115000"/>
              </a:lnSpc>
              <a:buNone/>
            </a:pP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连续流布局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42062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制定SOP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4636008"/>
            <a:ext cx="640080" cy="32918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474720" y="4206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474720" y="42062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培训执行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76672" y="4636008"/>
            <a:ext cx="640080" cy="32918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00800" y="4206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42062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02752" y="4636008"/>
            <a:ext cx="640080" cy="32918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326880" y="4206240"/>
            <a:ext cx="1828800" cy="1188720"/>
          </a:xfrm>
          <a:prstGeom prst="roundRect">
            <a:avLst>
              <a:gd name="adj" fmla="val 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326880" y="42062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改善标准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623560"/>
            <a:ext cx="11274552" cy="347472"/>
          </a:xfrm>
          <a:prstGeom prst="roundRect">
            <a:avLst>
              <a:gd name="adj" fmla="val 21053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31520" y="5641848"/>
            <a:ext cx="1072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标准不是终点，而是改善的起点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安灯系统概述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 System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  |  Andon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" y="1828800"/>
            <a:ext cx="4992624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45920"/>
            <a:ext cx="502920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5488" y="1783080"/>
            <a:ext cx="499262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188366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什么是安灯  |  What is Andon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安灯(Andon)源自日语'灯光'，是一种视觉管理系统。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当产线出现异常(质量/设备/物料/安全)，操作员通过拉绳或按钮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触发光信号和声音通知，使问题可视化并快速响应。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64592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61888" y="1828800"/>
            <a:ext cx="5724144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0" y="1645920"/>
            <a:ext cx="5760720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61888" y="1783080"/>
            <a:ext cx="572414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26480" y="18836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升级协议  |  Escalation Protocol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286000"/>
            <a:ext cx="5394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班组长  &lt;30秒  —  现场立即处理，规定时间内解决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主管  &lt;2分钟  —  30s未解决，调配资源跨线支援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经理  &lt;5分钟  —  2min未解决，产线可能停线，启动应急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9867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级别1响应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40280" y="39319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40280" y="39867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2分钟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40280" y="44622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级别2响应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23360" y="39319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023360" y="39867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023360" y="44622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级别3响应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3931920"/>
            <a:ext cx="16002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806440" y="398678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806440" y="446227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问题可见性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安灯实施步骤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 Implementation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  |  Andon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分析产线痛点 统计异常类型 确定优先级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2121408"/>
            <a:ext cx="365760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34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确定触发条件 设计安灯板布局 制定升级规则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18120" y="2121408"/>
            <a:ext cx="365760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0" y="160020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6369E9"/>
          </a:solidFill>
          <a:ln w="12700">
            <a:solidFill>
              <a:srgbClr val="6369E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6676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设备安装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安装拉绳/按钮 配置灯光系统 连接声音报警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人员培训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操作员响应训练 升级流程演练 角色职责明确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86200" y="3630168"/>
            <a:ext cx="365760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297680" y="310896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348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3484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3484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选择试点产线 收集反馈数据 优化触发阈值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18120" y="3630168"/>
            <a:ext cx="365760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229600" y="3108960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3667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全面推广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6676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6676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复制到所有产线 建立数据分析 持续改善循环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5902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9784080" cy="256032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48828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异常类型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31720" y="488289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触发信号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77640" y="48828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响应级别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89320" y="48828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01000" y="48828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102352"/>
            <a:ext cx="978408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02920" y="513892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331720" y="51389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黄灯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97764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8932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30s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01000" y="51389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工件表面开裂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5358384"/>
            <a:ext cx="978408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53949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331720" y="5394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77640" y="5394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89320" y="5394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2min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01000" y="53949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机加工设备卡料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5614416"/>
            <a:ext cx="978408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02920" y="565099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物料短缺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331720" y="56509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黄闪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977640" y="5650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989320" y="565099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2min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001000" y="56509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原材料不足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5870448"/>
            <a:ext cx="978408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920" y="590702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安全问题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331720" y="59070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红灯+声音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977640" y="5907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989320" y="59070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5min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001000" y="59070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操作员受伤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5720"/>
            <a:ext cx="12188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安灯数据分析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Andon Data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  |  Andon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|  标准作业与安灯详解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6093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本月安灯触发次数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55448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17520" y="16093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17520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产线正常运行时间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155448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77840" y="16093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1.2min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138160" y="16093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38160" y="20848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月度改善项目数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安灯频率帕累托分析  |  Pareto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3227832"/>
            <a:ext cx="329184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212080" y="32004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5112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质量异常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3538728"/>
            <a:ext cx="2048256" cy="1828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968496" y="35112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物料短缺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0" y="3849624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017520" y="38221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1330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换模超时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0" y="4160520"/>
            <a:ext cx="585216" cy="182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505456" y="41330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443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安全问题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4471416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212848" y="444398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4次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改善循环  |  Improvement Cycle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26880" y="3383280"/>
            <a:ext cx="548640" cy="548640"/>
          </a:xfrm>
          <a:prstGeom prst="diamond">
            <a:avLst/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3268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0" y="2391156"/>
            <a:ext cx="91440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144000" y="239115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触发安灯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131552" y="3337560"/>
            <a:ext cx="91440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0131552" y="3337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144000" y="4283964"/>
            <a:ext cx="91440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144000" y="428396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制定对策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56448" y="3337560"/>
            <a:ext cx="91440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156448" y="3337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标准更新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875520" y="3095244"/>
            <a:ext cx="53492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053828" y="3931920"/>
            <a:ext cx="219456" cy="4526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053828" y="3840480"/>
            <a:ext cx="57607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929116" y="3977640"/>
            <a:ext cx="53492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8929116" y="3095244"/>
            <a:ext cx="534924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57200" y="576072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31520" y="577900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设备故障(45%)和质量异常(28%)占安灯触发73%，应优先改善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 | 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75488" y="1554480"/>
            <a:ext cx="526694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371600"/>
            <a:ext cx="5303520" cy="201168"/>
          </a:xfrm>
          <a:prstGeom prst="roundRect">
            <a:avLst>
              <a:gd name="adj" fmla="val 3636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" y="1508760"/>
            <a:ext cx="526694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6093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  Standard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三要素: Takt Time + 作业循环 + 标准WIP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组合表实现人机时间最优配比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作业标准化是改善的基石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U型布局减少搬运和步行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快速换模保障柔性生产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可视化让异常无处藏身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36208" y="1554480"/>
            <a:ext cx="544982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01168"/>
          </a:xfrm>
          <a:prstGeom prst="roundRect">
            <a:avLst>
              <a:gd name="adj" fmla="val 3636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36208" y="1508760"/>
            <a:ext cx="5449824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609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安灯  Andon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拉绳触发，问题30秒内可见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三级升级: 班长(30s)主管(2m)经理(5m)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触发条件: 质量/设备/物料/安全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帕累托分析锁定关键改善方向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PDCA循环驱动持续改善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数据化追踪安灯响应效率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640080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标准化是改善的起点，安灯是质量的守护者  |  Standard Work + Andon = 精益基石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标准作业与安灯详解</dc:title>
  <dc:subject>PptxGenJS Presentation</dc:subject>
  <dc:creator>精益工具知识库</dc:creator>
  <cp:lastModifiedBy>精益工具知识库</cp:lastModifiedBy>
  <cp:revision>1</cp:revision>
  <dcterms:created xsi:type="dcterms:W3CDTF">2026-05-17T12:30:20Z</dcterms:created>
  <dcterms:modified xsi:type="dcterms:W3CDTF">2026-05-17T12:30:20Z</dcterms:modified>
</cp:coreProperties>
</file>