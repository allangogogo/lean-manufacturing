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731520"/>
            <a:ext cx="5486400" cy="5486400"/>
          </a:xfrm>
          <a:prstGeom prst="ellipse">
            <a:avLst/>
          </a:prstGeom>
          <a:solidFill>
            <a:srgbClr val="1A3A6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-182880"/>
            <a:ext cx="4572000" cy="4572000"/>
          </a:xfrm>
          <a:prstGeom prst="ellipse">
            <a:avLst/>
          </a:prstGeom>
          <a:solidFill>
            <a:srgbClr val="1A3A6B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ADCFC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5029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886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标准作业与安灯详解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Work &amp; Andon System  |  紧固件制造专用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标准作业三要素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Three Elements of Standard 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 |  Standard Work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9202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" y="2103120"/>
            <a:ext cx="348386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920240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2057400"/>
            <a:ext cx="348386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节拍时间  Takt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5603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定义: 生产一个产品的必需时间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Takt = 可用时间 / 客户需求数量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紧固件案例: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可用时间 = 480 - 30 = 450 min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客户需求 = 18,000 件/天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Takt = 450 / 18000 = 1.5 秒/件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意味着每1.5秒产出一个螺栓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087368" y="19202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05656" y="2103120"/>
            <a:ext cx="348386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87368" y="1920240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05656" y="2057400"/>
            <a:ext cx="348386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70248" y="21579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作业循环  Work Sequence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70248" y="25603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定义: 操作员在节拍内的标准步骤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操作员的操作顺序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手持半成品的标准WIP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机器自动运行时间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紧固件案例: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冷镦: 送料成形冲裁收集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每个动作精确到秒，无浪费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作业顺序 = 最佳动作序列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808976" y="19202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27264" y="2103120"/>
            <a:ext cx="3483864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08976" y="1920240"/>
            <a:ext cx="3520440" cy="201168"/>
          </a:xfrm>
          <a:prstGeom prst="roundRect">
            <a:avLst>
              <a:gd name="adj" fmla="val 36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27264" y="2057400"/>
            <a:ext cx="348386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91856" y="21579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标准WIP  Standard WIP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991856" y="2560320"/>
            <a:ext cx="31546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定义: 维持循环的最小在制品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包括: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工序间库存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夹具上待加工品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自动运行中的半成品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紧固件案例: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冷镦自动运行: 约200件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搓丝缓冲: 约50件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检测等待: 约20件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标准WIP = 270件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6199632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6217920"/>
            <a:ext cx="107259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= Takt Time + Work Sequence + Standard WIP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标准作业组合表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Work Combination Chart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 |  Standard Work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869680" cy="384048"/>
          </a:xfrm>
          <a:prstGeom prst="rect">
            <a:avLst/>
          </a:prstGeom>
          <a:solidFill>
            <a:srgbClr val="1E2761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作业要素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06040" y="204825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作业时间(s)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60520" y="204825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机器时间(s)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15000" y="204825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步行时间(s)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69480" y="204825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结束时间(s)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395728"/>
            <a:ext cx="88696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送料至冷镦机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606040" y="243230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160520" y="243230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715000" y="243230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269480" y="243230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779776"/>
            <a:ext cx="88696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28163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冷镦自动成形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06040" y="281635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60520" y="281635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715000" y="281635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269480" y="281635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163824"/>
            <a:ext cx="88696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200400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离开模具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606040" y="32004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160520" y="32004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715000" y="32004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69480" y="320040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4.9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3547872"/>
            <a:ext cx="88696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8444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收集成品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606040" y="358444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160520" y="358444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715000" y="358444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9480" y="358444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931920"/>
            <a:ext cx="88696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3968496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走至打孔区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606040" y="396849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160520" y="396849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715000" y="396849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269480" y="396849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57200" y="4315968"/>
            <a:ext cx="886968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2920" y="43525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打孔后重新开始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2606040" y="4352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160520" y="4352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5715000" y="4352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269480" y="4352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6.7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784080" y="1737360"/>
            <a:ext cx="2011680" cy="3474720"/>
          </a:xfrm>
          <a:prstGeom prst="roundRect">
            <a:avLst>
              <a:gd name="adj" fmla="val 3636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0" y="1828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时间对比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87552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0332720" y="2231136"/>
            <a:ext cx="365760" cy="201168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735056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2s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9875520" y="2560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0332720" y="2596896"/>
            <a:ext cx="1463040" cy="201168"/>
          </a:xfrm>
          <a:prstGeom prst="round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832336" y="25603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875520" y="2926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步行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0332720" y="2962656"/>
            <a:ext cx="182880" cy="201168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52176" y="2926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1s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987552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Takt=1.5s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9966960" y="3611880"/>
            <a:ext cx="301752" cy="274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标准作业与改善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Work &amp; Kaizen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 |  Standard Work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828800"/>
            <a:ext cx="3438144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45920"/>
            <a:ext cx="3474720" cy="201168"/>
          </a:xfrm>
          <a:prstGeom prst="roundRect">
            <a:avLst>
              <a:gd name="adj" fmla="val 3636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1783080"/>
            <a:ext cx="343814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88366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工作标准化  Standardized 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每一项作业都建立标准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明确每个动作的顺序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规定时间标准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消除个人差异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紧固件: 冷镦作业标准书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26280" y="1645920"/>
            <a:ext cx="34747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44568" y="1828800"/>
            <a:ext cx="3438144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1645920"/>
            <a:ext cx="3474720" cy="201168"/>
          </a:xfrm>
          <a:prstGeom prst="roundRect">
            <a:avLst>
              <a:gd name="adj" fmla="val 3636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44568" y="1783080"/>
            <a:ext cx="343814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8366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设备改善  Equipment Kaizen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09160" y="228600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让设备更好配合标准作业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减少机器等待时间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优化换模流程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提升自动化水平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紧固件: 快速换模&lt;10min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595360" y="1645920"/>
            <a:ext cx="32004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13648" y="1828800"/>
            <a:ext cx="3163824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0" y="1645920"/>
            <a:ext cx="3200400" cy="201168"/>
          </a:xfrm>
          <a:prstGeom prst="roundRect">
            <a:avLst>
              <a:gd name="adj" fmla="val 36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13648" y="1783080"/>
            <a:ext cx="316382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0" y="1883664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布局优化  Layout Optimization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228600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减少搬运和步行浪费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U型产线布局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零件就近供应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 消除交叉物流</a:t>
            </a:r>
            <a:pPr indent="0" marL="0">
              <a:lnSpc>
                <a:spcPct val="115000"/>
              </a:lnSpc>
              <a:buNone/>
            </a:pP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紧固件: 连续流布局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206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2062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制定SOP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50592" y="4636008"/>
            <a:ext cx="640080" cy="32918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0" y="4206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42062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培训执行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76672" y="4636008"/>
            <a:ext cx="640080" cy="32918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206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42062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发现问题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02752" y="4636008"/>
            <a:ext cx="640080" cy="32918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26880" y="420624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26880" y="420624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改善标准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623560"/>
            <a:ext cx="11274552" cy="347472"/>
          </a:xfrm>
          <a:prstGeom prst="roundRect">
            <a:avLst>
              <a:gd name="adj" fmla="val 21053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641848"/>
            <a:ext cx="107259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标准不是终点，而是改善的起点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安灯系统概述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Andon System Overview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  |  Andon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1828800"/>
            <a:ext cx="4992624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645920"/>
            <a:ext cx="5029200" cy="201168"/>
          </a:xfrm>
          <a:prstGeom prst="roundRect">
            <a:avLst>
              <a:gd name="adj" fmla="val 3636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" y="1783080"/>
            <a:ext cx="499262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1883664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什么是安灯  |  What is Andon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28600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安灯(Andon)源自日语'灯光'，是一种视觉管理系统。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当产线出现异常(质量/设备/物料/安全)，操作员通过拉绳或按钮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触发光信号和声音通知，使问题可视化并快速响应。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0" y="1645920"/>
            <a:ext cx="57607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61888" y="1828800"/>
            <a:ext cx="5724144" cy="30815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1645920"/>
            <a:ext cx="5760720" cy="201168"/>
          </a:xfrm>
          <a:prstGeom prst="roundRect">
            <a:avLst>
              <a:gd name="adj" fmla="val 3636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61888" y="1783080"/>
            <a:ext cx="572414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88366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升级协议  |  Escalation Protocol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2286000"/>
            <a:ext cx="539496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班组长  &lt;30秒  —  现场立即处理，规定时间内解决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主管  &lt;2分钟  —  30s未解决，调配资源跨线支援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经理  &lt;5分钟  —  2min未解决，产线可能停线，启动应急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986784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30秒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200" y="446227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级别1响应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40280" y="393192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40280" y="3986784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2分钟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2240280" y="446227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级别2响应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023360" y="393192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23360" y="3986784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5分钟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023360" y="446227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级别3响应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806440" y="393192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06440" y="3986784"/>
            <a:ext cx="1600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806440" y="4462272"/>
            <a:ext cx="1600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问题可见性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安灯实施步骤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Andon Implementation Steps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  |  Andon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60020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需求评估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21945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分析产线痛点 统计异常类型 确定优先级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886200" y="2121408"/>
            <a:ext cx="36576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97680" y="160020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3484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21945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确定触发条件 设计安灯板布局 制定升级规则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18120" y="2121408"/>
            <a:ext cx="36576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0" y="160020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6369E9"/>
          </a:solidFill>
          <a:ln w="12700">
            <a:solidFill>
              <a:srgbClr val="6369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设备安装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66760" y="196596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366760" y="21945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安装拉绳/按钮 配置灯光系统 连接声音报警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10896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人员培训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3474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2920" y="3703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操作员响应训练 升级流程演练 角色职责明确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886200" y="3630168"/>
            <a:ext cx="36576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310896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试运行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34840" y="3474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434840" y="3703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选择试点产线 收集反馈数据 优化触发阈值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818120" y="3630168"/>
            <a:ext cx="365760" cy="27432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0" y="3108960"/>
            <a:ext cx="3474720" cy="1325880"/>
          </a:xfrm>
          <a:prstGeom prst="roundRect">
            <a:avLst>
              <a:gd name="adj" fmla="val 689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6676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全面推广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366760" y="347472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366760" y="370332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复制到所有产线 建立数据分析 持续改善循环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7200" y="459028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触发条件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846320"/>
            <a:ext cx="9784080" cy="256032"/>
          </a:xfrm>
          <a:prstGeom prst="rect">
            <a:avLst/>
          </a:prstGeom>
          <a:solidFill>
            <a:srgbClr val="1E2761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4882896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异常类型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331720" y="488289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触发信号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977640" y="4882896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响应级别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989320" y="4882896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响应时间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01000" y="4882896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典型案例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5102352"/>
            <a:ext cx="9784080" cy="25603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5138928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质量问题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331720" y="5138928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黄灯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977640" y="513892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1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989320" y="513892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30s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8001000" y="5138928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螺栓头部开裂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5358384"/>
            <a:ext cx="9784080" cy="2560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2920" y="539496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设备故障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331720" y="539496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红灯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977640" y="539496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2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989320" y="539496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2min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001000" y="539496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冷镦机卡料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57200" y="5614416"/>
            <a:ext cx="9784080" cy="256032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2920" y="5650992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物料短缺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2331720" y="5650992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黄闪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3977640" y="565099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2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989320" y="5650992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2min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001000" y="565099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线材不足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57200" y="5870448"/>
            <a:ext cx="9784080" cy="256032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2920" y="5907024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安全问题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331720" y="5907024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红灯+声音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977640" y="590702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Level 3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989320" y="5907024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5min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8001000" y="590702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操作员受伤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"/>
            <a:ext cx="12188952" cy="1371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安灯数据分析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Andon Data Analysis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  |  Andon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6547104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|  标准作业与安灯详解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093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57200" y="20848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本月安灯触发次数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17520" y="15544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16093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017520" y="20848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产线正常运行时间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577840" y="15544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16093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1.2min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77840" y="20848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平均响应时间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16093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138160" y="20848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月度改善项目数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2743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安灯频率帕累托分析  |  Pareto Analysis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20040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设备故障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28800" y="3227832"/>
            <a:ext cx="3291840" cy="18288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0" y="3200400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351129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质量异常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828800" y="3538728"/>
            <a:ext cx="2048256" cy="18288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68496" y="3511296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28次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382219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物料短缺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0" y="3849624"/>
            <a:ext cx="1097280" cy="18288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0" y="3822192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4133088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换模超时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828800" y="4160520"/>
            <a:ext cx="585216" cy="18288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05456" y="4133088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8次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444398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安全问题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828800" y="4471416"/>
            <a:ext cx="292608" cy="182880"/>
          </a:xfrm>
          <a:prstGeom prst="roundRect">
            <a:avLst>
              <a:gd name="adj" fmla="val 20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12848" y="4443984"/>
            <a:ext cx="731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4次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858000" y="27432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改善循环  |  Improvement Cycle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326880" y="3383280"/>
            <a:ext cx="548640" cy="548640"/>
          </a:xfrm>
          <a:prstGeom prst="diamond">
            <a:avLst/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26880" y="3383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PDCA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144000" y="2391156"/>
            <a:ext cx="914400" cy="6400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0" y="2391156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触发安灯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131552" y="3337560"/>
            <a:ext cx="91440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131552" y="33375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问题分析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144000" y="4283964"/>
            <a:ext cx="914400" cy="640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0" y="4283964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制定对策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156448" y="3337560"/>
            <a:ext cx="91440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56448" y="333756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标准更新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9875520" y="3095244"/>
            <a:ext cx="53492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053828" y="3931920"/>
            <a:ext cx="219456" cy="4526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53828" y="3840480"/>
            <a:ext cx="576072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29116" y="3977640"/>
            <a:ext cx="53492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29116" y="3095244"/>
            <a:ext cx="534924" cy="219456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5779008"/>
            <a:ext cx="10725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设备故障(45%)和质量异常(28%)占安灯触发73%，应优先改善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ADCFC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365760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  |  Summary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3035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554480"/>
            <a:ext cx="526694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5303520" cy="201168"/>
          </a:xfrm>
          <a:prstGeom prst="roundRect">
            <a:avLst>
              <a:gd name="adj" fmla="val 3636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" y="1508760"/>
            <a:ext cx="526694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6093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标准作业  Standard 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三要素: Takt Time + 作业循环 + 标准WIP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组合表实现人机时间最优配比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作业标准化是改善的基石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U型布局减少搬运和步行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快速换模保障柔性生产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可视化让异常无处藏身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48640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6208" y="1554480"/>
            <a:ext cx="5449824" cy="3675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371600"/>
            <a:ext cx="5486400" cy="201168"/>
          </a:xfrm>
          <a:prstGeom prst="roundRect">
            <a:avLst>
              <a:gd name="adj" fmla="val 36364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1508760"/>
            <a:ext cx="5449824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93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安灯  Andon System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拉绳触发，问题30秒内可见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三级升级: 班长(30s)主管(2m)经理(5m)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触发条件: 质量/设备/物料/安全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帕累托分析锁定关键改善方向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PDCA循环驱动持续改善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数据化追踪安灯响应效率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640080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标准化是改善的起点，安灯是质量的守护者  |  Standard Work + Andon = 精益基石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标准作业与安灯详解</dc:title>
  <dc:subject>PptxGenJS Presentation</dc:subject>
  <dc:creator>精益工具知识库</dc:creator>
  <cp:lastModifiedBy>精益工具知识库</cp:lastModifiedBy>
  <cp:revision>1</cp:revision>
  <dcterms:created xsi:type="dcterms:W3CDTF">2026-05-17T12:30:20Z</dcterms:created>
  <dcterms:modified xsi:type="dcterms:W3CDTF">2026-05-17T12:30:20Z</dcterms:modified>
</cp:coreProperties>
</file>